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1" r:id="rId5"/>
    <p:sldId id="260" r:id="rId6"/>
    <p:sldId id="262" r:id="rId7"/>
    <p:sldId id="264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65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A8386-2D8C-BAD7-515D-9801CD1C04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F42EF-972A-531D-748E-1E39CE41FE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E3F76B-5EAA-17F1-311F-87F8A0A9B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F0994-1504-4E3D-A964-551C85141297}" type="datetimeFigureOut">
              <a:rPr lang="en-GB" smtClean="0"/>
              <a:t>31/08/2026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9146D4-C17B-AFDF-465B-99B7B43E6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1C63FB-626A-05E2-EC9F-CE9785815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C985A-172E-40B6-8F44-71B1E0173F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1079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DF2BF-26CA-BFED-48CB-466A56452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CFFDB-EEC1-F05A-A8F0-6215FCC5C1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76D72-8D86-10F4-B5F7-15E22B9E4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F0994-1504-4E3D-A964-551C85141297}" type="datetimeFigureOut">
              <a:rPr lang="en-GB" smtClean="0"/>
              <a:t>31/08/2026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C4425-9570-1FF4-1B39-2D14B2459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E142AF-D6E0-A0A4-F717-5B8E5FD4B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C985A-172E-40B6-8F44-71B1E0173F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0514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9EC77-EC55-DB58-5A29-7A745C92F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E60AF2-6705-ECAD-4700-7BC406FA59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993808-0559-33F9-92DD-09595368C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F0994-1504-4E3D-A964-551C85141297}" type="datetimeFigureOut">
              <a:rPr lang="en-GB" smtClean="0"/>
              <a:t>31/08/2026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16429-66DB-7D0C-3A53-87A2422EC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E0816C-AD8E-D708-FC7C-DD4D48584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C985A-172E-40B6-8F44-71B1E0173F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9349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85347-8192-5528-075C-12C156E9D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70E56-6653-70A3-5A9E-9B76D049E1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C6D720-8C34-6F8F-C612-3875F23AC7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9F0818-65EC-F52C-A108-81C2332F7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F0994-1504-4E3D-A964-551C85141297}" type="datetimeFigureOut">
              <a:rPr lang="en-GB" smtClean="0"/>
              <a:t>31/08/2026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5997B0-E096-F68B-3E2B-7BC65EA83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16551F-A51F-9EB9-827E-5066F4144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C985A-172E-40B6-8F44-71B1E0173F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5931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C099E-FA2A-595B-2BA6-E15E79AC5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4983E7-AAB7-78BA-D090-6A6EFA63DE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E01719-F9DC-45DF-E526-72894DFFB2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BCDCEE-4BC8-531D-E426-E5606C3D0D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9A2E13-E85C-9ADB-3B77-A00BEEE9F8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156440-3462-32CA-BA5D-1BAB52E54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F0994-1504-4E3D-A964-551C85141297}" type="datetimeFigureOut">
              <a:rPr lang="en-GB" smtClean="0"/>
              <a:t>31/08/2026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07396B-7EC0-1F9B-4FF0-C1B48DB6E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9B280D-213A-1CDF-ADAA-66BB8F6DF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C985A-172E-40B6-8F44-71B1E0173F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0198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8C640-6F48-5C9C-E7F7-0D5C1823D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F78F25-6420-BABD-456A-9F10EBE0B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F0994-1504-4E3D-A964-551C85141297}" type="datetimeFigureOut">
              <a:rPr lang="en-GB" smtClean="0"/>
              <a:t>31/08/2026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CA85ED-21D5-FD95-8256-ED88FA941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525C00-78B1-8149-DE80-E381BD1D0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C985A-172E-40B6-8F44-71B1E0173F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987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7B0557-3877-E283-03F7-0AD036523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F0994-1504-4E3D-A964-551C85141297}" type="datetimeFigureOut">
              <a:rPr lang="en-GB" smtClean="0"/>
              <a:t>31/08/2026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264F0B-5FCC-3FC3-6B73-9F3418248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DAC096-5A0B-872C-8789-3754B31F4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C985A-172E-40B6-8F44-71B1E0173F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3664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D2DD8-7C5D-80DE-650E-1A8E1A2A5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437AF-6CD2-B97F-6973-8D86DDAD7F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F88125-A7E6-5676-18CD-74C0B9DA0E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93BD38-8002-035A-E9B7-AB21FDB76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F0994-1504-4E3D-A964-551C85141297}" type="datetimeFigureOut">
              <a:rPr lang="en-GB" smtClean="0"/>
              <a:t>31/08/2026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BCF033-4474-B7F7-9E0D-0619B24D1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41CC3A-4354-E7E2-6F65-33DD33053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C985A-172E-40B6-8F44-71B1E0173F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2202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922B6-CC7E-E494-9573-7D99D6517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38E955-BD84-8ABD-EADF-DCA3C505CA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56FC41-577F-264B-6E5D-F7CC428BD6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9609AB-21AF-2160-71A7-0D5667C57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F0994-1504-4E3D-A964-551C85141297}" type="datetimeFigureOut">
              <a:rPr lang="en-GB" smtClean="0"/>
              <a:t>31/08/2026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A51C0C-2332-DD1E-58E8-141BF154A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506674-CA48-260C-E811-3A1138956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C985A-172E-40B6-8F44-71B1E0173F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9338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27BE5-5C1A-E36A-8289-3AFF019B4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7CFB13-9FB0-D90A-616B-57A9D86769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DB6FA8-6FCD-DE63-FCDB-D31BC1504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F0994-1504-4E3D-A964-551C85141297}" type="datetimeFigureOut">
              <a:rPr lang="en-GB" smtClean="0"/>
              <a:t>31/08/2026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51BAF2-3249-95C6-A439-ECB187862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B4E7F3-4460-81AD-CE3C-E413C551B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C985A-172E-40B6-8F44-71B1E0173F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9802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D2BC04-56CE-A976-D688-29240227AD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40BB94-2D2B-1C31-D34A-3A8DCF4F0F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53062-9553-EB60-5960-161EA686F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F0994-1504-4E3D-A964-551C85141297}" type="datetimeFigureOut">
              <a:rPr lang="en-GB" smtClean="0"/>
              <a:t>31/08/2026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A0CA6-7A73-8E47-6DF5-8ABE03AD1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A34167-5891-0BCD-4ED8-E652F4EFE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C985A-172E-40B6-8F44-71B1E0173F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5899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0D54E6-83C1-74B3-A0DF-6BD2B2CDD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45E9C9-3520-C511-44CC-A4B12A6920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01078B-9E5B-5F68-785C-F3217E3C20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4F0994-1504-4E3D-A964-551C85141297}" type="datetimeFigureOut">
              <a:rPr lang="en-GB" smtClean="0"/>
              <a:t>31/08/2026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A77139-3F9C-2E49-629B-CF561DC059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E5B2E1-2127-688A-D865-06D7F63189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0C985A-172E-40B6-8F44-71B1E0173F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9972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09497E-EAE3-BDAF-EFCB-AE0010EB6E7B}"/>
              </a:ext>
            </a:extLst>
          </p:cNvPr>
          <p:cNvSpPr txBox="1"/>
          <p:nvPr/>
        </p:nvSpPr>
        <p:spPr>
          <a:xfrm>
            <a:off x="685800" y="762000"/>
            <a:ext cx="10795000" cy="246221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1600" b="1">
                <a:solidFill>
                  <a:srgbClr val="2CB1BC"/>
                </a:solidFill>
                <a:latin typeface="Aptos" panose="020B0004020202020204" pitchFamily="34" charset="0"/>
              </a:rPr>
              <a:t>QUEST ARUCO AVATAR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B12E74-A42C-AA5F-72B9-2CEC7C9CB602}"/>
              </a:ext>
            </a:extLst>
          </p:cNvPr>
          <p:cNvSpPr txBox="1"/>
          <p:nvPr/>
        </p:nvSpPr>
        <p:spPr>
          <a:xfrm>
            <a:off x="685800" y="1422400"/>
            <a:ext cx="9652000" cy="55399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3600" b="1" dirty="0">
                <a:solidFill>
                  <a:srgbClr val="FFFFFF"/>
                </a:solidFill>
                <a:latin typeface="Aptos" panose="020B0004020202020204" pitchFamily="34" charset="0"/>
              </a:rPr>
              <a:t>How the avatar is placed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ADB60AD-5137-E141-B527-466B880DFDC3}"/>
              </a:ext>
            </a:extLst>
          </p:cNvPr>
          <p:cNvSpPr/>
          <p:nvPr/>
        </p:nvSpPr>
        <p:spPr>
          <a:xfrm>
            <a:off x="736600" y="4191000"/>
            <a:ext cx="1828800" cy="787400"/>
          </a:xfrm>
          <a:prstGeom prst="roundRect">
            <a:avLst/>
          </a:prstGeom>
          <a:solidFill>
            <a:srgbClr val="1976D2"/>
          </a:solidFill>
          <a:ln w="15875">
            <a:solidFill>
              <a:srgbClr val="1976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500" b="1">
                <a:solidFill>
                  <a:srgbClr val="FFFFFF"/>
                </a:solidFill>
                <a:latin typeface="Aptos" panose="020B0004020202020204" pitchFamily="34" charset="0"/>
              </a:rPr>
              <a:t>CAMERA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575FD98-A006-EDB7-E761-F148D98E8E4C}"/>
              </a:ext>
            </a:extLst>
          </p:cNvPr>
          <p:cNvCxnSpPr/>
          <p:nvPr/>
        </p:nvCxnSpPr>
        <p:spPr>
          <a:xfrm>
            <a:off x="2565400" y="4584700"/>
            <a:ext cx="330200" cy="0"/>
          </a:xfrm>
          <a:prstGeom prst="straightConnector1">
            <a:avLst/>
          </a:prstGeom>
          <a:ln w="25400">
            <a:solidFill>
              <a:srgbClr val="FFFF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4C7E627-F390-3C91-8C28-696B99C21CA1}"/>
              </a:ext>
            </a:extLst>
          </p:cNvPr>
          <p:cNvSpPr/>
          <p:nvPr/>
        </p:nvSpPr>
        <p:spPr>
          <a:xfrm>
            <a:off x="2946400" y="4191000"/>
            <a:ext cx="1828800" cy="787400"/>
          </a:xfrm>
          <a:prstGeom prst="roundRect">
            <a:avLst/>
          </a:prstGeom>
          <a:solidFill>
            <a:srgbClr val="2CB1BC"/>
          </a:solidFill>
          <a:ln w="15875">
            <a:solidFill>
              <a:srgbClr val="2CB1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500" b="1">
                <a:solidFill>
                  <a:srgbClr val="FFFFFF"/>
                </a:solidFill>
                <a:latin typeface="Aptos" panose="020B0004020202020204" pitchFamily="34" charset="0"/>
              </a:rPr>
              <a:t>MARKERS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D8F7AA4-8675-9F8F-68EF-350D5CF0D802}"/>
              </a:ext>
            </a:extLst>
          </p:cNvPr>
          <p:cNvCxnSpPr/>
          <p:nvPr/>
        </p:nvCxnSpPr>
        <p:spPr>
          <a:xfrm>
            <a:off x="4775200" y="4584700"/>
            <a:ext cx="330200" cy="0"/>
          </a:xfrm>
          <a:prstGeom prst="straightConnector1">
            <a:avLst/>
          </a:prstGeom>
          <a:ln w="25400">
            <a:solidFill>
              <a:srgbClr val="FFFF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FB34C10-6FA2-C5A1-2E98-DA66894B33D2}"/>
              </a:ext>
            </a:extLst>
          </p:cNvPr>
          <p:cNvSpPr/>
          <p:nvPr/>
        </p:nvSpPr>
        <p:spPr>
          <a:xfrm>
            <a:off x="5156200" y="4191000"/>
            <a:ext cx="1828800" cy="787400"/>
          </a:xfrm>
          <a:prstGeom prst="roundRect">
            <a:avLst/>
          </a:prstGeom>
          <a:solidFill>
            <a:srgbClr val="27AE60"/>
          </a:solidFill>
          <a:ln w="15875"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500" b="1">
                <a:solidFill>
                  <a:srgbClr val="FFFFFF"/>
                </a:solidFill>
                <a:latin typeface="Aptos" panose="020B0004020202020204" pitchFamily="34" charset="0"/>
              </a:rPr>
              <a:t>COMMON POSE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E5E0757-3B3A-0519-E88E-027D773728E6}"/>
              </a:ext>
            </a:extLst>
          </p:cNvPr>
          <p:cNvCxnSpPr/>
          <p:nvPr/>
        </p:nvCxnSpPr>
        <p:spPr>
          <a:xfrm>
            <a:off x="6985000" y="4584700"/>
            <a:ext cx="330200" cy="0"/>
          </a:xfrm>
          <a:prstGeom prst="straightConnector1">
            <a:avLst/>
          </a:prstGeom>
          <a:ln w="25400">
            <a:solidFill>
              <a:srgbClr val="FFFF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E6C4443-6A5F-93F0-6266-2CDCD9C525A1}"/>
              </a:ext>
            </a:extLst>
          </p:cNvPr>
          <p:cNvSpPr/>
          <p:nvPr/>
        </p:nvSpPr>
        <p:spPr>
          <a:xfrm>
            <a:off x="7366000" y="4191000"/>
            <a:ext cx="1828800" cy="787400"/>
          </a:xfrm>
          <a:prstGeom prst="roundRect">
            <a:avLst/>
          </a:prstGeom>
          <a:solidFill>
            <a:srgbClr val="F59E0B"/>
          </a:solidFill>
          <a:ln w="15875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500" b="1">
                <a:solidFill>
                  <a:srgbClr val="FFFFFF"/>
                </a:solidFill>
                <a:latin typeface="Aptos" panose="020B0004020202020204" pitchFamily="34" charset="0"/>
              </a:rPr>
              <a:t>FILTER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B6781E7-97C7-326B-A878-943A31E694D5}"/>
              </a:ext>
            </a:extLst>
          </p:cNvPr>
          <p:cNvCxnSpPr/>
          <p:nvPr/>
        </p:nvCxnSpPr>
        <p:spPr>
          <a:xfrm>
            <a:off x="9194800" y="4584700"/>
            <a:ext cx="330200" cy="0"/>
          </a:xfrm>
          <a:prstGeom prst="straightConnector1">
            <a:avLst/>
          </a:prstGeom>
          <a:ln w="25400">
            <a:solidFill>
              <a:srgbClr val="FFFF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C58F6F0-13A2-FC00-0F9F-BE42B6E0BC05}"/>
              </a:ext>
            </a:extLst>
          </p:cNvPr>
          <p:cNvSpPr/>
          <p:nvPr/>
        </p:nvSpPr>
        <p:spPr>
          <a:xfrm>
            <a:off x="9575800" y="4191000"/>
            <a:ext cx="1828800" cy="787400"/>
          </a:xfrm>
          <a:prstGeom prst="roundRect">
            <a:avLst/>
          </a:prstGeom>
          <a:solidFill>
            <a:srgbClr val="7152AD"/>
          </a:solidFill>
          <a:ln w="15875">
            <a:solidFill>
              <a:srgbClr val="7152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500" b="1">
                <a:solidFill>
                  <a:srgbClr val="FFFFFF"/>
                </a:solidFill>
                <a:latin typeface="Aptos" panose="020B0004020202020204" pitchFamily="34" charset="0"/>
              </a:rPr>
              <a:t>AVATAR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9905E8-7999-C550-0CE9-C6C6B153A97C}"/>
              </a:ext>
            </a:extLst>
          </p:cNvPr>
          <p:cNvSpPr txBox="1"/>
          <p:nvPr/>
        </p:nvSpPr>
        <p:spPr>
          <a:xfrm>
            <a:off x="711200" y="5994400"/>
            <a:ext cx="6350000" cy="15388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1000" dirty="0">
                <a:solidFill>
                  <a:srgbClr val="AAC2D8"/>
                </a:solidFill>
                <a:latin typeface="Aptos" panose="020B0004020202020204" pitchFamily="34" charset="0"/>
              </a:rPr>
              <a:t>Project snapshot • 30 August 2026</a:t>
            </a:r>
          </a:p>
        </p:txBody>
      </p:sp>
    </p:spTree>
    <p:extLst>
      <p:ext uri="{BB962C8B-B14F-4D97-AF65-F5344CB8AC3E}">
        <p14:creationId xmlns:p14="http://schemas.microsoft.com/office/powerpoint/2010/main" val="30909822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82D551-56EE-77C7-EE85-657ECE22592E}"/>
              </a:ext>
            </a:extLst>
          </p:cNvPr>
          <p:cNvSpPr txBox="1"/>
          <p:nvPr/>
        </p:nvSpPr>
        <p:spPr>
          <a:xfrm>
            <a:off x="533400" y="279400"/>
            <a:ext cx="7620000" cy="15388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1000" b="1">
                <a:solidFill>
                  <a:srgbClr val="1976D2"/>
                </a:solidFill>
                <a:latin typeface="Aptos" panose="020B0004020202020204" pitchFamily="34" charset="0"/>
              </a:rPr>
              <a:t>CURRENT QUEST RUNTIME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538E84-04CB-FF59-3F08-6C39C906986C}"/>
              </a:ext>
            </a:extLst>
          </p:cNvPr>
          <p:cNvSpPr txBox="1"/>
          <p:nvPr/>
        </p:nvSpPr>
        <p:spPr>
          <a:xfrm>
            <a:off x="533400" y="609600"/>
            <a:ext cx="10985500" cy="43088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2800" b="1" dirty="0">
                <a:solidFill>
                  <a:srgbClr val="102A43"/>
                </a:solidFill>
                <a:latin typeface="Aptos" panose="020B0004020202020204" pitchFamily="34" charset="0"/>
              </a:rPr>
              <a:t>The placement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4B2FEE-1C53-C313-A4B3-0194BFF47AB5}"/>
              </a:ext>
            </a:extLst>
          </p:cNvPr>
          <p:cNvSpPr/>
          <p:nvPr/>
        </p:nvSpPr>
        <p:spPr>
          <a:xfrm>
            <a:off x="533400" y="1282700"/>
            <a:ext cx="11125200" cy="38100"/>
          </a:xfrm>
          <a:prstGeom prst="rect">
            <a:avLst/>
          </a:prstGeom>
          <a:solidFill>
            <a:srgbClr val="2CB1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82C4FF-E1FA-3515-2E94-C83762C2DEEE}"/>
              </a:ext>
            </a:extLst>
          </p:cNvPr>
          <p:cNvSpPr txBox="1"/>
          <p:nvPr/>
        </p:nvSpPr>
        <p:spPr>
          <a:xfrm>
            <a:off x="533400" y="1574800"/>
            <a:ext cx="8890000" cy="30777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2000" b="1">
                <a:solidFill>
                  <a:srgbClr val="16324F"/>
                </a:solidFill>
                <a:latin typeface="Aptos" panose="020B0004020202020204" pitchFamily="34" charset="0"/>
              </a:rPr>
              <a:t>Three physical markers must describe one virtual body anchor.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C7B9944-8E2B-C661-3313-517F03DD24F3}"/>
              </a:ext>
            </a:extLst>
          </p:cNvPr>
          <p:cNvSpPr/>
          <p:nvPr/>
        </p:nvSpPr>
        <p:spPr>
          <a:xfrm>
            <a:off x="914400" y="2590800"/>
            <a:ext cx="1206500" cy="1206500"/>
          </a:xfrm>
          <a:prstGeom prst="ellipse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500" b="1" dirty="0">
                <a:solidFill>
                  <a:srgbClr val="FF0000"/>
                </a:solidFill>
                <a:latin typeface="Aptos" panose="020B0004020202020204" pitchFamily="34" charset="0"/>
              </a:rPr>
              <a:t>ID0\</a:t>
            </a:r>
          </a:p>
          <a:p>
            <a:pPr algn="ctr"/>
            <a:r>
              <a:rPr lang="en-GB" sz="1500" b="1" dirty="0">
                <a:solidFill>
                  <a:srgbClr val="FF0000"/>
                </a:solidFill>
                <a:latin typeface="Aptos" panose="020B0004020202020204" pitchFamily="34" charset="0"/>
              </a:rPr>
              <a:t>common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A2600D4-F588-2BE8-651A-5903B17894E6}"/>
              </a:ext>
            </a:extLst>
          </p:cNvPr>
          <p:cNvSpPr/>
          <p:nvPr/>
        </p:nvSpPr>
        <p:spPr>
          <a:xfrm>
            <a:off x="914400" y="4140200"/>
            <a:ext cx="1206500" cy="1206500"/>
          </a:xfrm>
          <a:prstGeom prst="ellipse">
            <a:avLst/>
          </a:prstGeom>
          <a:solidFill>
            <a:srgbClr val="2CB1BC"/>
          </a:solidFill>
          <a:ln>
            <a:solidFill>
              <a:srgbClr val="2CB1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500" b="1" dirty="0">
                <a:solidFill>
                  <a:srgbClr val="FFFFFF"/>
                </a:solidFill>
                <a:latin typeface="Aptos" panose="020B0004020202020204" pitchFamily="34" charset="0"/>
              </a:rPr>
              <a:t>ID1\</a:t>
            </a:r>
          </a:p>
          <a:p>
            <a:pPr algn="ctr"/>
            <a:r>
              <a:rPr lang="en-GB" sz="1500" b="1" dirty="0">
                <a:solidFill>
                  <a:srgbClr val="FFFFFF"/>
                </a:solidFill>
                <a:latin typeface="Aptos" panose="020B0004020202020204" pitchFamily="34" charset="0"/>
              </a:rPr>
              <a:t>chest1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383E7AD-1CD4-ED99-66D5-C191261F7B56}"/>
              </a:ext>
            </a:extLst>
          </p:cNvPr>
          <p:cNvSpPr/>
          <p:nvPr/>
        </p:nvSpPr>
        <p:spPr>
          <a:xfrm>
            <a:off x="2667000" y="4140200"/>
            <a:ext cx="1206500" cy="1206500"/>
          </a:xfrm>
          <a:prstGeom prst="ellipse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500" b="1" dirty="0">
                <a:solidFill>
                  <a:srgbClr val="FFFFFF"/>
                </a:solidFill>
                <a:latin typeface="Aptos" panose="020B0004020202020204" pitchFamily="34" charset="0"/>
              </a:rPr>
              <a:t>ID2\</a:t>
            </a:r>
          </a:p>
          <a:p>
            <a:pPr algn="ctr"/>
            <a:r>
              <a:rPr lang="en-GB" sz="1500" b="1" dirty="0">
                <a:solidFill>
                  <a:srgbClr val="FFFFFF"/>
                </a:solidFill>
                <a:latin typeface="Aptos" panose="020B0004020202020204" pitchFamily="34" charset="0"/>
              </a:rPr>
              <a:t>chest2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0449BC3-5388-2D56-238E-25FEDC28DCE4}"/>
              </a:ext>
            </a:extLst>
          </p:cNvPr>
          <p:cNvCxnSpPr/>
          <p:nvPr/>
        </p:nvCxnSpPr>
        <p:spPr>
          <a:xfrm>
            <a:off x="2159000" y="3175000"/>
            <a:ext cx="2616200" cy="355600"/>
          </a:xfrm>
          <a:prstGeom prst="straightConnector1">
            <a:avLst/>
          </a:prstGeom>
          <a:ln w="3175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D2C754E-B661-EA50-15D4-F1441F7B63C9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2066946" y="3727450"/>
            <a:ext cx="2733654" cy="758627"/>
          </a:xfrm>
          <a:prstGeom prst="straightConnector1">
            <a:avLst/>
          </a:prstGeom>
          <a:ln w="3175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ACB3803-D037-D5C6-BE67-2AAA0A13B59D}"/>
              </a:ext>
            </a:extLst>
          </p:cNvPr>
          <p:cNvCxnSpPr/>
          <p:nvPr/>
        </p:nvCxnSpPr>
        <p:spPr>
          <a:xfrm flipV="1">
            <a:off x="3873500" y="3987800"/>
            <a:ext cx="901700" cy="711200"/>
          </a:xfrm>
          <a:prstGeom prst="straightConnector1">
            <a:avLst/>
          </a:prstGeom>
          <a:ln w="3175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0CBF478-DBE0-BD4B-EA76-290C1693E3AE}"/>
              </a:ext>
            </a:extLst>
          </p:cNvPr>
          <p:cNvSpPr/>
          <p:nvPr/>
        </p:nvSpPr>
        <p:spPr>
          <a:xfrm>
            <a:off x="4800600" y="3124200"/>
            <a:ext cx="2286000" cy="1206500"/>
          </a:xfrm>
          <a:prstGeom prst="roundRect">
            <a:avLst/>
          </a:prstGeom>
          <a:solidFill>
            <a:srgbClr val="102A43"/>
          </a:solidFill>
          <a:ln w="15875">
            <a:solidFill>
              <a:srgbClr val="102A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2000" b="1" dirty="0">
                <a:solidFill>
                  <a:srgbClr val="FFFFFF"/>
                </a:solidFill>
                <a:latin typeface="Aptos" panose="020B0004020202020204" pitchFamily="34" charset="0"/>
              </a:rPr>
              <a:t>ONE COMMON\</a:t>
            </a:r>
          </a:p>
          <a:p>
            <a:pPr algn="ctr"/>
            <a:r>
              <a:rPr lang="en-GB" sz="2000" b="1" dirty="0">
                <a:solidFill>
                  <a:srgbClr val="FFFFFF"/>
                </a:solidFill>
                <a:latin typeface="Aptos" panose="020B0004020202020204" pitchFamily="34" charset="0"/>
              </a:rPr>
              <a:t>6-DoF POSE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2F873D-18B4-8756-FA74-C62D8BA57C73}"/>
              </a:ext>
            </a:extLst>
          </p:cNvPr>
          <p:cNvSpPr txBox="1"/>
          <p:nvPr/>
        </p:nvSpPr>
        <p:spPr>
          <a:xfrm>
            <a:off x="7747000" y="2514600"/>
            <a:ext cx="3810000" cy="2769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fr-FR" b="1">
                <a:solidFill>
                  <a:srgbClr val="102A43"/>
                </a:solidFill>
                <a:latin typeface="Aptos" panose="020B0004020202020204" pitchFamily="34" charset="0"/>
              </a:rPr>
              <a:t>Pose = position (X,Y,Z) + orientation</a:t>
            </a:r>
            <a:endParaRPr lang="en-GB" b="1">
              <a:solidFill>
                <a:srgbClr val="102A43"/>
              </a:solidFill>
              <a:latin typeface="Aptos" panose="020B00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9B74882-C91C-1374-5B32-B3029276A8E3}"/>
              </a:ext>
            </a:extLst>
          </p:cNvPr>
          <p:cNvSpPr/>
          <p:nvPr/>
        </p:nvSpPr>
        <p:spPr>
          <a:xfrm>
            <a:off x="7747000" y="4419600"/>
            <a:ext cx="3810000" cy="863600"/>
          </a:xfrm>
          <a:prstGeom prst="roundRect">
            <a:avLst/>
          </a:prstGeom>
          <a:solidFill>
            <a:srgbClr val="E8F0F8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500" b="1">
                <a:solidFill>
                  <a:srgbClr val="16324F"/>
                </a:solidFill>
                <a:latin typeface="Aptos" panose="020B0004020202020204" pitchFamily="34" charset="0"/>
              </a:rPr>
              <a:t>marker world pose × marker-to-common offset = common estimate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0DC1D3-F9C4-DC70-4D44-7911EECF78BD}"/>
              </a:ext>
            </a:extLst>
          </p:cNvPr>
          <p:cNvSpPr txBox="1"/>
          <p:nvPr/>
        </p:nvSpPr>
        <p:spPr>
          <a:xfrm>
            <a:off x="533400" y="6489700"/>
            <a:ext cx="9779000" cy="123111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800">
                <a:solidFill>
                  <a:srgbClr val="5C7084"/>
                </a:solidFill>
                <a:latin typeface="Aptos" panose="020B0004020202020204" pitchFamily="34" charset="0"/>
              </a:rPr>
              <a:t>navel_provider.gd • default_navel_calibration.cfg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A9B4DF-EAD2-7D0F-0472-A3BF5ED66ACC}"/>
              </a:ext>
            </a:extLst>
          </p:cNvPr>
          <p:cNvSpPr txBox="1"/>
          <p:nvPr/>
        </p:nvSpPr>
        <p:spPr>
          <a:xfrm>
            <a:off x="11074400" y="6438900"/>
            <a:ext cx="584200" cy="1384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r"/>
            <a:r>
              <a:rPr lang="en-GB" sz="900" b="1">
                <a:solidFill>
                  <a:srgbClr val="5C7084"/>
                </a:solidFill>
                <a:latin typeface="Aptos" panose="020B000402020202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289777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887F7B-65C3-27E6-A54A-0A89515A7408}"/>
              </a:ext>
            </a:extLst>
          </p:cNvPr>
          <p:cNvSpPr txBox="1"/>
          <p:nvPr/>
        </p:nvSpPr>
        <p:spPr>
          <a:xfrm>
            <a:off x="533400" y="279400"/>
            <a:ext cx="7620000" cy="15388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1000" b="1">
                <a:solidFill>
                  <a:srgbClr val="1976D2"/>
                </a:solidFill>
                <a:latin typeface="Aptos" panose="020B0004020202020204" pitchFamily="34" charset="0"/>
              </a:rPr>
              <a:t>CURRENT QUEST RUNTIME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7B1C0A-5B51-1090-34A8-CC1567DE3377}"/>
              </a:ext>
            </a:extLst>
          </p:cNvPr>
          <p:cNvSpPr txBox="1"/>
          <p:nvPr/>
        </p:nvSpPr>
        <p:spPr>
          <a:xfrm>
            <a:off x="533400" y="609600"/>
            <a:ext cx="10985500" cy="43088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2800" b="1">
                <a:solidFill>
                  <a:srgbClr val="102A43"/>
                </a:solidFill>
                <a:latin typeface="Aptos" panose="020B0004020202020204" pitchFamily="34" charset="0"/>
              </a:rPr>
              <a:t>Reconstruct and fuse the common pose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DBD8CC-84FD-FB41-D59C-CFA2D511E12C}"/>
              </a:ext>
            </a:extLst>
          </p:cNvPr>
          <p:cNvSpPr/>
          <p:nvPr/>
        </p:nvSpPr>
        <p:spPr>
          <a:xfrm>
            <a:off x="533400" y="1282700"/>
            <a:ext cx="11125200" cy="38100"/>
          </a:xfrm>
          <a:prstGeom prst="rect">
            <a:avLst/>
          </a:prstGeom>
          <a:solidFill>
            <a:srgbClr val="2CB1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EFF68D1-4868-CE41-4A95-E560F1F5F05F}"/>
              </a:ext>
            </a:extLst>
          </p:cNvPr>
          <p:cNvSpPr/>
          <p:nvPr/>
        </p:nvSpPr>
        <p:spPr>
          <a:xfrm>
            <a:off x="685800" y="2235200"/>
            <a:ext cx="1905000" cy="685800"/>
          </a:xfrm>
          <a:prstGeom prst="roundRect">
            <a:avLst/>
          </a:prstGeom>
          <a:solidFill>
            <a:srgbClr val="1976D2"/>
          </a:solidFill>
          <a:ln w="15875">
            <a:solidFill>
              <a:srgbClr val="1976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600" b="1">
                <a:solidFill>
                  <a:srgbClr val="FFFFFF"/>
                </a:solidFill>
                <a:latin typeface="Aptos" panose="020B0004020202020204" pitchFamily="34" charset="0"/>
              </a:rPr>
              <a:t>1 marker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8327E88-3D49-A45B-D17C-2F603ECB8652}"/>
              </a:ext>
            </a:extLst>
          </p:cNvPr>
          <p:cNvSpPr/>
          <p:nvPr/>
        </p:nvSpPr>
        <p:spPr>
          <a:xfrm>
            <a:off x="2819400" y="2235200"/>
            <a:ext cx="5461000" cy="685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500">
                <a:solidFill>
                  <a:srgbClr val="16324F"/>
                </a:solidFill>
                <a:latin typeface="Aptos" panose="020B0004020202020204" pitchFamily="34" charset="0"/>
              </a:rPr>
              <a:t>Use its reconstructed common pose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C165E6E-4411-1535-EAE6-58E96B958777}"/>
              </a:ext>
            </a:extLst>
          </p:cNvPr>
          <p:cNvSpPr/>
          <p:nvPr/>
        </p:nvSpPr>
        <p:spPr>
          <a:xfrm>
            <a:off x="685800" y="3200400"/>
            <a:ext cx="1905000" cy="685800"/>
          </a:xfrm>
          <a:prstGeom prst="roundRect">
            <a:avLst/>
          </a:prstGeom>
          <a:solidFill>
            <a:srgbClr val="2CB1BC"/>
          </a:solidFill>
          <a:ln w="15875">
            <a:solidFill>
              <a:srgbClr val="2CB1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600" b="1">
                <a:solidFill>
                  <a:srgbClr val="FFFFFF"/>
                </a:solidFill>
                <a:latin typeface="Aptos" panose="020B0004020202020204" pitchFamily="34" charset="0"/>
              </a:rPr>
              <a:t>2 markers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B803262-3D5F-324A-D573-6643A4D624CF}"/>
              </a:ext>
            </a:extLst>
          </p:cNvPr>
          <p:cNvSpPr/>
          <p:nvPr/>
        </p:nvSpPr>
        <p:spPr>
          <a:xfrm>
            <a:off x="2819400" y="3200400"/>
            <a:ext cx="5461000" cy="685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500" dirty="0">
                <a:solidFill>
                  <a:srgbClr val="16324F"/>
                </a:solidFill>
                <a:latin typeface="Aptos" panose="020B0004020202020204" pitchFamily="34" charset="0"/>
              </a:rPr>
              <a:t>Mean position + sign-aligned quaternion average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6604644-DF35-D997-A217-0E75CBD72463}"/>
              </a:ext>
            </a:extLst>
          </p:cNvPr>
          <p:cNvSpPr/>
          <p:nvPr/>
        </p:nvSpPr>
        <p:spPr>
          <a:xfrm>
            <a:off x="685800" y="4165600"/>
            <a:ext cx="1905000" cy="685800"/>
          </a:xfrm>
          <a:prstGeom prst="roundRect">
            <a:avLst/>
          </a:prstGeom>
          <a:solidFill>
            <a:srgbClr val="27AE60"/>
          </a:solidFill>
          <a:ln w="15875"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600" b="1">
                <a:solidFill>
                  <a:srgbClr val="FFFFFF"/>
                </a:solidFill>
                <a:latin typeface="Aptos" panose="020B0004020202020204" pitchFamily="34" charset="0"/>
              </a:rPr>
              <a:t>3 markers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24785B7-E2F6-C01F-4045-7D7C13FF848E}"/>
              </a:ext>
            </a:extLst>
          </p:cNvPr>
          <p:cNvSpPr/>
          <p:nvPr/>
        </p:nvSpPr>
        <p:spPr>
          <a:xfrm>
            <a:off x="2819400" y="4165600"/>
            <a:ext cx="5461000" cy="685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500" dirty="0">
                <a:solidFill>
                  <a:srgbClr val="FF0000"/>
                </a:solidFill>
                <a:latin typeface="Aptos" panose="020B0004020202020204" pitchFamily="34" charset="0"/>
              </a:rPr>
              <a:t>Mean position + sign-aligned quaternion average</a:t>
            </a:r>
          </a:p>
          <a:p>
            <a:pPr algn="ctr"/>
            <a:endParaRPr lang="en-GB" sz="1500" dirty="0">
              <a:solidFill>
                <a:srgbClr val="16324F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4AC371-9B10-F542-4B6C-59B4294AACBC}"/>
              </a:ext>
            </a:extLst>
          </p:cNvPr>
          <p:cNvSpPr txBox="1"/>
          <p:nvPr/>
        </p:nvSpPr>
        <p:spPr>
          <a:xfrm>
            <a:off x="533400" y="6489700"/>
            <a:ext cx="9779000" cy="123111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800">
                <a:solidFill>
                  <a:srgbClr val="5C7084"/>
                </a:solidFill>
                <a:latin typeface="Aptos" panose="020B0004020202020204" pitchFamily="34" charset="0"/>
              </a:rPr>
              <a:t>navel_provider.gd::_fuse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E8ED15-0459-96C5-70E6-9951C5F01C16}"/>
              </a:ext>
            </a:extLst>
          </p:cNvPr>
          <p:cNvSpPr txBox="1"/>
          <p:nvPr/>
        </p:nvSpPr>
        <p:spPr>
          <a:xfrm>
            <a:off x="11074400" y="6438900"/>
            <a:ext cx="584200" cy="1384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r"/>
            <a:r>
              <a:rPr lang="en-GB" sz="900" b="1">
                <a:solidFill>
                  <a:srgbClr val="5C7084"/>
                </a:solidFill>
                <a:latin typeface="Aptos" panose="020B0004020202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947047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04149C-4F4A-8763-555E-977FE4E32A4B}"/>
              </a:ext>
            </a:extLst>
          </p:cNvPr>
          <p:cNvSpPr txBox="1"/>
          <p:nvPr/>
        </p:nvSpPr>
        <p:spPr>
          <a:xfrm>
            <a:off x="533400" y="279400"/>
            <a:ext cx="7620000" cy="15388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1000" b="1" dirty="0">
                <a:solidFill>
                  <a:srgbClr val="1976D2"/>
                </a:solidFill>
                <a:latin typeface="Aptos" panose="020B0004020202020204" pitchFamily="34" charset="0"/>
              </a:rPr>
              <a:t>CURRENT QUEST RUNTIME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8B0479-5CB1-14B8-A298-45D424DF3ABB}"/>
              </a:ext>
            </a:extLst>
          </p:cNvPr>
          <p:cNvSpPr txBox="1"/>
          <p:nvPr/>
        </p:nvSpPr>
        <p:spPr>
          <a:xfrm>
            <a:off x="533400" y="609600"/>
            <a:ext cx="10985500" cy="43088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2800" b="1">
                <a:solidFill>
                  <a:srgbClr val="102A43"/>
                </a:solidFill>
                <a:latin typeface="Aptos" panose="020B0004020202020204" pitchFamily="34" charset="0"/>
              </a:rPr>
              <a:t>After startup: the runtime filter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A0A9DC-6F23-B841-67F3-FD68D0BA2652}"/>
              </a:ext>
            </a:extLst>
          </p:cNvPr>
          <p:cNvSpPr/>
          <p:nvPr/>
        </p:nvSpPr>
        <p:spPr>
          <a:xfrm>
            <a:off x="533400" y="1282700"/>
            <a:ext cx="11125200" cy="38100"/>
          </a:xfrm>
          <a:prstGeom prst="rect">
            <a:avLst/>
          </a:prstGeom>
          <a:solidFill>
            <a:srgbClr val="2CB1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553E3D6-C81A-7421-5070-E87366E6A5EB}"/>
              </a:ext>
            </a:extLst>
          </p:cNvPr>
          <p:cNvSpPr/>
          <p:nvPr/>
        </p:nvSpPr>
        <p:spPr>
          <a:xfrm>
            <a:off x="1181100" y="1905000"/>
            <a:ext cx="457200" cy="457200"/>
          </a:xfrm>
          <a:prstGeom prst="ellipse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75D0CA7-6886-DFB7-BB7D-AA44BAAAA719}"/>
              </a:ext>
            </a:extLst>
          </p:cNvPr>
          <p:cNvSpPr/>
          <p:nvPr/>
        </p:nvSpPr>
        <p:spPr>
          <a:xfrm>
            <a:off x="546100" y="2603500"/>
            <a:ext cx="1778000" cy="939800"/>
          </a:xfrm>
          <a:prstGeom prst="roundRect">
            <a:avLst/>
          </a:prstGeom>
          <a:solidFill>
            <a:srgbClr val="1976D2"/>
          </a:solidFill>
          <a:ln w="15875">
            <a:solidFill>
              <a:srgbClr val="1976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400" b="1" dirty="0">
                <a:solidFill>
                  <a:srgbClr val="FFFFFF"/>
                </a:solidFill>
                <a:latin typeface="Aptos" panose="020B0004020202020204" pitchFamily="34" charset="0"/>
              </a:rPr>
              <a:t>NEW FUSED\</a:t>
            </a:r>
          </a:p>
          <a:p>
            <a:pPr algn="ctr"/>
            <a:r>
              <a:rPr lang="en-GB" sz="1400" b="1" dirty="0" err="1">
                <a:solidFill>
                  <a:srgbClr val="FFFFFF"/>
                </a:solidFill>
                <a:latin typeface="Aptos" panose="020B0004020202020204" pitchFamily="34" charset="0"/>
              </a:rPr>
              <a:t>nMEASUREMENT</a:t>
            </a:r>
            <a:endParaRPr lang="en-GB" sz="14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6BDED33-3A65-5759-1810-3F9C6E6CDE6F}"/>
              </a:ext>
            </a:extLst>
          </p:cNvPr>
          <p:cNvCxnSpPr/>
          <p:nvPr/>
        </p:nvCxnSpPr>
        <p:spPr>
          <a:xfrm>
            <a:off x="2324100" y="3073400"/>
            <a:ext cx="431800" cy="0"/>
          </a:xfrm>
          <a:prstGeom prst="straightConnector1">
            <a:avLst/>
          </a:prstGeom>
          <a:ln w="2794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1A0F0F04-F41D-7ED0-C060-83571ACD654B}"/>
              </a:ext>
            </a:extLst>
          </p:cNvPr>
          <p:cNvSpPr/>
          <p:nvPr/>
        </p:nvSpPr>
        <p:spPr>
          <a:xfrm>
            <a:off x="3479800" y="1905000"/>
            <a:ext cx="457200" cy="457200"/>
          </a:xfrm>
          <a:prstGeom prst="ellipse">
            <a:avLst/>
          </a:prstGeom>
          <a:solidFill>
            <a:srgbClr val="2CB1BC"/>
          </a:solidFill>
          <a:ln>
            <a:solidFill>
              <a:srgbClr val="2CB1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525B7E5-70D3-C6B0-AC26-6AB47AADE386}"/>
              </a:ext>
            </a:extLst>
          </p:cNvPr>
          <p:cNvSpPr/>
          <p:nvPr/>
        </p:nvSpPr>
        <p:spPr>
          <a:xfrm>
            <a:off x="2844800" y="2603500"/>
            <a:ext cx="1778000" cy="939800"/>
          </a:xfrm>
          <a:prstGeom prst="roundRect">
            <a:avLst/>
          </a:prstGeom>
          <a:solidFill>
            <a:srgbClr val="2CB1BC"/>
          </a:solidFill>
          <a:ln w="15875">
            <a:solidFill>
              <a:srgbClr val="2CB1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400" b="1" dirty="0">
                <a:solidFill>
                  <a:srgbClr val="FFFFFF"/>
                </a:solidFill>
                <a:latin typeface="Aptos" panose="020B0004020202020204" pitchFamily="34" charset="0"/>
              </a:rPr>
              <a:t>7-POSE\</a:t>
            </a:r>
          </a:p>
          <a:p>
            <a:pPr algn="ctr"/>
            <a:r>
              <a:rPr lang="en-GB" sz="1400" b="1" dirty="0" err="1">
                <a:solidFill>
                  <a:srgbClr val="FFFFFF"/>
                </a:solidFill>
                <a:latin typeface="Aptos" panose="020B0004020202020204" pitchFamily="34" charset="0"/>
              </a:rPr>
              <a:t>nMEDOID</a:t>
            </a:r>
            <a:endParaRPr lang="en-GB" sz="14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266EDBD-FAB7-9BEC-23D1-404C2561900B}"/>
              </a:ext>
            </a:extLst>
          </p:cNvPr>
          <p:cNvCxnSpPr/>
          <p:nvPr/>
        </p:nvCxnSpPr>
        <p:spPr>
          <a:xfrm>
            <a:off x="4622800" y="3073400"/>
            <a:ext cx="431800" cy="0"/>
          </a:xfrm>
          <a:prstGeom prst="straightConnector1">
            <a:avLst/>
          </a:prstGeom>
          <a:ln w="2794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2BAAD07D-6928-4784-F831-9232F44F2240}"/>
              </a:ext>
            </a:extLst>
          </p:cNvPr>
          <p:cNvSpPr/>
          <p:nvPr/>
        </p:nvSpPr>
        <p:spPr>
          <a:xfrm>
            <a:off x="5778500" y="1905000"/>
            <a:ext cx="457200" cy="457200"/>
          </a:xfrm>
          <a:prstGeom prst="ellipse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856FD73-DD62-88FF-7274-5BD7FA49C944}"/>
              </a:ext>
            </a:extLst>
          </p:cNvPr>
          <p:cNvSpPr/>
          <p:nvPr/>
        </p:nvSpPr>
        <p:spPr>
          <a:xfrm>
            <a:off x="5143500" y="2603500"/>
            <a:ext cx="1778000" cy="939800"/>
          </a:xfrm>
          <a:prstGeom prst="roundRect">
            <a:avLst/>
          </a:prstGeom>
          <a:solidFill>
            <a:srgbClr val="27AE60"/>
          </a:solidFill>
          <a:ln w="15875"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400" b="1">
                <a:solidFill>
                  <a:srgbClr val="FFFFFF"/>
                </a:solidFill>
                <a:latin typeface="Aptos" panose="020B0004020202020204" pitchFamily="34" charset="0"/>
              </a:rPr>
              <a:t>DEAD\nZONES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AD32051-6470-CE56-BF7F-2289FF2538C4}"/>
              </a:ext>
            </a:extLst>
          </p:cNvPr>
          <p:cNvCxnSpPr/>
          <p:nvPr/>
        </p:nvCxnSpPr>
        <p:spPr>
          <a:xfrm>
            <a:off x="6921500" y="3073400"/>
            <a:ext cx="431800" cy="0"/>
          </a:xfrm>
          <a:prstGeom prst="straightConnector1">
            <a:avLst/>
          </a:prstGeom>
          <a:ln w="2794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502EA551-D6D0-036A-742E-1779FC4D9FE7}"/>
              </a:ext>
            </a:extLst>
          </p:cNvPr>
          <p:cNvSpPr/>
          <p:nvPr/>
        </p:nvSpPr>
        <p:spPr>
          <a:xfrm>
            <a:off x="8077200" y="1905000"/>
            <a:ext cx="457200" cy="45720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00" b="1">
                <a:solidFill>
                  <a:srgbClr val="FFFFFF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6B5BD76-195E-B881-8779-25014211B128}"/>
              </a:ext>
            </a:extLst>
          </p:cNvPr>
          <p:cNvSpPr/>
          <p:nvPr/>
        </p:nvSpPr>
        <p:spPr>
          <a:xfrm>
            <a:off x="7442200" y="2603500"/>
            <a:ext cx="1778000" cy="939800"/>
          </a:xfrm>
          <a:prstGeom prst="roundRect">
            <a:avLst/>
          </a:prstGeom>
          <a:solidFill>
            <a:srgbClr val="F59E0B"/>
          </a:solidFill>
          <a:ln w="15875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400" b="1" dirty="0">
                <a:solidFill>
                  <a:srgbClr val="FFFFFF"/>
                </a:solidFill>
                <a:latin typeface="Aptos" panose="020B0004020202020204" pitchFamily="34" charset="0"/>
              </a:rPr>
              <a:t>EXPONENTIAL</a:t>
            </a:r>
          </a:p>
          <a:p>
            <a:pPr algn="ctr"/>
            <a:r>
              <a:rPr lang="en-GB" sz="1400" b="1" dirty="0">
                <a:solidFill>
                  <a:srgbClr val="FFFFFF"/>
                </a:solidFill>
                <a:latin typeface="Aptos" panose="020B0004020202020204" pitchFamily="34" charset="0"/>
              </a:rPr>
              <a:t>\</a:t>
            </a:r>
            <a:r>
              <a:rPr lang="en-GB" sz="1400" b="1" dirty="0" err="1">
                <a:solidFill>
                  <a:srgbClr val="FFFFFF"/>
                </a:solidFill>
                <a:latin typeface="Aptos" panose="020B0004020202020204" pitchFamily="34" charset="0"/>
              </a:rPr>
              <a:t>nSMOOTHING</a:t>
            </a:r>
            <a:endParaRPr lang="en-GB" sz="14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28DA91B-F2CA-7EBD-DFA2-F8AD64F9BD7F}"/>
              </a:ext>
            </a:extLst>
          </p:cNvPr>
          <p:cNvCxnSpPr/>
          <p:nvPr/>
        </p:nvCxnSpPr>
        <p:spPr>
          <a:xfrm>
            <a:off x="9220200" y="3073400"/>
            <a:ext cx="431800" cy="0"/>
          </a:xfrm>
          <a:prstGeom prst="straightConnector1">
            <a:avLst/>
          </a:prstGeom>
          <a:ln w="2794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7AA0C6A4-8AEB-70FC-3BE0-E649082673B5}"/>
              </a:ext>
            </a:extLst>
          </p:cNvPr>
          <p:cNvSpPr/>
          <p:nvPr/>
        </p:nvSpPr>
        <p:spPr>
          <a:xfrm>
            <a:off x="10375900" y="1905000"/>
            <a:ext cx="457200" cy="457200"/>
          </a:xfrm>
          <a:prstGeom prst="ellipse">
            <a:avLst/>
          </a:prstGeom>
          <a:solidFill>
            <a:srgbClr val="7152AD"/>
          </a:solidFill>
          <a:ln>
            <a:solidFill>
              <a:srgbClr val="7152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00" b="1">
                <a:solidFill>
                  <a:srgbClr val="FFFFFF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1D31B28-718D-1DA8-068C-F685B08DFCF1}"/>
              </a:ext>
            </a:extLst>
          </p:cNvPr>
          <p:cNvSpPr/>
          <p:nvPr/>
        </p:nvSpPr>
        <p:spPr>
          <a:xfrm>
            <a:off x="9740900" y="2603500"/>
            <a:ext cx="1778000" cy="939800"/>
          </a:xfrm>
          <a:prstGeom prst="roundRect">
            <a:avLst/>
          </a:prstGeom>
          <a:solidFill>
            <a:srgbClr val="7152AD"/>
          </a:solidFill>
          <a:ln w="15875">
            <a:solidFill>
              <a:srgbClr val="7152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400" b="1">
                <a:solidFill>
                  <a:srgbClr val="FFFFFF"/>
                </a:solidFill>
                <a:latin typeface="Aptos" panose="020B0004020202020204" pitchFamily="34" charset="0"/>
              </a:rPr>
              <a:t>LOCAL REST\nPULL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ACEEF4-DA79-A00A-08B1-ABE62AD18816}"/>
              </a:ext>
            </a:extLst>
          </p:cNvPr>
          <p:cNvSpPr txBox="1"/>
          <p:nvPr/>
        </p:nvSpPr>
        <p:spPr>
          <a:xfrm>
            <a:off x="368300" y="3980835"/>
            <a:ext cx="2540000" cy="43088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GB" sz="1400" dirty="0">
                <a:solidFill>
                  <a:srgbClr val="5C7084"/>
                </a:solidFill>
                <a:latin typeface="Aptos" panose="020B0004020202020204" pitchFamily="34" charset="0"/>
              </a:rPr>
              <a:t>Updates once per new OpenCV timestamp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31341D-D8C2-9BC7-E041-F128270846B1}"/>
              </a:ext>
            </a:extLst>
          </p:cNvPr>
          <p:cNvSpPr txBox="1"/>
          <p:nvPr/>
        </p:nvSpPr>
        <p:spPr>
          <a:xfrm>
            <a:off x="2621996" y="4002314"/>
            <a:ext cx="2540000" cy="43088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GB" sz="1400" dirty="0">
                <a:solidFill>
                  <a:srgbClr val="5C7084"/>
                </a:solidFill>
                <a:latin typeface="Aptos" panose="020B0004020202020204" pitchFamily="34" charset="0"/>
              </a:rPr>
              <a:t>       Rejects a lone temporal outlier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4349EEC-DBCC-B9A8-80A2-0C99E3FC3E7B}"/>
              </a:ext>
            </a:extLst>
          </p:cNvPr>
          <p:cNvSpPr txBox="1"/>
          <p:nvPr/>
        </p:nvSpPr>
        <p:spPr>
          <a:xfrm>
            <a:off x="5054600" y="4001011"/>
            <a:ext cx="2540000" cy="43088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GB" sz="1400" dirty="0">
                <a:solidFill>
                  <a:srgbClr val="5C7084"/>
                </a:solidFill>
                <a:latin typeface="Aptos" panose="020B0004020202020204" pitchFamily="34" charset="0"/>
              </a:rPr>
              <a:t>Holds tiny position / rotation changes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D0DF341-EC7A-A5B7-D131-C7E2F593C72E}"/>
              </a:ext>
            </a:extLst>
          </p:cNvPr>
          <p:cNvSpPr txBox="1"/>
          <p:nvPr/>
        </p:nvSpPr>
        <p:spPr>
          <a:xfrm>
            <a:off x="7327730" y="4025900"/>
            <a:ext cx="2540000" cy="215444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GB" sz="1400" dirty="0">
                <a:solidFill>
                  <a:srgbClr val="5C7084"/>
                </a:solidFill>
                <a:latin typeface="Aptos" panose="020B0004020202020204" pitchFamily="34" charset="0"/>
              </a:rPr>
              <a:t>Moves continuously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826898F-475A-9623-5DD0-ED56B15C7EFD}"/>
              </a:ext>
            </a:extLst>
          </p:cNvPr>
          <p:cNvSpPr txBox="1"/>
          <p:nvPr/>
        </p:nvSpPr>
        <p:spPr>
          <a:xfrm>
            <a:off x="9766300" y="4025900"/>
            <a:ext cx="1905000" cy="120032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GB" sz="1400" dirty="0">
                <a:solidFill>
                  <a:srgbClr val="5C7084"/>
                </a:solidFill>
                <a:latin typeface="Aptos" panose="020B0004020202020204" pitchFamily="34" charset="0"/>
              </a:rPr>
              <a:t>Only near remembered rest.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</a:p>
          <a:p>
            <a:pPr algn="ctr"/>
            <a:r>
              <a:rPr lang="en-US" altLang="en-US" sz="1050" dirty="0">
                <a:latin typeface="Arial Unicode MS"/>
              </a:rPr>
              <a:t>D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isplayed avatar moves back towards remembered rest E35</a:t>
            </a:r>
            <a:r>
              <a:rPr kumimoji="0" lang="en-US" altLang="en-US" sz="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ctr"/>
            <a:endParaRPr lang="en-GB" sz="1400" dirty="0">
              <a:solidFill>
                <a:srgbClr val="5C7084"/>
              </a:solidFill>
              <a:latin typeface="Aptos" panose="020B0004020202020204" pitchFamily="34" charset="0"/>
            </a:endParaRPr>
          </a:p>
          <a:p>
            <a:pPr algn="ctr"/>
            <a:endParaRPr lang="en-GB" sz="1400" dirty="0">
              <a:solidFill>
                <a:srgbClr val="5C7084"/>
              </a:solidFill>
              <a:latin typeface="Aptos" panose="020B0004020202020204" pitchFamily="34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E3B9CD3-46E1-B4D7-0B41-46CCEE3D3122}"/>
              </a:ext>
            </a:extLst>
          </p:cNvPr>
          <p:cNvSpPr/>
          <p:nvPr/>
        </p:nvSpPr>
        <p:spPr>
          <a:xfrm>
            <a:off x="816891" y="5193843"/>
            <a:ext cx="10380417" cy="698500"/>
          </a:xfrm>
          <a:prstGeom prst="roundRect">
            <a:avLst/>
          </a:prstGeom>
          <a:solidFill>
            <a:srgbClr val="102A43"/>
          </a:solidFill>
          <a:ln w="15875">
            <a:solidFill>
              <a:srgbClr val="102A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600" b="1" dirty="0">
                <a:solidFill>
                  <a:srgbClr val="FFFFFF"/>
                </a:solidFill>
                <a:latin typeface="Aptos" panose="020B0004020202020204" pitchFamily="34" charset="0"/>
              </a:rPr>
              <a:t>Current values: window 7 • position dead zone 6 mm • rotation dead zone 0.5° • smoothing τ = 0.8 s • prior τ = 8 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C4584FA-048C-06E0-E5A9-19EDAED4B3E1}"/>
              </a:ext>
            </a:extLst>
          </p:cNvPr>
          <p:cNvSpPr txBox="1"/>
          <p:nvPr/>
        </p:nvSpPr>
        <p:spPr>
          <a:xfrm>
            <a:off x="533400" y="6489700"/>
            <a:ext cx="9779000" cy="123111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800">
                <a:solidFill>
                  <a:srgbClr val="5C7084"/>
                </a:solidFill>
                <a:latin typeface="Aptos" panose="020B0004020202020204" pitchFamily="34" charset="0"/>
              </a:rPr>
              <a:t>simple_pose_stabilizer.gd • avatar_rig_navel.gd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C21D6AD-119B-1512-0D3B-53201390743A}"/>
              </a:ext>
            </a:extLst>
          </p:cNvPr>
          <p:cNvSpPr txBox="1"/>
          <p:nvPr/>
        </p:nvSpPr>
        <p:spPr>
          <a:xfrm>
            <a:off x="11074400" y="6438900"/>
            <a:ext cx="584200" cy="1384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r"/>
            <a:r>
              <a:rPr lang="en-GB" sz="900" b="1">
                <a:solidFill>
                  <a:srgbClr val="5C7084"/>
                </a:solidFill>
                <a:latin typeface="Aptos" panose="020B0004020202020204" pitchFamily="34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417546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8FED9E-9057-3905-7A67-FF3DCAA9118D}"/>
              </a:ext>
            </a:extLst>
          </p:cNvPr>
          <p:cNvSpPr txBox="1"/>
          <p:nvPr/>
        </p:nvSpPr>
        <p:spPr>
          <a:xfrm>
            <a:off x="533400" y="279400"/>
            <a:ext cx="7620000" cy="15388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1000" b="1">
                <a:solidFill>
                  <a:srgbClr val="1976D2"/>
                </a:solidFill>
                <a:latin typeface="Aptos" panose="020B0004020202020204" pitchFamily="34" charset="0"/>
              </a:rPr>
              <a:t>CURRENT QUEST RUNTIME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CE2986-BFC3-63F3-797C-061F61CCDC7B}"/>
              </a:ext>
            </a:extLst>
          </p:cNvPr>
          <p:cNvSpPr txBox="1"/>
          <p:nvPr/>
        </p:nvSpPr>
        <p:spPr>
          <a:xfrm>
            <a:off x="533400" y="609600"/>
            <a:ext cx="10985500" cy="43088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2800" b="1">
                <a:solidFill>
                  <a:srgbClr val="102A43"/>
                </a:solidFill>
                <a:latin typeface="Aptos" panose="020B0004020202020204" pitchFamily="34" charset="0"/>
              </a:rPr>
              <a:t>Startup: learn a robust session rest pose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8FCA54-1E49-98B2-564A-D4D0008D5937}"/>
              </a:ext>
            </a:extLst>
          </p:cNvPr>
          <p:cNvSpPr/>
          <p:nvPr/>
        </p:nvSpPr>
        <p:spPr>
          <a:xfrm>
            <a:off x="533400" y="1282700"/>
            <a:ext cx="11125200" cy="38100"/>
          </a:xfrm>
          <a:prstGeom prst="rect">
            <a:avLst/>
          </a:prstGeom>
          <a:solidFill>
            <a:srgbClr val="2CB1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2C9CC7-C196-7AC2-3380-F0C13BBF1F3B}"/>
              </a:ext>
            </a:extLst>
          </p:cNvPr>
          <p:cNvSpPr txBox="1"/>
          <p:nvPr/>
        </p:nvSpPr>
        <p:spPr>
          <a:xfrm>
            <a:off x="533400" y="1549400"/>
            <a:ext cx="9906000" cy="2769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b="1" dirty="0">
                <a:solidFill>
                  <a:srgbClr val="16324F"/>
                </a:solidFill>
                <a:latin typeface="Aptos" panose="020B0004020202020204" pitchFamily="34" charset="0"/>
              </a:rPr>
              <a:t>The avatar stays hidden while independent fused poses are collected.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23B0179-A8FC-DE81-312C-93F330D60836}"/>
              </a:ext>
            </a:extLst>
          </p:cNvPr>
          <p:cNvSpPr/>
          <p:nvPr/>
        </p:nvSpPr>
        <p:spPr>
          <a:xfrm>
            <a:off x="939800" y="2603500"/>
            <a:ext cx="914400" cy="914400"/>
          </a:xfrm>
          <a:prstGeom prst="ellipse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>
                <a:solidFill>
                  <a:srgbClr val="FFFFFF"/>
                </a:solidFill>
                <a:latin typeface="Aptos" panose="020B0004020202020204" pitchFamily="34" charset="0"/>
              </a:rPr>
              <a:t>20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48BB7D-AFBD-AADE-6295-765F76C1644B}"/>
              </a:ext>
            </a:extLst>
          </p:cNvPr>
          <p:cNvSpPr txBox="1"/>
          <p:nvPr/>
        </p:nvSpPr>
        <p:spPr>
          <a:xfrm>
            <a:off x="1066800" y="3606800"/>
            <a:ext cx="660400" cy="230832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GB" sz="1500" b="1">
                <a:solidFill>
                  <a:srgbClr val="102A43"/>
                </a:solidFill>
                <a:latin typeface="Aptos" panose="020B0004020202020204" pitchFamily="34" charset="0"/>
              </a:rPr>
              <a:t>E0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4BBCFA5-C280-99F2-6444-8049386F0F72}"/>
              </a:ext>
            </a:extLst>
          </p:cNvPr>
          <p:cNvCxnSpPr/>
          <p:nvPr/>
        </p:nvCxnSpPr>
        <p:spPr>
          <a:xfrm>
            <a:off x="1854200" y="3060700"/>
            <a:ext cx="1498600" cy="0"/>
          </a:xfrm>
          <a:prstGeom prst="straightConnector1">
            <a:avLst/>
          </a:prstGeom>
          <a:ln w="3048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0CF9831B-5265-30CD-CE01-A2C78093626B}"/>
              </a:ext>
            </a:extLst>
          </p:cNvPr>
          <p:cNvSpPr/>
          <p:nvPr/>
        </p:nvSpPr>
        <p:spPr>
          <a:xfrm>
            <a:off x="3543300" y="2603500"/>
            <a:ext cx="914400" cy="914400"/>
          </a:xfrm>
          <a:prstGeom prst="ellipse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>
                <a:solidFill>
                  <a:srgbClr val="FFFFFF"/>
                </a:solidFill>
                <a:latin typeface="Aptos" panose="020B0004020202020204" pitchFamily="34" charset="0"/>
              </a:rPr>
              <a:t>25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A0346B-2DB8-554D-E6C6-0CD3C97E1C63}"/>
              </a:ext>
            </a:extLst>
          </p:cNvPr>
          <p:cNvSpPr txBox="1"/>
          <p:nvPr/>
        </p:nvSpPr>
        <p:spPr>
          <a:xfrm>
            <a:off x="3670300" y="3606800"/>
            <a:ext cx="660400" cy="230832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GB" sz="1500" b="1">
                <a:solidFill>
                  <a:srgbClr val="102A43"/>
                </a:solidFill>
                <a:latin typeface="Aptos" panose="020B0004020202020204" pitchFamily="34" charset="0"/>
              </a:rPr>
              <a:t>E1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B8C76BA-FA91-E3A4-E2A1-CEE17F068CC5}"/>
              </a:ext>
            </a:extLst>
          </p:cNvPr>
          <p:cNvCxnSpPr/>
          <p:nvPr/>
        </p:nvCxnSpPr>
        <p:spPr>
          <a:xfrm>
            <a:off x="4457700" y="3060700"/>
            <a:ext cx="1498600" cy="0"/>
          </a:xfrm>
          <a:prstGeom prst="straightConnector1">
            <a:avLst/>
          </a:prstGeom>
          <a:ln w="3048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08AE62B7-2894-8FD6-41F1-7765564881E3}"/>
              </a:ext>
            </a:extLst>
          </p:cNvPr>
          <p:cNvSpPr/>
          <p:nvPr/>
        </p:nvSpPr>
        <p:spPr>
          <a:xfrm>
            <a:off x="6146800" y="2603500"/>
            <a:ext cx="914400" cy="914400"/>
          </a:xfrm>
          <a:prstGeom prst="ellipse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>
                <a:solidFill>
                  <a:srgbClr val="FFFFFF"/>
                </a:solidFill>
                <a:latin typeface="Aptos" panose="020B0004020202020204" pitchFamily="34" charset="0"/>
              </a:rPr>
              <a:t>30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C0C7D2-88BF-0DB4-FE22-3BC6D326DCEA}"/>
              </a:ext>
            </a:extLst>
          </p:cNvPr>
          <p:cNvSpPr txBox="1"/>
          <p:nvPr/>
        </p:nvSpPr>
        <p:spPr>
          <a:xfrm>
            <a:off x="6273800" y="3606800"/>
            <a:ext cx="660400" cy="230832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GB" sz="1500" b="1">
                <a:solidFill>
                  <a:srgbClr val="102A43"/>
                </a:solidFill>
                <a:latin typeface="Aptos" panose="020B0004020202020204" pitchFamily="34" charset="0"/>
              </a:rPr>
              <a:t>E2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25DF98D-B030-B404-3DD8-9A8EAC6E7DC1}"/>
              </a:ext>
            </a:extLst>
          </p:cNvPr>
          <p:cNvCxnSpPr/>
          <p:nvPr/>
        </p:nvCxnSpPr>
        <p:spPr>
          <a:xfrm>
            <a:off x="7061200" y="3060700"/>
            <a:ext cx="1498600" cy="0"/>
          </a:xfrm>
          <a:prstGeom prst="straightConnector1">
            <a:avLst/>
          </a:prstGeom>
          <a:ln w="3048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B9B193AB-2B8A-3369-89A6-CFACF3C3B090}"/>
              </a:ext>
            </a:extLst>
          </p:cNvPr>
          <p:cNvSpPr/>
          <p:nvPr/>
        </p:nvSpPr>
        <p:spPr>
          <a:xfrm>
            <a:off x="8750300" y="2603500"/>
            <a:ext cx="914400" cy="914400"/>
          </a:xfrm>
          <a:prstGeom prst="ellipse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>
                <a:solidFill>
                  <a:srgbClr val="FFFFFF"/>
                </a:solidFill>
                <a:latin typeface="Aptos" panose="020B0004020202020204" pitchFamily="34" charset="0"/>
              </a:rPr>
              <a:t>35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410387-B025-A144-59DC-F5670F63330D}"/>
              </a:ext>
            </a:extLst>
          </p:cNvPr>
          <p:cNvSpPr txBox="1"/>
          <p:nvPr/>
        </p:nvSpPr>
        <p:spPr>
          <a:xfrm>
            <a:off x="8877300" y="3606800"/>
            <a:ext cx="660400" cy="230832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GB" sz="1500" b="1">
                <a:solidFill>
                  <a:srgbClr val="102A43"/>
                </a:solidFill>
                <a:latin typeface="Aptos" panose="020B0004020202020204" pitchFamily="34" charset="0"/>
              </a:rPr>
              <a:t>E3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85D05F-622E-164A-2292-756F771E5687}"/>
              </a:ext>
            </a:extLst>
          </p:cNvPr>
          <p:cNvSpPr txBox="1"/>
          <p:nvPr/>
        </p:nvSpPr>
        <p:spPr>
          <a:xfrm>
            <a:off x="889000" y="4178300"/>
            <a:ext cx="10414000" cy="738664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GB" sz="1600" dirty="0">
                <a:solidFill>
                  <a:srgbClr val="16324F"/>
                </a:solidFill>
                <a:latin typeface="Aptos" panose="020B0004020202020204" pitchFamily="34" charset="0"/>
              </a:rPr>
              <a:t>Each E uses coordinate-median position + quaternion-medoid rotation over all collected poses.</a:t>
            </a:r>
          </a:p>
          <a:p>
            <a:r>
              <a:rPr lang="en-GB" sz="1600" dirty="0"/>
              <a:t>On that first visible </a:t>
            </a:r>
            <a:r>
              <a:rPr lang="en-GB" sz="1600" dirty="0" err="1"/>
              <a:t>frame.No</a:t>
            </a:r>
            <a:r>
              <a:rPr lang="en-GB" sz="1600" dirty="0"/>
              <a:t> smoothing movement etc</a:t>
            </a:r>
          </a:p>
          <a:p>
            <a:pPr algn="ctr"/>
            <a:endParaRPr lang="en-GB" sz="1600" dirty="0">
              <a:solidFill>
                <a:srgbClr val="16324F"/>
              </a:solidFill>
              <a:latin typeface="Aptos" panose="020B00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F718818-8E99-E42B-10BB-A492BFEF0F26}"/>
              </a:ext>
            </a:extLst>
          </p:cNvPr>
          <p:cNvSpPr/>
          <p:nvPr/>
        </p:nvSpPr>
        <p:spPr>
          <a:xfrm>
            <a:off x="1219200" y="4914900"/>
            <a:ext cx="4699000" cy="889000"/>
          </a:xfrm>
          <a:prstGeom prst="roundRect">
            <a:avLst/>
          </a:prstGeom>
          <a:solidFill>
            <a:srgbClr val="E8F0F8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600" b="1" dirty="0">
                <a:solidFill>
                  <a:srgbClr val="16324F"/>
                </a:solidFill>
                <a:latin typeface="Aptos" panose="020B0004020202020204" pitchFamily="34" charset="0"/>
              </a:rPr>
              <a:t>Stable comparison\n</a:t>
            </a:r>
            <a:r>
              <a:rPr lang="el-GR" sz="1600" b="1" dirty="0">
                <a:solidFill>
                  <a:srgbClr val="16324F"/>
                </a:solidFill>
                <a:latin typeface="Aptos" panose="020B0004020202020204" pitchFamily="34" charset="0"/>
              </a:rPr>
              <a:t>Δ </a:t>
            </a:r>
            <a:r>
              <a:rPr lang="en-GB" sz="1600" b="1" dirty="0">
                <a:solidFill>
                  <a:srgbClr val="16324F"/>
                </a:solidFill>
                <a:latin typeface="Aptos" panose="020B0004020202020204" pitchFamily="34" charset="0"/>
              </a:rPr>
              <a:t>position ≤ 2 mm  AND  </a:t>
            </a:r>
            <a:r>
              <a:rPr lang="el-GR" sz="1600" b="1" dirty="0">
                <a:solidFill>
                  <a:srgbClr val="16324F"/>
                </a:solidFill>
                <a:latin typeface="Aptos" panose="020B0004020202020204" pitchFamily="34" charset="0"/>
              </a:rPr>
              <a:t>Δ </a:t>
            </a:r>
            <a:r>
              <a:rPr lang="en-GB" sz="1600" b="1" dirty="0">
                <a:solidFill>
                  <a:srgbClr val="16324F"/>
                </a:solidFill>
                <a:latin typeface="Aptos" panose="020B0004020202020204" pitchFamily="34" charset="0"/>
              </a:rPr>
              <a:t>rotation ≤ 0.5°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640E927-CDD1-3063-CF72-E14C99E2E212}"/>
              </a:ext>
            </a:extLst>
          </p:cNvPr>
          <p:cNvSpPr/>
          <p:nvPr/>
        </p:nvSpPr>
        <p:spPr>
          <a:xfrm>
            <a:off x="6350000" y="4914900"/>
            <a:ext cx="4648200" cy="889000"/>
          </a:xfrm>
          <a:prstGeom prst="roundRect">
            <a:avLst/>
          </a:prstGeom>
          <a:solidFill>
            <a:srgbClr val="E7F7ED"/>
          </a:solidFill>
          <a:ln w="15875"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500" b="1" dirty="0">
                <a:solidFill>
                  <a:srgbClr val="202C37"/>
                </a:solidFill>
                <a:latin typeface="Aptos" panose="020B0004020202020204" pitchFamily="34" charset="0"/>
              </a:rPr>
              <a:t>3 stable comparisons→ detection 35\</a:t>
            </a:r>
            <a:r>
              <a:rPr lang="en-GB" sz="1500" b="1" dirty="0" err="1">
                <a:solidFill>
                  <a:srgbClr val="202C37"/>
                </a:solidFill>
                <a:latin typeface="Aptos" panose="020B0004020202020204" pitchFamily="34" charset="0"/>
              </a:rPr>
              <a:t>nDetection</a:t>
            </a:r>
            <a:r>
              <a:rPr lang="en-GB" sz="1500" b="1" dirty="0">
                <a:solidFill>
                  <a:srgbClr val="202C37"/>
                </a:solidFill>
                <a:latin typeface="Aptos" panose="020B0004020202020204" pitchFamily="34" charset="0"/>
              </a:rPr>
              <a:t> 50 fallback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2349E1-E547-EF33-D295-D3F1F5896DDF}"/>
              </a:ext>
            </a:extLst>
          </p:cNvPr>
          <p:cNvSpPr txBox="1"/>
          <p:nvPr/>
        </p:nvSpPr>
        <p:spPr>
          <a:xfrm>
            <a:off x="533400" y="6489700"/>
            <a:ext cx="9779000" cy="123111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800">
                <a:solidFill>
                  <a:srgbClr val="5C7084"/>
                </a:solidFill>
                <a:latin typeface="Aptos" panose="020B0004020202020204" pitchFamily="34" charset="0"/>
              </a:rPr>
              <a:t>navel_provider.gd • 2.0 mm / 0.50° are present in the grid, but not yet validated as best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53740E2-3F38-F78A-6347-BAC9C59A111E}"/>
              </a:ext>
            </a:extLst>
          </p:cNvPr>
          <p:cNvSpPr txBox="1"/>
          <p:nvPr/>
        </p:nvSpPr>
        <p:spPr>
          <a:xfrm>
            <a:off x="11074400" y="6438900"/>
            <a:ext cx="584200" cy="1384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r"/>
            <a:r>
              <a:rPr lang="en-GB" sz="900" b="1">
                <a:solidFill>
                  <a:srgbClr val="5C7084"/>
                </a:solidFill>
                <a:latin typeface="Aptos" panose="020B000402020202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656293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7328E5-F63E-E03B-9622-012775E5B98F}"/>
              </a:ext>
            </a:extLst>
          </p:cNvPr>
          <p:cNvSpPr txBox="1"/>
          <p:nvPr/>
        </p:nvSpPr>
        <p:spPr>
          <a:xfrm>
            <a:off x="533400" y="279400"/>
            <a:ext cx="7620000" cy="15388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1000" b="1">
                <a:solidFill>
                  <a:srgbClr val="1976D2"/>
                </a:solidFill>
                <a:latin typeface="Aptos" panose="020B0004020202020204" pitchFamily="34" charset="0"/>
              </a:rPr>
              <a:t>CURRENT QUEST RUNTIME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DEE475-1BA3-8494-5B3F-1BC43801752B}"/>
              </a:ext>
            </a:extLst>
          </p:cNvPr>
          <p:cNvSpPr txBox="1"/>
          <p:nvPr/>
        </p:nvSpPr>
        <p:spPr>
          <a:xfrm>
            <a:off x="527050" y="794663"/>
            <a:ext cx="10985500" cy="43088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2800" b="1" dirty="0">
                <a:solidFill>
                  <a:srgbClr val="102A43"/>
                </a:solidFill>
                <a:latin typeface="Aptos" panose="020B0004020202020204" pitchFamily="34" charset="0"/>
              </a:rPr>
              <a:t>medoid rejects jumps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DBE2F2-BCB6-DB54-7B83-6297138B6BEC}"/>
              </a:ext>
            </a:extLst>
          </p:cNvPr>
          <p:cNvSpPr/>
          <p:nvPr/>
        </p:nvSpPr>
        <p:spPr>
          <a:xfrm>
            <a:off x="533400" y="1282700"/>
            <a:ext cx="11125200" cy="38100"/>
          </a:xfrm>
          <a:prstGeom prst="rect">
            <a:avLst/>
          </a:prstGeom>
          <a:solidFill>
            <a:srgbClr val="2CB1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C932E70-2296-2318-2307-B928F9055BFA}"/>
              </a:ext>
            </a:extLst>
          </p:cNvPr>
          <p:cNvSpPr/>
          <p:nvPr/>
        </p:nvSpPr>
        <p:spPr>
          <a:xfrm>
            <a:off x="1625600" y="2921000"/>
            <a:ext cx="685800" cy="685800"/>
          </a:xfrm>
          <a:prstGeom prst="ellipse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>
                <a:solidFill>
                  <a:srgbClr val="FFFFFF"/>
                </a:solidFill>
                <a:latin typeface="Aptos" panose="020B0004020202020204" pitchFamily="34" charset="0"/>
              </a:rPr>
              <a:t>M1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17955E4-A925-AFCA-855D-E1734B2B6160}"/>
              </a:ext>
            </a:extLst>
          </p:cNvPr>
          <p:cNvSpPr/>
          <p:nvPr/>
        </p:nvSpPr>
        <p:spPr>
          <a:xfrm>
            <a:off x="2108200" y="2768600"/>
            <a:ext cx="685800" cy="685800"/>
          </a:xfrm>
          <a:prstGeom prst="ellipse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>
                <a:solidFill>
                  <a:srgbClr val="FFFFFF"/>
                </a:solidFill>
                <a:latin typeface="Aptos" panose="020B0004020202020204" pitchFamily="34" charset="0"/>
              </a:rPr>
              <a:t>M2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252DF04-C8A6-A2C2-BB15-772374578C7D}"/>
              </a:ext>
            </a:extLst>
          </p:cNvPr>
          <p:cNvSpPr/>
          <p:nvPr/>
        </p:nvSpPr>
        <p:spPr>
          <a:xfrm>
            <a:off x="2463800" y="3200400"/>
            <a:ext cx="685800" cy="685800"/>
          </a:xfrm>
          <a:prstGeom prst="ellipse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>
                <a:solidFill>
                  <a:srgbClr val="FFFFFF"/>
                </a:solidFill>
                <a:latin typeface="Aptos" panose="020B0004020202020204" pitchFamily="34" charset="0"/>
              </a:rPr>
              <a:t>M3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AA68BC4-A8F4-1B3F-F063-37D83D215B8C}"/>
              </a:ext>
            </a:extLst>
          </p:cNvPr>
          <p:cNvSpPr/>
          <p:nvPr/>
        </p:nvSpPr>
        <p:spPr>
          <a:xfrm>
            <a:off x="2946400" y="2844800"/>
            <a:ext cx="685800" cy="685800"/>
          </a:xfrm>
          <a:prstGeom prst="ellipse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>
                <a:solidFill>
                  <a:srgbClr val="FFFFFF"/>
                </a:solidFill>
                <a:latin typeface="Aptos" panose="020B0004020202020204" pitchFamily="34" charset="0"/>
              </a:rPr>
              <a:t>chosen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6BBA8F5-F531-EDFE-FF2A-3F68CCE03D69}"/>
              </a:ext>
            </a:extLst>
          </p:cNvPr>
          <p:cNvSpPr/>
          <p:nvPr/>
        </p:nvSpPr>
        <p:spPr>
          <a:xfrm>
            <a:off x="3276600" y="3327400"/>
            <a:ext cx="685800" cy="685800"/>
          </a:xfrm>
          <a:prstGeom prst="ellipse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>
                <a:solidFill>
                  <a:srgbClr val="FFFFFF"/>
                </a:solidFill>
                <a:latin typeface="Aptos" panose="020B0004020202020204" pitchFamily="34" charset="0"/>
              </a:rPr>
              <a:t>M5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44540B5-4D82-8F16-DD4C-694F67B69D59}"/>
              </a:ext>
            </a:extLst>
          </p:cNvPr>
          <p:cNvSpPr/>
          <p:nvPr/>
        </p:nvSpPr>
        <p:spPr>
          <a:xfrm>
            <a:off x="3632200" y="2984500"/>
            <a:ext cx="685800" cy="685800"/>
          </a:xfrm>
          <a:prstGeom prst="ellipse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>
                <a:solidFill>
                  <a:srgbClr val="FFFFFF"/>
                </a:solidFill>
                <a:latin typeface="Aptos" panose="020B0004020202020204" pitchFamily="34" charset="0"/>
              </a:rPr>
              <a:t>M6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1DC8DE4-D31D-2418-7D59-098886247EE8}"/>
              </a:ext>
            </a:extLst>
          </p:cNvPr>
          <p:cNvSpPr/>
          <p:nvPr/>
        </p:nvSpPr>
        <p:spPr>
          <a:xfrm>
            <a:off x="5334000" y="2133600"/>
            <a:ext cx="685800" cy="685800"/>
          </a:xfrm>
          <a:prstGeom prst="ellipse">
            <a:avLst/>
          </a:prstGeom>
          <a:solidFill>
            <a:srgbClr val="E45756"/>
          </a:solidFill>
          <a:ln>
            <a:solidFill>
              <a:srgbClr val="E457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>
                <a:solidFill>
                  <a:srgbClr val="FFFFFF"/>
                </a:solidFill>
                <a:latin typeface="Aptos" panose="020B0004020202020204" pitchFamily="34" charset="0"/>
              </a:rPr>
              <a:t>bad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554A29-9A79-3268-2C83-C5C44441F59B}"/>
              </a:ext>
            </a:extLst>
          </p:cNvPr>
          <p:cNvSpPr txBox="1"/>
          <p:nvPr/>
        </p:nvSpPr>
        <p:spPr>
          <a:xfrm>
            <a:off x="889000" y="4368800"/>
            <a:ext cx="5461000" cy="784830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1700">
                <a:solidFill>
                  <a:srgbClr val="16324F"/>
                </a:solidFill>
                <a:latin typeface="Aptos" panose="020B0004020202020204" pitchFamily="34" charset="0"/>
              </a:rPr>
              <a:t>Six measurements agree; one is far away. The medoid chooses the actual measured pose with the smallest total distance to all others.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9A249A2-09B4-AE24-D383-A9AA3CC897CB}"/>
              </a:ext>
            </a:extLst>
          </p:cNvPr>
          <p:cNvSpPr/>
          <p:nvPr/>
        </p:nvSpPr>
        <p:spPr>
          <a:xfrm>
            <a:off x="7239000" y="2336800"/>
            <a:ext cx="3937000" cy="1016000"/>
          </a:xfrm>
          <a:prstGeom prst="roundRect">
            <a:avLst/>
          </a:prstGeom>
          <a:solidFill>
            <a:srgbClr val="E8F0F8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b="1" dirty="0">
                <a:solidFill>
                  <a:srgbClr val="16324F"/>
                </a:solidFill>
                <a:latin typeface="Aptos" panose="020B0004020202020204" pitchFamily="34" charset="0"/>
              </a:rPr>
              <a:t>score = position distance\n+ radius × rotation angle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C67851-C857-56A2-14F2-BF686E238329}"/>
              </a:ext>
            </a:extLst>
          </p:cNvPr>
          <p:cNvSpPr txBox="1"/>
          <p:nvPr/>
        </p:nvSpPr>
        <p:spPr>
          <a:xfrm>
            <a:off x="7289800" y="3733800"/>
            <a:ext cx="3835400" cy="738664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1600" dirty="0">
                <a:solidFill>
                  <a:srgbClr val="16324F"/>
                </a:solidFill>
                <a:latin typeface="Aptos" panose="020B0004020202020204" pitchFamily="34" charset="0"/>
              </a:rPr>
              <a:t>Current radius = 0.2864789 </a:t>
            </a:r>
          </a:p>
          <a:p>
            <a:r>
              <a:rPr lang="en-GB" sz="1600" dirty="0"/>
              <a:t>Which of these seven complete measured poses is closest to the other six?</a:t>
            </a:r>
            <a:endParaRPr lang="en-GB" sz="1600" dirty="0">
              <a:solidFill>
                <a:srgbClr val="16324F"/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055928-803E-3862-DF5D-A7BAA5B68B91}"/>
              </a:ext>
            </a:extLst>
          </p:cNvPr>
          <p:cNvSpPr txBox="1"/>
          <p:nvPr/>
        </p:nvSpPr>
        <p:spPr>
          <a:xfrm>
            <a:off x="533400" y="6489700"/>
            <a:ext cx="9779000" cy="123111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800">
                <a:solidFill>
                  <a:srgbClr val="5C7084"/>
                </a:solidFill>
                <a:latin typeface="Aptos" panose="020B0004020202020204" pitchFamily="34" charset="0"/>
              </a:rPr>
              <a:t>simple_pose_stabilizer.gd::_medoid • radius is included in the tuning grid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A47AB6-872D-DA37-4F17-559EC11ED244}"/>
              </a:ext>
            </a:extLst>
          </p:cNvPr>
          <p:cNvSpPr txBox="1"/>
          <p:nvPr/>
        </p:nvSpPr>
        <p:spPr>
          <a:xfrm>
            <a:off x="11074400" y="6438900"/>
            <a:ext cx="584200" cy="1384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r"/>
            <a:r>
              <a:rPr lang="en-GB" sz="900" b="1">
                <a:solidFill>
                  <a:srgbClr val="5C7084"/>
                </a:solidFill>
                <a:latin typeface="Aptos" panose="020B0004020202020204" pitchFamily="34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5048419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D95EDF-3C87-6D99-C40C-E692B4FFC459}"/>
              </a:ext>
            </a:extLst>
          </p:cNvPr>
          <p:cNvSpPr txBox="1"/>
          <p:nvPr/>
        </p:nvSpPr>
        <p:spPr>
          <a:xfrm>
            <a:off x="533400" y="279400"/>
            <a:ext cx="7620000" cy="15388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1000" b="1">
                <a:solidFill>
                  <a:srgbClr val="1976D2"/>
                </a:solidFill>
                <a:latin typeface="Aptos" panose="020B0004020202020204" pitchFamily="34" charset="0"/>
              </a:rPr>
              <a:t>CURRENT QUEST RUNTIME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AF5D4B-1399-1756-6A2D-66579FC1C8F6}"/>
              </a:ext>
            </a:extLst>
          </p:cNvPr>
          <p:cNvSpPr txBox="1"/>
          <p:nvPr/>
        </p:nvSpPr>
        <p:spPr>
          <a:xfrm>
            <a:off x="533400" y="609600"/>
            <a:ext cx="10985500" cy="43088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2800" b="1">
                <a:solidFill>
                  <a:srgbClr val="102A43"/>
                </a:solidFill>
                <a:latin typeface="Aptos" panose="020B0004020202020204" pitchFamily="34" charset="0"/>
              </a:rPr>
              <a:t>Two poses exist: displayed pose and remembered rest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5402DF-096E-C247-E475-5623C996C9A2}"/>
              </a:ext>
            </a:extLst>
          </p:cNvPr>
          <p:cNvSpPr/>
          <p:nvPr/>
        </p:nvSpPr>
        <p:spPr>
          <a:xfrm>
            <a:off x="533400" y="1282700"/>
            <a:ext cx="11125200" cy="38100"/>
          </a:xfrm>
          <a:prstGeom prst="rect">
            <a:avLst/>
          </a:prstGeom>
          <a:solidFill>
            <a:srgbClr val="2CB1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34FD10B-245F-09CB-F8E6-12ABEC9738A1}"/>
              </a:ext>
            </a:extLst>
          </p:cNvPr>
          <p:cNvSpPr/>
          <p:nvPr/>
        </p:nvSpPr>
        <p:spPr>
          <a:xfrm>
            <a:off x="889000" y="2286000"/>
            <a:ext cx="2667000" cy="1041400"/>
          </a:xfrm>
          <a:prstGeom prst="roundRect">
            <a:avLst/>
          </a:prstGeom>
          <a:solidFill>
            <a:srgbClr val="2CB1BC"/>
          </a:solidFill>
          <a:ln w="15875">
            <a:solidFill>
              <a:srgbClr val="2CB1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b="1">
                <a:solidFill>
                  <a:srgbClr val="FFFFFF"/>
                </a:solidFill>
                <a:latin typeface="Aptos" panose="020B0004020202020204" pitchFamily="34" charset="0"/>
              </a:rPr>
              <a:t>Measurement-only\n7-pose medoid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4FAAFB2-F9B4-4A95-2C0D-883BA49F3895}"/>
              </a:ext>
            </a:extLst>
          </p:cNvPr>
          <p:cNvCxnSpPr/>
          <p:nvPr/>
        </p:nvCxnSpPr>
        <p:spPr>
          <a:xfrm>
            <a:off x="3556000" y="2806700"/>
            <a:ext cx="1587500" cy="0"/>
          </a:xfrm>
          <a:prstGeom prst="straightConnector1">
            <a:avLst/>
          </a:prstGeom>
          <a:ln w="3810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E131223-7CE3-E652-D68E-61173B1EAA41}"/>
              </a:ext>
            </a:extLst>
          </p:cNvPr>
          <p:cNvSpPr/>
          <p:nvPr/>
        </p:nvSpPr>
        <p:spPr>
          <a:xfrm>
            <a:off x="5168900" y="2286000"/>
            <a:ext cx="2159000" cy="1041400"/>
          </a:xfrm>
          <a:prstGeom prst="roundRect">
            <a:avLst/>
          </a:prstGeom>
          <a:solidFill>
            <a:srgbClr val="F59E0B"/>
          </a:solidFill>
          <a:ln w="15875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b="1">
                <a:solidFill>
                  <a:srgbClr val="FFFFFF"/>
                </a:solidFill>
                <a:latin typeface="Aptos" panose="020B0004020202020204" pitchFamily="34" charset="0"/>
              </a:rPr>
              <a:t>Stable for\n7 comparisons?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3146803-0776-736A-18DF-BC566A58982E}"/>
              </a:ext>
            </a:extLst>
          </p:cNvPr>
          <p:cNvCxnSpPr/>
          <p:nvPr/>
        </p:nvCxnSpPr>
        <p:spPr>
          <a:xfrm>
            <a:off x="7327900" y="2806700"/>
            <a:ext cx="1562100" cy="0"/>
          </a:xfrm>
          <a:prstGeom prst="straightConnector1">
            <a:avLst/>
          </a:prstGeom>
          <a:ln w="3810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2B272D4-438D-2368-199A-F1C76B702271}"/>
              </a:ext>
            </a:extLst>
          </p:cNvPr>
          <p:cNvSpPr/>
          <p:nvPr/>
        </p:nvSpPr>
        <p:spPr>
          <a:xfrm>
            <a:off x="8915400" y="2286000"/>
            <a:ext cx="2413000" cy="1041400"/>
          </a:xfrm>
          <a:prstGeom prst="roundRect">
            <a:avLst/>
          </a:prstGeom>
          <a:solidFill>
            <a:srgbClr val="7152AD"/>
          </a:solidFill>
          <a:ln w="15875">
            <a:solidFill>
              <a:srgbClr val="7152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b="1">
                <a:solidFill>
                  <a:srgbClr val="FFFFFF"/>
                </a:solidFill>
                <a:latin typeface="Aptos" panose="020B0004020202020204" pitchFamily="34" charset="0"/>
              </a:rPr>
              <a:t>Remembered rest\nheals slowly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1BCC08-8FBB-43C1-3FD3-36714B1ACE43}"/>
              </a:ext>
            </a:extLst>
          </p:cNvPr>
          <p:cNvSpPr txBox="1"/>
          <p:nvPr/>
        </p:nvSpPr>
        <p:spPr>
          <a:xfrm>
            <a:off x="3644900" y="3835400"/>
            <a:ext cx="4953000" cy="323165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GB" sz="2100" b="1">
                <a:solidFill>
                  <a:srgbClr val="102A43"/>
                </a:solidFill>
                <a:latin typeface="Aptos" panose="020B0004020202020204" pitchFamily="34" charset="0"/>
              </a:rPr>
              <a:t>Healing time constant = 600 seconds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46E91F-6B30-C9E3-488F-BB256498E4AF}"/>
              </a:ext>
            </a:extLst>
          </p:cNvPr>
          <p:cNvSpPr txBox="1"/>
          <p:nvPr/>
        </p:nvSpPr>
        <p:spPr>
          <a:xfrm>
            <a:off x="1524000" y="4508500"/>
            <a:ext cx="9144000" cy="492443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GB" sz="1600">
                <a:solidFill>
                  <a:srgbClr val="16324F"/>
                </a:solidFill>
                <a:latin typeface="Aptos" panose="020B0004020202020204" pitchFamily="34" charset="0"/>
              </a:rPr>
              <a:t>Healing never learns directly from a single raw pose and never learns from the displayed pose, because that output already contains smoothing and prior feedback.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5C45A26-B515-2C12-9667-76E9847000AD}"/>
              </a:ext>
            </a:extLst>
          </p:cNvPr>
          <p:cNvSpPr/>
          <p:nvPr/>
        </p:nvSpPr>
        <p:spPr>
          <a:xfrm>
            <a:off x="2159000" y="5588000"/>
            <a:ext cx="7874000" cy="558800"/>
          </a:xfrm>
          <a:prstGeom prst="roundRect">
            <a:avLst/>
          </a:prstGeom>
          <a:solidFill>
            <a:srgbClr val="FFF2E1"/>
          </a:solidFill>
          <a:ln w="15875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400" b="1">
                <a:solidFill>
                  <a:srgbClr val="202C37"/>
                </a:solidFill>
                <a:latin typeface="Aptos" panose="020B0004020202020204" pitchFamily="34" charset="0"/>
              </a:rPr>
              <a:t>Important: 600 s is long-term anchor adaptation—not the time the visible avatar takes to move.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E25DC2-0B3F-39B3-84A8-56951A3BA8CC}"/>
              </a:ext>
            </a:extLst>
          </p:cNvPr>
          <p:cNvSpPr txBox="1"/>
          <p:nvPr/>
        </p:nvSpPr>
        <p:spPr>
          <a:xfrm>
            <a:off x="533400" y="6489700"/>
            <a:ext cx="9779000" cy="123111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800">
                <a:solidFill>
                  <a:srgbClr val="5C7084"/>
                </a:solidFill>
                <a:latin typeface="Aptos" panose="020B0004020202020204" pitchFamily="34" charset="0"/>
              </a:rPr>
              <a:t>navel_provider.gd::update_rest_from_measurement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A564BC-8BA3-3321-619C-FE53CD51E7D9}"/>
              </a:ext>
            </a:extLst>
          </p:cNvPr>
          <p:cNvSpPr txBox="1"/>
          <p:nvPr/>
        </p:nvSpPr>
        <p:spPr>
          <a:xfrm>
            <a:off x="11074400" y="6438900"/>
            <a:ext cx="584200" cy="1384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r"/>
            <a:r>
              <a:rPr lang="en-GB" sz="900" b="1">
                <a:solidFill>
                  <a:srgbClr val="5C7084"/>
                </a:solidFill>
                <a:latin typeface="Aptos" panose="020B0004020202020204" pitchFamily="34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527265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1F2E9C-CF70-A551-7356-043A1FCB623B}"/>
              </a:ext>
            </a:extLst>
          </p:cNvPr>
          <p:cNvSpPr txBox="1"/>
          <p:nvPr/>
        </p:nvSpPr>
        <p:spPr>
          <a:xfrm>
            <a:off x="533400" y="279400"/>
            <a:ext cx="7620000" cy="15388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1000" b="1">
                <a:solidFill>
                  <a:srgbClr val="1976D2"/>
                </a:solidFill>
                <a:latin typeface="Aptos" panose="020B0004020202020204" pitchFamily="34" charset="0"/>
              </a:rPr>
              <a:t>CURRENT QUEST RUNTIME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6565A9-1223-15FD-1013-4A1355779FD2}"/>
              </a:ext>
            </a:extLst>
          </p:cNvPr>
          <p:cNvSpPr txBox="1"/>
          <p:nvPr/>
        </p:nvSpPr>
        <p:spPr>
          <a:xfrm>
            <a:off x="533400" y="609600"/>
            <a:ext cx="10985500" cy="43088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2800" b="1" dirty="0">
                <a:solidFill>
                  <a:srgbClr val="102A43"/>
                </a:solidFill>
                <a:latin typeface="Aptos" panose="020B0004020202020204" pitchFamily="34" charset="0"/>
              </a:rPr>
              <a:t>Tracking loss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70E7D8-100B-0773-4C45-69986E9211BC}"/>
              </a:ext>
            </a:extLst>
          </p:cNvPr>
          <p:cNvSpPr/>
          <p:nvPr/>
        </p:nvSpPr>
        <p:spPr>
          <a:xfrm>
            <a:off x="533400" y="1282700"/>
            <a:ext cx="11125200" cy="38100"/>
          </a:xfrm>
          <a:prstGeom prst="rect">
            <a:avLst/>
          </a:prstGeom>
          <a:solidFill>
            <a:srgbClr val="2CB1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EC6BE3-078E-63EB-4175-00D9FC1273AD}"/>
              </a:ext>
            </a:extLst>
          </p:cNvPr>
          <p:cNvSpPr txBox="1"/>
          <p:nvPr/>
        </p:nvSpPr>
        <p:spPr>
          <a:xfrm>
            <a:off x="736600" y="1778000"/>
            <a:ext cx="4572000" cy="323165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2100" b="1">
                <a:solidFill>
                  <a:srgbClr val="102A43"/>
                </a:solidFill>
                <a:latin typeface="Aptos" panose="020B0004020202020204" pitchFamily="34" charset="0"/>
              </a:rPr>
              <a:t>Temporary marker loss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339D938-D0AB-B9E5-04CD-DAB69A4EA4EF}"/>
              </a:ext>
            </a:extLst>
          </p:cNvPr>
          <p:cNvSpPr/>
          <p:nvPr/>
        </p:nvSpPr>
        <p:spPr>
          <a:xfrm>
            <a:off x="787400" y="2438400"/>
            <a:ext cx="2286000" cy="939800"/>
          </a:xfrm>
          <a:prstGeom prst="roundRect">
            <a:avLst/>
          </a:prstGeom>
          <a:solidFill>
            <a:srgbClr val="E45756"/>
          </a:solidFill>
          <a:ln w="15875">
            <a:solidFill>
              <a:srgbClr val="E457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600" b="1" dirty="0" err="1">
                <a:solidFill>
                  <a:srgbClr val="FFFFFF"/>
                </a:solidFill>
                <a:latin typeface="Aptos" panose="020B0004020202020204" pitchFamily="34" charset="0"/>
              </a:rPr>
              <a:t>NoT</a:t>
            </a:r>
            <a:r>
              <a:rPr lang="en-GB" sz="1600" b="1" dirty="0">
                <a:solidFill>
                  <a:srgbClr val="FFFFFF"/>
                </a:solidFill>
                <a:latin typeface="Aptos" panose="020B0004020202020204" pitchFamily="34" charset="0"/>
              </a:rPr>
              <a:t> DETECTED for 300 </a:t>
            </a:r>
            <a:r>
              <a:rPr lang="en-GB" sz="1600" b="1" dirty="0" err="1">
                <a:solidFill>
                  <a:srgbClr val="FFFFFF"/>
                </a:solidFill>
                <a:latin typeface="Aptos" panose="020B0004020202020204" pitchFamily="34" charset="0"/>
              </a:rPr>
              <a:t>ms</a:t>
            </a:r>
            <a:endParaRPr lang="en-GB" sz="16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A70108B-546D-1A0D-8777-68ECA8C62B03}"/>
              </a:ext>
            </a:extLst>
          </p:cNvPr>
          <p:cNvCxnSpPr/>
          <p:nvPr/>
        </p:nvCxnSpPr>
        <p:spPr>
          <a:xfrm>
            <a:off x="3073400" y="2908300"/>
            <a:ext cx="762000" cy="0"/>
          </a:xfrm>
          <a:prstGeom prst="straightConnector1">
            <a:avLst/>
          </a:prstGeom>
          <a:ln w="3175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74D5963-47DA-8AF4-E698-D750AF183DE3}"/>
              </a:ext>
            </a:extLst>
          </p:cNvPr>
          <p:cNvSpPr/>
          <p:nvPr/>
        </p:nvSpPr>
        <p:spPr>
          <a:xfrm>
            <a:off x="3860800" y="2438400"/>
            <a:ext cx="2286000" cy="939800"/>
          </a:xfrm>
          <a:prstGeom prst="roundRect">
            <a:avLst/>
          </a:prstGeom>
          <a:solidFill>
            <a:srgbClr val="7152AD"/>
          </a:solidFill>
          <a:ln w="15875">
            <a:solidFill>
              <a:srgbClr val="7152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600" b="1">
                <a:solidFill>
                  <a:srgbClr val="FFFFFF"/>
                </a:solidFill>
                <a:latin typeface="Aptos" panose="020B0004020202020204" pitchFamily="34" charset="0"/>
              </a:rPr>
              <a:t>Hide avatar\nkeep last internal pose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5D8FB6A-9B99-CA86-A52D-430E7A97325A}"/>
              </a:ext>
            </a:extLst>
          </p:cNvPr>
          <p:cNvCxnSpPr/>
          <p:nvPr/>
        </p:nvCxnSpPr>
        <p:spPr>
          <a:xfrm>
            <a:off x="5003800" y="3378200"/>
            <a:ext cx="0" cy="762000"/>
          </a:xfrm>
          <a:prstGeom prst="straightConnector1">
            <a:avLst/>
          </a:prstGeom>
          <a:ln w="3175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1993B67-B438-00B8-21D7-09249FF0CFF2}"/>
              </a:ext>
            </a:extLst>
          </p:cNvPr>
          <p:cNvSpPr/>
          <p:nvPr/>
        </p:nvSpPr>
        <p:spPr>
          <a:xfrm>
            <a:off x="3860800" y="4191000"/>
            <a:ext cx="2286000" cy="939800"/>
          </a:xfrm>
          <a:prstGeom prst="roundRect">
            <a:avLst/>
          </a:prstGeom>
          <a:solidFill>
            <a:srgbClr val="27AE60"/>
          </a:solidFill>
          <a:ln w="15875"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500" b="1" dirty="0">
                <a:solidFill>
                  <a:srgbClr val="FFFFFF"/>
                </a:solidFill>
                <a:latin typeface="Aptos" panose="020B0004020202020204" pitchFamily="34" charset="0"/>
              </a:rPr>
              <a:t>Collect 7 fresh detections\n≈1.6 s at 4.4 Hz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C16C634-15BB-61DA-B4A6-A355B34CD757}"/>
              </a:ext>
            </a:extLst>
          </p:cNvPr>
          <p:cNvSpPr txBox="1"/>
          <p:nvPr/>
        </p:nvSpPr>
        <p:spPr>
          <a:xfrm>
            <a:off x="533400" y="6489700"/>
            <a:ext cx="9779000" cy="123111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800">
                <a:solidFill>
                  <a:srgbClr val="5C7084"/>
                </a:solidFill>
                <a:latin typeface="Aptos" panose="020B0004020202020204" pitchFamily="34" charset="0"/>
              </a:rPr>
              <a:t>marker_freshness.gd • avatar_rig_navel.gd::_notification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27A8813-D3E6-32F2-7649-979A05994B56}"/>
              </a:ext>
            </a:extLst>
          </p:cNvPr>
          <p:cNvSpPr txBox="1"/>
          <p:nvPr/>
        </p:nvSpPr>
        <p:spPr>
          <a:xfrm>
            <a:off x="11074400" y="6438900"/>
            <a:ext cx="584200" cy="1384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r"/>
            <a:r>
              <a:rPr lang="en-GB" sz="900" b="1">
                <a:solidFill>
                  <a:srgbClr val="5C7084"/>
                </a:solidFill>
                <a:latin typeface="Aptos" panose="020B0004020202020204" pitchFamily="34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6371779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B3B517-D568-1BA7-5AF6-AAD70C82900B}"/>
              </a:ext>
            </a:extLst>
          </p:cNvPr>
          <p:cNvSpPr txBox="1"/>
          <p:nvPr/>
        </p:nvSpPr>
        <p:spPr>
          <a:xfrm>
            <a:off x="533400" y="279400"/>
            <a:ext cx="7620000" cy="15388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1000" b="1">
                <a:solidFill>
                  <a:srgbClr val="1976D2"/>
                </a:solidFill>
                <a:latin typeface="Aptos" panose="020B0004020202020204" pitchFamily="34" charset="0"/>
              </a:rPr>
              <a:t>CURRENT QUEST RUNTIME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07F931-1DF9-D659-5D4B-8C047BD3C282}"/>
              </a:ext>
            </a:extLst>
          </p:cNvPr>
          <p:cNvSpPr txBox="1"/>
          <p:nvPr/>
        </p:nvSpPr>
        <p:spPr>
          <a:xfrm>
            <a:off x="533400" y="609600"/>
            <a:ext cx="10985500" cy="43088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2800" b="1">
                <a:solidFill>
                  <a:srgbClr val="102A43"/>
                </a:solidFill>
                <a:latin typeface="Aptos" panose="020B0004020202020204" pitchFamily="34" charset="0"/>
              </a:rPr>
              <a:t>Final render transform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84785C-7BD2-3E06-4551-B9BBB2C76BF7}"/>
              </a:ext>
            </a:extLst>
          </p:cNvPr>
          <p:cNvSpPr/>
          <p:nvPr/>
        </p:nvSpPr>
        <p:spPr>
          <a:xfrm>
            <a:off x="533400" y="1282700"/>
            <a:ext cx="11125200" cy="38100"/>
          </a:xfrm>
          <a:prstGeom prst="rect">
            <a:avLst/>
          </a:prstGeom>
          <a:solidFill>
            <a:srgbClr val="2CB1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66E6D39-A4C9-1971-0ED7-C70BC747DA26}"/>
              </a:ext>
            </a:extLst>
          </p:cNvPr>
          <p:cNvSpPr/>
          <p:nvPr/>
        </p:nvSpPr>
        <p:spPr>
          <a:xfrm>
            <a:off x="914400" y="2476500"/>
            <a:ext cx="2413000" cy="1092200"/>
          </a:xfrm>
          <a:prstGeom prst="roundRect">
            <a:avLst/>
          </a:prstGeom>
          <a:solidFill>
            <a:srgbClr val="27AE60"/>
          </a:solidFill>
          <a:ln w="15875"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900" b="1" dirty="0">
                <a:solidFill>
                  <a:srgbClr val="FFFFFF"/>
                </a:solidFill>
                <a:latin typeface="Aptos" panose="020B0004020202020204" pitchFamily="34" charset="0"/>
              </a:rPr>
              <a:t>FILTERED\</a:t>
            </a:r>
          </a:p>
          <a:p>
            <a:pPr algn="ctr"/>
            <a:r>
              <a:rPr lang="en-GB" sz="1900" b="1" dirty="0" err="1">
                <a:solidFill>
                  <a:srgbClr val="FFFFFF"/>
                </a:solidFill>
                <a:latin typeface="Aptos" panose="020B0004020202020204" pitchFamily="34" charset="0"/>
              </a:rPr>
              <a:t>nCOMMON</a:t>
            </a:r>
            <a:r>
              <a:rPr lang="en-GB" sz="1900" b="1" dirty="0">
                <a:solidFill>
                  <a:srgbClr val="FFFFFF"/>
                </a:solidFill>
                <a:latin typeface="Aptos" panose="020B0004020202020204" pitchFamily="34" charset="0"/>
              </a:rPr>
              <a:t> POSE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5F96D9-0794-FCE5-9419-07FEE0D2B926}"/>
              </a:ext>
            </a:extLst>
          </p:cNvPr>
          <p:cNvSpPr txBox="1"/>
          <p:nvPr/>
        </p:nvSpPr>
        <p:spPr>
          <a:xfrm>
            <a:off x="3835400" y="2705100"/>
            <a:ext cx="508000" cy="492443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GB" sz="3200" b="1">
                <a:solidFill>
                  <a:srgbClr val="102A43"/>
                </a:solidFill>
                <a:latin typeface="Aptos" panose="020B0004020202020204" pitchFamily="34" charset="0"/>
              </a:rPr>
              <a:t>×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861F591-0140-813E-FCE7-C8D46198DA7A}"/>
              </a:ext>
            </a:extLst>
          </p:cNvPr>
          <p:cNvSpPr/>
          <p:nvPr/>
        </p:nvSpPr>
        <p:spPr>
          <a:xfrm>
            <a:off x="4826000" y="2476500"/>
            <a:ext cx="2413000" cy="1092200"/>
          </a:xfrm>
          <a:prstGeom prst="roundRect">
            <a:avLst/>
          </a:prstGeom>
          <a:solidFill>
            <a:srgbClr val="7152AD"/>
          </a:solidFill>
          <a:ln w="15875">
            <a:solidFill>
              <a:srgbClr val="7152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900" b="1" dirty="0">
                <a:solidFill>
                  <a:srgbClr val="FFFFFF"/>
                </a:solidFill>
                <a:latin typeface="Aptos" panose="020B0004020202020204" pitchFamily="34" charset="0"/>
              </a:rPr>
              <a:t>FIXED MODEL</a:t>
            </a:r>
          </a:p>
          <a:p>
            <a:pPr algn="ctr"/>
            <a:r>
              <a:rPr lang="en-GB" sz="1900" b="1" dirty="0">
                <a:solidFill>
                  <a:srgbClr val="FFFFFF"/>
                </a:solidFill>
                <a:latin typeface="Aptos" panose="020B0004020202020204" pitchFamily="34" charset="0"/>
              </a:rPr>
              <a:t>\</a:t>
            </a:r>
            <a:r>
              <a:rPr lang="en-GB" sz="1900" b="1" dirty="0" err="1">
                <a:solidFill>
                  <a:srgbClr val="FFFFFF"/>
                </a:solidFill>
                <a:latin typeface="Aptos" panose="020B0004020202020204" pitchFamily="34" charset="0"/>
              </a:rPr>
              <a:t>nALIGNMENT</a:t>
            </a:r>
            <a:endParaRPr lang="en-GB" sz="19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20AFE4-5296-D483-DF3A-B05817F07C14}"/>
              </a:ext>
            </a:extLst>
          </p:cNvPr>
          <p:cNvSpPr txBox="1"/>
          <p:nvPr/>
        </p:nvSpPr>
        <p:spPr>
          <a:xfrm>
            <a:off x="7747000" y="2705100"/>
            <a:ext cx="508000" cy="492443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GB" sz="3200" b="1">
                <a:solidFill>
                  <a:srgbClr val="102A43"/>
                </a:solidFill>
                <a:latin typeface="Aptos" panose="020B0004020202020204" pitchFamily="34" charset="0"/>
              </a:rPr>
              <a:t>=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DA6C9CD-77B4-5ACC-11B1-74318A3BFE68}"/>
              </a:ext>
            </a:extLst>
          </p:cNvPr>
          <p:cNvSpPr/>
          <p:nvPr/>
        </p:nvSpPr>
        <p:spPr>
          <a:xfrm>
            <a:off x="8763000" y="2476500"/>
            <a:ext cx="2413000" cy="1092200"/>
          </a:xfrm>
          <a:prstGeom prst="roundRect">
            <a:avLst/>
          </a:prstGeom>
          <a:solidFill>
            <a:srgbClr val="1976D2"/>
          </a:solidFill>
          <a:ln w="15875">
            <a:solidFill>
              <a:srgbClr val="1976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900" b="1">
                <a:solidFill>
                  <a:srgbClr val="FFFFFF"/>
                </a:solidFill>
                <a:latin typeface="Aptos" panose="020B0004020202020204" pitchFamily="34" charset="0"/>
              </a:rPr>
              <a:t>VISIBLE\nAVATAR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82732FD-C21D-CFE8-80CD-246E1A535524}"/>
              </a:ext>
            </a:extLst>
          </p:cNvPr>
          <p:cNvSpPr/>
          <p:nvPr/>
        </p:nvSpPr>
        <p:spPr>
          <a:xfrm>
            <a:off x="4318000" y="4241800"/>
            <a:ext cx="3556000" cy="127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600" dirty="0">
                <a:solidFill>
                  <a:srgbClr val="FF0000"/>
                </a:solidFill>
                <a:latin typeface="Aptos" panose="020B0004020202020204" pitchFamily="34" charset="0"/>
              </a:rPr>
              <a:t>Scale 0.77</a:t>
            </a:r>
          </a:p>
          <a:p>
            <a:pPr algn="ctr"/>
            <a:r>
              <a:rPr lang="en-GB" sz="1600" dirty="0">
                <a:solidFill>
                  <a:srgbClr val="16324F"/>
                </a:solidFill>
                <a:latin typeface="Aptos" panose="020B0004020202020204" pitchFamily="34" charset="0"/>
              </a:rPr>
              <a:t>\</a:t>
            </a:r>
            <a:r>
              <a:rPr lang="en-GB" sz="1600" dirty="0" err="1">
                <a:solidFill>
                  <a:srgbClr val="16324F"/>
                </a:solidFill>
                <a:latin typeface="Aptos" panose="020B0004020202020204" pitchFamily="34" charset="0"/>
              </a:rPr>
              <a:t>nRotation</a:t>
            </a:r>
            <a:r>
              <a:rPr lang="en-GB" sz="1600" dirty="0">
                <a:solidFill>
                  <a:srgbClr val="16324F"/>
                </a:solidFill>
                <a:latin typeface="Aptos" panose="020B0004020202020204" pitchFamily="34" charset="0"/>
              </a:rPr>
              <a:t> −90° X (lay flat)</a:t>
            </a:r>
          </a:p>
          <a:p>
            <a:pPr algn="ctr"/>
            <a:r>
              <a:rPr lang="en-GB" sz="1600" dirty="0">
                <a:solidFill>
                  <a:srgbClr val="16324F"/>
                </a:solidFill>
                <a:latin typeface="Aptos" panose="020B0004020202020204" pitchFamily="34" charset="0"/>
              </a:rPr>
              <a:t>\</a:t>
            </a:r>
            <a:r>
              <a:rPr lang="en-GB" sz="1600" dirty="0" err="1">
                <a:solidFill>
                  <a:srgbClr val="16324F"/>
                </a:solidFill>
                <a:latin typeface="Aptos" panose="020B0004020202020204" pitchFamily="34" charset="0"/>
              </a:rPr>
              <a:t>nPosition</a:t>
            </a:r>
            <a:r>
              <a:rPr lang="en-GB" sz="1600" dirty="0">
                <a:solidFill>
                  <a:srgbClr val="16324F"/>
                </a:solidFill>
                <a:latin typeface="Aptos" panose="020B0004020202020204" pitchFamily="34" charset="0"/>
              </a:rPr>
              <a:t> (0.07256, −0.127499, 0.177248) 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B0ACA0-2784-AD9E-4923-1A20A380D169}"/>
              </a:ext>
            </a:extLst>
          </p:cNvPr>
          <p:cNvSpPr txBox="1"/>
          <p:nvPr/>
        </p:nvSpPr>
        <p:spPr>
          <a:xfrm>
            <a:off x="533400" y="6489700"/>
            <a:ext cx="9779000" cy="123111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800">
                <a:solidFill>
                  <a:srgbClr val="5C7084"/>
                </a:solidFill>
                <a:latin typeface="Aptos" panose="020B0004020202020204" pitchFamily="34" charset="0"/>
              </a:rPr>
              <a:t>main_3d.tscn: mannequin child transform • AvatarRig.global_transform = filtered pose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CD16D9-1D6E-4BA6-CFEE-B92957F0B64D}"/>
              </a:ext>
            </a:extLst>
          </p:cNvPr>
          <p:cNvSpPr txBox="1"/>
          <p:nvPr/>
        </p:nvSpPr>
        <p:spPr>
          <a:xfrm>
            <a:off x="11074400" y="6438900"/>
            <a:ext cx="584200" cy="1384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r"/>
            <a:r>
              <a:rPr lang="en-GB" sz="900" b="1">
                <a:solidFill>
                  <a:srgbClr val="5C7084"/>
                </a:solidFill>
                <a:latin typeface="Aptos" panose="020B0004020202020204" pitchFamily="34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6589035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D3D6D9-CF0E-D9C4-0471-7F639C2BCA98}"/>
              </a:ext>
            </a:extLst>
          </p:cNvPr>
          <p:cNvSpPr txBox="1"/>
          <p:nvPr/>
        </p:nvSpPr>
        <p:spPr>
          <a:xfrm>
            <a:off x="460268" y="570733"/>
            <a:ext cx="1092370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Documents provided </a:t>
            </a:r>
            <a:r>
              <a:rPr lang="en-GB" dirty="0" err="1"/>
              <a:t>bz</a:t>
            </a:r>
            <a:r>
              <a:rPr lang="en-GB" dirty="0"/>
              <a:t> 	Bibiana and Marks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Relocation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Markers /</a:t>
            </a:r>
            <a:r>
              <a:rPr lang="en-GB" dirty="0" err="1"/>
              <a:t>si</a:t>
            </a:r>
            <a:r>
              <a:rPr lang="de-DE" dirty="0"/>
              <a:t>z</a:t>
            </a:r>
            <a:r>
              <a:rPr lang="en-GB" dirty="0"/>
              <a:t>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021277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635</Words>
  <Application>Microsoft Office PowerPoint</Application>
  <PresentationFormat>Widescreen</PresentationFormat>
  <Paragraphs>124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Arial Unicode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Ardra Bauldwin</dc:creator>
  <cp:lastModifiedBy>Ardra Bauldwin</cp:lastModifiedBy>
  <cp:revision>2</cp:revision>
  <dcterms:created xsi:type="dcterms:W3CDTF">2026-08-30T18:48:43Z</dcterms:created>
  <dcterms:modified xsi:type="dcterms:W3CDTF">2026-09-02T12:31:46Z</dcterms:modified>
</cp:coreProperties>
</file>