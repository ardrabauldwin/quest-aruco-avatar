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3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2" d="100"/>
          <a:sy n="52" d="100"/>
        </p:scale>
        <p:origin x="658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21051-EB82-BC66-9376-BD68CF49B3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6E2B62-2154-1563-1299-ADE69D850B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62962-D102-ED2C-02E4-52AB84C070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5EEF32-80EE-F1EF-8EC6-6712A0D64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679242-BB2B-75D2-A1A4-2894893D7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53157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43AC2-15BC-ED83-BD93-1177EA966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423AE-731F-3B77-380E-1D43ABE919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852AF1-40D6-6E36-C5C6-A9282EBE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E3A7D3-0D49-AE78-4D13-EB221F508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637729-DC8A-6343-05D3-755D0E8F3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9358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0AB5E-615C-BC51-D7D6-0F49CF7A3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BED517-E40C-63C9-058C-37337EACFC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B3750C-F85F-ADC9-8924-D27C8FC556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A1836C-2A2B-3ED9-F466-464EA840D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C89DF2-365B-CD31-41E1-1D196B227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0005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A42EC-7097-9876-E4E7-B6C0F618C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932D2-1442-7A8B-2C5D-BF29D69B4E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53AC35-579C-2CA6-09FF-91C0790DB8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4D2237-C14A-1E6D-20E7-DE57BF542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C7E138-1F79-6840-DF7E-4544D56D4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126621-46A1-3BDD-5313-EBE4F1A63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40855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4F8B9-9756-D8B3-EB17-A5C814D51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022F6C-F4CC-10E9-1CC4-D696A9616E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746620-68E5-DD95-9E06-DF5CD031D8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54ACB0-04B5-7246-C95D-054D76288D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7F4C50-22D7-EAFD-87FB-AA63F4CBDC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FD2B40-9007-3660-047E-9E64EC00B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326D71-F83E-3DC0-5096-91A15FDA99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3BD1216-C5E6-8788-62C6-FC616C29E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12960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1D302-8FC4-6207-84F4-C91F5E610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39CE10-BEB3-ECB6-E0B3-0440BD998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DD44D0-6B1F-0EEC-3A19-890F523CC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AFDF1D-753D-4109-5808-DFF9968DC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959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947028-BABB-E6BB-F6CA-0AA89F6D1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FA16DF-5040-E26D-6C78-A54D5DE76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736418-E9A1-FAAF-D46C-B210BAAB4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55693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BED38-64FC-8599-88FA-C047442D3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6EC04-96E8-7C64-3B39-39996A9BA8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8A16CA-83FE-A8BA-82E8-5C11749CDE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729934-CC76-86A6-A0DC-39AF19DC2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5A7E4F-D47E-F04D-73D9-67920EEAC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D25228-CE50-CA44-2628-AFE3B5DCB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37073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2827C-BA03-3863-FC7B-811E239C5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49052BA-748D-9CBB-2B40-24768B639C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E961A1-CD42-BE7E-F368-3AD20AD1F9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50D9EB-CE2C-7149-63F8-86EB08175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686F9B-08CB-3161-0903-4C1AB4883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70D986-2D45-9E95-C1EB-672AF06818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6906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9CBB6-E6CF-FB6F-7D6E-988EF0AB8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BAC603-4761-DBAA-5A28-4E34AF66A1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0F0B6D-2F54-E3BD-13C8-77CB67C51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B2F9B-9278-BA21-D11D-CC2971A620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C028C6-3816-0FD7-4E1D-88E0111E1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8187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A1E700-2FB0-5E9E-D952-53E007FA1D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F7EA7E-3997-963A-79B3-FEB01BB2FE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C688D1-0266-872C-4604-E1EB30FE7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627236-4C34-48E2-B38E-25D0C5A8811C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3390E2-BF9B-F78C-E6A9-1FB6F0812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FCFCD0-EE39-E39D-FA16-4F2CF1F9C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27304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13A89E-636A-DADC-2C20-198D1346E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EC35D2-6CCC-9693-8242-F9586B08AB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177154-5794-477F-5858-0DA2E296C6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627236-4C34-48E2-B38E-25D0C5A8811C}" type="datetimeFigureOut">
              <a:rPr lang="en-GB" smtClean="0"/>
              <a:t>02/09/2026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E71CD1-A52A-0CA0-5BCB-D18514A59D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E41483-F432-CC22-E4D3-276E920075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0FDF1A-9DF8-4B23-BD07-A0E3E0DD0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66136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3BCC90-E220-B25D-9107-7233CBE92B35}"/>
              </a:ext>
            </a:extLst>
          </p:cNvPr>
          <p:cNvSpPr txBox="1"/>
          <p:nvPr/>
        </p:nvSpPr>
        <p:spPr>
          <a:xfrm>
            <a:off x="685800" y="762000"/>
            <a:ext cx="10795000" cy="24622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600" b="1">
                <a:solidFill>
                  <a:srgbClr val="2CB1BC"/>
                </a:solidFill>
                <a:latin typeface="Aptos" panose="020B0004020202020204" pitchFamily="34" charset="0"/>
              </a:rPr>
              <a:t>QUEST ARUCO AVATAR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E08930-26C7-F46E-194C-3B67E2EDCBF0}"/>
              </a:ext>
            </a:extLst>
          </p:cNvPr>
          <p:cNvSpPr txBox="1"/>
          <p:nvPr/>
        </p:nvSpPr>
        <p:spPr>
          <a:xfrm>
            <a:off x="685800" y="1422400"/>
            <a:ext cx="9652000" cy="55399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3600" b="1">
                <a:solidFill>
                  <a:srgbClr val="FFFFFF"/>
                </a:solidFill>
                <a:latin typeface="Aptos" panose="020B0004020202020204" pitchFamily="34" charset="0"/>
              </a:rPr>
              <a:t>How the avatar is placed</a:t>
            </a:r>
            <a:br>
              <a:rPr lang="en-GB" sz="36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3600" b="1">
                <a:solidFill>
                  <a:srgbClr val="FFFFFF"/>
                </a:solidFill>
                <a:latin typeface="Aptos" panose="020B0004020202020204" pitchFamily="34" charset="0"/>
              </a:rPr>
              <a:t>on the mannequin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6D266A-88EA-A907-38AE-D5DC928C33DD}"/>
              </a:ext>
            </a:extLst>
          </p:cNvPr>
          <p:cNvSpPr txBox="1"/>
          <p:nvPr/>
        </p:nvSpPr>
        <p:spPr>
          <a:xfrm>
            <a:off x="711200" y="2908300"/>
            <a:ext cx="9906000" cy="2769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>
                <a:solidFill>
                  <a:srgbClr val="CCDEEE"/>
                </a:solidFill>
                <a:latin typeface="Aptos" panose="020B0004020202020204" pitchFamily="34" charset="0"/>
              </a:rPr>
              <a:t>Floor-locked, grid-selected runtime • installed 5 September 2026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A80CD90-06C4-EC46-8D99-FF5DE6ED1FC5}"/>
              </a:ext>
            </a:extLst>
          </p:cNvPr>
          <p:cNvSpPr/>
          <p:nvPr/>
        </p:nvSpPr>
        <p:spPr>
          <a:xfrm>
            <a:off x="736600" y="4191000"/>
            <a:ext cx="1828800" cy="7874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CAMERA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0AE8F42-205C-68B5-96A2-FE919CE5C748}"/>
              </a:ext>
            </a:extLst>
          </p:cNvPr>
          <p:cNvCxnSpPr/>
          <p:nvPr/>
        </p:nvCxnSpPr>
        <p:spPr>
          <a:xfrm>
            <a:off x="2565400" y="4584700"/>
            <a:ext cx="330200" cy="0"/>
          </a:xfrm>
          <a:prstGeom prst="straightConnector1">
            <a:avLst/>
          </a:prstGeom>
          <a:ln w="25400">
            <a:solidFill>
              <a:srgbClr val="FFFF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EB3D4B-6DDB-71AA-DB53-E9DF252E4082}"/>
              </a:ext>
            </a:extLst>
          </p:cNvPr>
          <p:cNvSpPr/>
          <p:nvPr/>
        </p:nvSpPr>
        <p:spPr>
          <a:xfrm>
            <a:off x="2946400" y="4191000"/>
            <a:ext cx="1828800" cy="787400"/>
          </a:xfrm>
          <a:prstGeom prst="roundRect">
            <a:avLst/>
          </a:prstGeom>
          <a:solidFill>
            <a:srgbClr val="2CB1BC"/>
          </a:solidFill>
          <a:ln w="15875"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MARKERS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964F034-6FA3-29F0-2C7D-C17E2BB62162}"/>
              </a:ext>
            </a:extLst>
          </p:cNvPr>
          <p:cNvCxnSpPr/>
          <p:nvPr/>
        </p:nvCxnSpPr>
        <p:spPr>
          <a:xfrm>
            <a:off x="4775200" y="4584700"/>
            <a:ext cx="330200" cy="0"/>
          </a:xfrm>
          <a:prstGeom prst="straightConnector1">
            <a:avLst/>
          </a:prstGeom>
          <a:ln w="25400">
            <a:solidFill>
              <a:srgbClr val="FFFF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92F8AE2-D91C-E87B-50BE-2572E505D659}"/>
              </a:ext>
            </a:extLst>
          </p:cNvPr>
          <p:cNvSpPr/>
          <p:nvPr/>
        </p:nvSpPr>
        <p:spPr>
          <a:xfrm>
            <a:off x="5156200" y="4191000"/>
            <a:ext cx="1828800" cy="7874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COMMON POSE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F0DAC4B-AAA3-48BD-0D02-67A67483D793}"/>
              </a:ext>
            </a:extLst>
          </p:cNvPr>
          <p:cNvCxnSpPr/>
          <p:nvPr/>
        </p:nvCxnSpPr>
        <p:spPr>
          <a:xfrm>
            <a:off x="6985000" y="4584700"/>
            <a:ext cx="330200" cy="0"/>
          </a:xfrm>
          <a:prstGeom prst="straightConnector1">
            <a:avLst/>
          </a:prstGeom>
          <a:ln w="25400">
            <a:solidFill>
              <a:srgbClr val="FFFF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56BC05D-6609-6464-19A1-B6EE05AF9860}"/>
              </a:ext>
            </a:extLst>
          </p:cNvPr>
          <p:cNvSpPr/>
          <p:nvPr/>
        </p:nvSpPr>
        <p:spPr>
          <a:xfrm>
            <a:off x="7366000" y="4191000"/>
            <a:ext cx="1828800" cy="787400"/>
          </a:xfrm>
          <a:prstGeom prst="roundRect">
            <a:avLst/>
          </a:prstGeom>
          <a:solidFill>
            <a:srgbClr val="F59E0B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FILTER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22E9665-851F-114F-C2FB-E55CDCDCA8F6}"/>
              </a:ext>
            </a:extLst>
          </p:cNvPr>
          <p:cNvCxnSpPr/>
          <p:nvPr/>
        </p:nvCxnSpPr>
        <p:spPr>
          <a:xfrm>
            <a:off x="9194800" y="4584700"/>
            <a:ext cx="330200" cy="0"/>
          </a:xfrm>
          <a:prstGeom prst="straightConnector1">
            <a:avLst/>
          </a:prstGeom>
          <a:ln w="25400">
            <a:solidFill>
              <a:srgbClr val="FFFF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7367833-3941-5C33-4E85-250724EFF2BA}"/>
              </a:ext>
            </a:extLst>
          </p:cNvPr>
          <p:cNvSpPr/>
          <p:nvPr/>
        </p:nvSpPr>
        <p:spPr>
          <a:xfrm>
            <a:off x="9575800" y="4191000"/>
            <a:ext cx="1828800" cy="7874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AVATAR</a:t>
            </a:r>
          </a:p>
        </p:txBody>
      </p:sp>
    </p:spTree>
    <p:extLst>
      <p:ext uri="{BB962C8B-B14F-4D97-AF65-F5344CB8AC3E}">
        <p14:creationId xmlns:p14="http://schemas.microsoft.com/office/powerpoint/2010/main" val="34934478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D66CC7-6E70-0524-73D6-79863F24A084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6FF9E7-67FD-6597-6F8F-658D33512B1F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The placement problem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6B99D0-E53C-6467-A228-B95B4572B973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16C54A-036A-D5F9-FD03-0250675C86D9}"/>
              </a:ext>
            </a:extLst>
          </p:cNvPr>
          <p:cNvSpPr txBox="1"/>
          <p:nvPr/>
        </p:nvSpPr>
        <p:spPr>
          <a:xfrm>
            <a:off x="533400" y="1574800"/>
            <a:ext cx="8890000" cy="30777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000" b="1">
                <a:solidFill>
                  <a:srgbClr val="16324F"/>
                </a:solidFill>
                <a:latin typeface="Aptos" panose="020B0004020202020204" pitchFamily="34" charset="0"/>
              </a:rPr>
              <a:t>Three physical markers must describe one virtual body anchor.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99D41E5-FD15-AE6F-4EBB-FC61E11D0131}"/>
              </a:ext>
            </a:extLst>
          </p:cNvPr>
          <p:cNvSpPr/>
          <p:nvPr/>
        </p:nvSpPr>
        <p:spPr>
          <a:xfrm>
            <a:off x="724156" y="2590800"/>
            <a:ext cx="1396744" cy="12065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500" b="1" dirty="0">
                <a:solidFill>
                  <a:srgbClr val="FF0000"/>
                </a:solidFill>
                <a:latin typeface="Aptos" panose="020B0004020202020204" pitchFamily="34" charset="0"/>
              </a:rPr>
              <a:t>ID0</a:t>
            </a:r>
            <a:br>
              <a:rPr lang="en-GB" sz="1500" b="1" dirty="0">
                <a:solidFill>
                  <a:srgbClr val="FF0000"/>
                </a:solidFill>
                <a:latin typeface="Aptos" panose="020B0004020202020204" pitchFamily="34" charset="0"/>
              </a:rPr>
            </a:br>
            <a:r>
              <a:rPr lang="en-GB" sz="1500" b="1" dirty="0">
                <a:solidFill>
                  <a:srgbClr val="FF0000"/>
                </a:solidFill>
                <a:latin typeface="Aptos" panose="020B0004020202020204" pitchFamily="34" charset="0"/>
              </a:rPr>
              <a:t>common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F308CC3-4B5D-535B-373A-797333EA1B07}"/>
              </a:ext>
            </a:extLst>
          </p:cNvPr>
          <p:cNvSpPr/>
          <p:nvPr/>
        </p:nvSpPr>
        <p:spPr>
          <a:xfrm>
            <a:off x="914400" y="4140200"/>
            <a:ext cx="1206500" cy="1206500"/>
          </a:xfrm>
          <a:prstGeom prst="ellipse">
            <a:avLst/>
          </a:prstGeom>
          <a:solidFill>
            <a:srgbClr val="2CB1BC"/>
          </a:solidFill>
          <a:ln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ID1</a:t>
            </a:r>
            <a:b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chest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33BB521-8390-82BB-FA0F-FF12D8C264B7}"/>
              </a:ext>
            </a:extLst>
          </p:cNvPr>
          <p:cNvSpPr/>
          <p:nvPr/>
        </p:nvSpPr>
        <p:spPr>
          <a:xfrm>
            <a:off x="2667000" y="4140200"/>
            <a:ext cx="1206500" cy="12065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ID2</a:t>
            </a:r>
            <a:b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torso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EE57D31-9A62-B502-663F-CFAF9678F7D9}"/>
              </a:ext>
            </a:extLst>
          </p:cNvPr>
          <p:cNvCxnSpPr/>
          <p:nvPr/>
        </p:nvCxnSpPr>
        <p:spPr>
          <a:xfrm>
            <a:off x="2159000" y="3175000"/>
            <a:ext cx="2616200" cy="35560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F2B7B25-631E-58B5-6EBF-C4EF2E333738}"/>
              </a:ext>
            </a:extLst>
          </p:cNvPr>
          <p:cNvCxnSpPr/>
          <p:nvPr/>
        </p:nvCxnSpPr>
        <p:spPr>
          <a:xfrm flipV="1">
            <a:off x="2159000" y="3886200"/>
            <a:ext cx="2616200" cy="81280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6A9464D-94B2-92BF-9478-68ED551E799C}"/>
              </a:ext>
            </a:extLst>
          </p:cNvPr>
          <p:cNvCxnSpPr/>
          <p:nvPr/>
        </p:nvCxnSpPr>
        <p:spPr>
          <a:xfrm flipV="1">
            <a:off x="3873500" y="3987800"/>
            <a:ext cx="901700" cy="71120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F6C1389-2D2B-F374-B8EE-F3371A4A2435}"/>
              </a:ext>
            </a:extLst>
          </p:cNvPr>
          <p:cNvSpPr/>
          <p:nvPr/>
        </p:nvSpPr>
        <p:spPr>
          <a:xfrm>
            <a:off x="4800600" y="3124200"/>
            <a:ext cx="2286000" cy="12065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2000" b="1">
                <a:solidFill>
                  <a:srgbClr val="FFFFFF"/>
                </a:solidFill>
                <a:latin typeface="Aptos" panose="020B0004020202020204" pitchFamily="34" charset="0"/>
              </a:rPr>
              <a:t>ONE COMMON</a:t>
            </a:r>
            <a:br>
              <a:rPr lang="en-GB" sz="20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2000" b="1">
                <a:solidFill>
                  <a:srgbClr val="FFFFFF"/>
                </a:solidFill>
                <a:latin typeface="Aptos" panose="020B0004020202020204" pitchFamily="34" charset="0"/>
              </a:rPr>
              <a:t>6-DoF POSE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4C82F5E-0228-4267-74A4-1DFC83F3653F}"/>
              </a:ext>
            </a:extLst>
          </p:cNvPr>
          <p:cNvSpPr txBox="1"/>
          <p:nvPr/>
        </p:nvSpPr>
        <p:spPr>
          <a:xfrm>
            <a:off x="7747000" y="2514600"/>
            <a:ext cx="3810000" cy="2769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fr-FR" b="1">
                <a:solidFill>
                  <a:srgbClr val="102A43"/>
                </a:solidFill>
                <a:latin typeface="Aptos" panose="020B0004020202020204" pitchFamily="34" charset="0"/>
              </a:rPr>
              <a:t>Pose = position (X,Y,Z) + orientation</a:t>
            </a:r>
            <a:endParaRPr lang="en-GB" b="1">
              <a:solidFill>
                <a:srgbClr val="102A43"/>
              </a:solidFill>
              <a:latin typeface="Aptos" panose="020B00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92A2F1-18EA-9F7E-4F4A-FED804B19F73}"/>
              </a:ext>
            </a:extLst>
          </p:cNvPr>
          <p:cNvSpPr txBox="1"/>
          <p:nvPr/>
        </p:nvSpPr>
        <p:spPr>
          <a:xfrm>
            <a:off x="7747000" y="3162300"/>
            <a:ext cx="3632200" cy="738664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The calibration stores a full marker → common transform, including both translation and rotation.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23B14D6-63FC-A113-48EE-C0F1C5C8F547}"/>
              </a:ext>
            </a:extLst>
          </p:cNvPr>
          <p:cNvSpPr/>
          <p:nvPr/>
        </p:nvSpPr>
        <p:spPr>
          <a:xfrm>
            <a:off x="7670800" y="4635500"/>
            <a:ext cx="3810000" cy="8636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16324F"/>
                </a:solidFill>
                <a:latin typeface="Aptos" panose="020B0004020202020204" pitchFamily="34" charset="0"/>
              </a:rPr>
              <a:t>marker world pose × marker-to-common offset = common estimate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62AA9D-55FF-9255-9D40-61351201DCBC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navel_provider.gd • default_navel_calibration.cfg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A46649-4D79-21CE-8C02-14F7D5143D13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1346205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37DB9C3-6D4D-24E4-2A71-9B39C0307011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37746F-839E-82D3-8A69-25675135F5BA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Reconstruct, fuse and floor-lock the common pose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ABA1E49-709B-2D38-61A3-7F52D967C5F8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AAEC06-ADE8-DC86-FB83-D15F521AFAF4}"/>
              </a:ext>
            </a:extLst>
          </p:cNvPr>
          <p:cNvSpPr txBox="1"/>
          <p:nvPr/>
        </p:nvSpPr>
        <p:spPr>
          <a:xfrm>
            <a:off x="533400" y="1549400"/>
            <a:ext cx="9652000" cy="2769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b="1">
                <a:solidFill>
                  <a:srgbClr val="16324F"/>
                </a:solidFill>
                <a:latin typeface="Aptos" panose="020B0004020202020204" pitchFamily="34" charset="0"/>
              </a:rPr>
              <a:t>Only markers from the exact newest camera result are combined; orientation is then constrained to the floor.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CF4E231-EC38-2E05-6690-A40E8D13F7A8}"/>
              </a:ext>
            </a:extLst>
          </p:cNvPr>
          <p:cNvSpPr/>
          <p:nvPr/>
        </p:nvSpPr>
        <p:spPr>
          <a:xfrm>
            <a:off x="685800" y="2235200"/>
            <a:ext cx="1905000" cy="6858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1 marker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999BEBB-335D-6DE9-F13F-604BEA8D951A}"/>
              </a:ext>
            </a:extLst>
          </p:cNvPr>
          <p:cNvSpPr/>
          <p:nvPr/>
        </p:nvSpPr>
        <p:spPr>
          <a:xfrm>
            <a:off x="2819400" y="2235200"/>
            <a:ext cx="546100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dirty="0">
                <a:solidFill>
                  <a:srgbClr val="16324F"/>
                </a:solidFill>
                <a:latin typeface="Aptos" panose="020B0004020202020204" pitchFamily="34" charset="0"/>
              </a:rPr>
              <a:t>Use its reconstructed common pose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89DD84F-910F-2CCD-D643-1BF3326C7C8F}"/>
              </a:ext>
            </a:extLst>
          </p:cNvPr>
          <p:cNvSpPr/>
          <p:nvPr/>
        </p:nvSpPr>
        <p:spPr>
          <a:xfrm>
            <a:off x="685800" y="3200400"/>
            <a:ext cx="1905000" cy="685800"/>
          </a:xfrm>
          <a:prstGeom prst="roundRect">
            <a:avLst/>
          </a:prstGeom>
          <a:solidFill>
            <a:srgbClr val="2CB1BC"/>
          </a:solidFill>
          <a:ln w="15875"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2 markers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5A9F6AE-DFFA-35F3-125D-2CA57D371422}"/>
              </a:ext>
            </a:extLst>
          </p:cNvPr>
          <p:cNvSpPr/>
          <p:nvPr/>
        </p:nvSpPr>
        <p:spPr>
          <a:xfrm>
            <a:off x="2819400" y="3200400"/>
            <a:ext cx="546100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dirty="0">
                <a:solidFill>
                  <a:srgbClr val="16324F"/>
                </a:solidFill>
                <a:latin typeface="Aptos" panose="020B0004020202020204" pitchFamily="34" charset="0"/>
              </a:rPr>
              <a:t>Mean position + sign-aligned quaternion average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68BA688-1577-15FA-A6D0-47226CBB8357}"/>
              </a:ext>
            </a:extLst>
          </p:cNvPr>
          <p:cNvSpPr/>
          <p:nvPr/>
        </p:nvSpPr>
        <p:spPr>
          <a:xfrm>
            <a:off x="685800" y="4165600"/>
            <a:ext cx="1905000" cy="6858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3 markers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54BE53E-A168-5FE8-D3B0-9209E7718DDA}"/>
              </a:ext>
            </a:extLst>
          </p:cNvPr>
          <p:cNvSpPr/>
          <p:nvPr/>
        </p:nvSpPr>
        <p:spPr>
          <a:xfrm>
            <a:off x="2819400" y="4165600"/>
            <a:ext cx="546100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dirty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</a:rPr>
              <a:t>Mean position + sign-aligned quaternion average (same as 2)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DA9E2CD-62FF-874F-C1C5-88B43D3AE627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navel_provider.gd::_fuse • navel_provider.gd::_floor_lock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F6747D-2FFF-78F6-BBB3-EB0C34CB6D45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2231136"/>
            <a:ext cx="3090672" cy="685800"/>
          </a:xfrm>
          <a:prstGeom prst="roundRect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FLOOR-LOCK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49640" y="3200400"/>
            <a:ext cx="3090672" cy="1938528"/>
          </a:xfrm>
          <a:prstGeom prst="roundRect">
            <a:avLst/>
          </a:prstGeom>
          <a:solidFill>
            <a:srgbClr val="FFFFFF"/>
          </a:solidFill>
          <a:ln>
            <a:solidFill>
              <a:srgbClr val="C8D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28016" tIns="118872" bIns="91440"/>
          <a:lstStyle/>
          <a:p>
            <a:pPr algn="l">
              <a:spcAft>
                <a:spcPts val="0"/>
              </a:spcAft>
            </a:pPr>
            <a:r>
              <a:rPr sz="1350">
                <a:solidFill>
                  <a:srgbClr val="16324F"/>
                </a:solidFill>
                <a:latin typeface="Aptos"/>
              </a:rPr>
              <a:t>Marker local Y → horizontal body direction</a:t>
            </a:r>
          </a:p>
          <a:p>
            <a:pPr algn="l">
              <a:spcAft>
                <a:spcPts val="0"/>
              </a:spcAft>
            </a:pPr>
            <a:r>
              <a:rPr sz="1350">
                <a:solidFill>
                  <a:srgbClr val="16324F"/>
                </a:solidFill>
                <a:latin typeface="Aptos"/>
              </a:rPr>
              <a:t>Quest UP → vertical reference</a:t>
            </a:r>
          </a:p>
          <a:p>
            <a:pPr algn="l">
              <a:spcAft>
                <a:spcPts val="0"/>
              </a:spcAft>
            </a:pPr>
            <a:r>
              <a:rPr sz="1350">
                <a:solidFill>
                  <a:srgbClr val="16324F"/>
                </a:solidFill>
                <a:latin typeface="Aptos"/>
              </a:rPr>
              <a:t>Cross product → sideways axis</a:t>
            </a:r>
          </a:p>
          <a:p>
            <a:pPr algn="l">
              <a:spcAft>
                <a:spcPts val="0"/>
              </a:spcAft>
            </a:pPr>
            <a:r>
              <a:rPr sz="1350">
                <a:solidFill>
                  <a:srgbClr val="16324F"/>
                </a:solidFill>
                <a:latin typeface="Apto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1350">
                <a:solidFill>
                  <a:srgbClr val="16324F"/>
                </a:solidFill>
                <a:latin typeface="Aptos"/>
              </a:rPr>
              <a:t>Marker pitch + roll discarded</a:t>
            </a:r>
          </a:p>
        </p:txBody>
      </p:sp>
    </p:spTree>
    <p:extLst>
      <p:ext uri="{BB962C8B-B14F-4D97-AF65-F5344CB8AC3E}">
        <p14:creationId xmlns:p14="http://schemas.microsoft.com/office/powerpoint/2010/main" val="2818777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EAE7CE-60C9-112C-1832-86170D329ABB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6B0A4C-EFD9-4D6C-DDDC-B7059BB8D602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 dirty="0">
                <a:solidFill>
                  <a:srgbClr val="102A43"/>
                </a:solidFill>
                <a:latin typeface="Aptos" panose="020B0004020202020204" pitchFamily="34" charset="0"/>
              </a:rPr>
              <a:t>Startup: learn a robust session rest pose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271A81-77F0-5C76-DA23-1B205DBAD73E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9BC8E7-2DFE-8476-E4DA-7D88BC58B527}"/>
              </a:ext>
            </a:extLst>
          </p:cNvPr>
          <p:cNvSpPr txBox="1"/>
          <p:nvPr/>
        </p:nvSpPr>
        <p:spPr>
          <a:xfrm>
            <a:off x="533400" y="1549400"/>
            <a:ext cx="9906000" cy="2769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b="1" dirty="0">
                <a:solidFill>
                  <a:srgbClr val="16324F"/>
                </a:solidFill>
                <a:latin typeface="Aptos" panose="020B0004020202020204" pitchFamily="34" charset="0"/>
              </a:rPr>
              <a:t>The avatar stays hidden while independent fused poses are collected.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2260A45-4BDE-C9F9-ECA6-48552E34BA62}"/>
              </a:ext>
            </a:extLst>
          </p:cNvPr>
          <p:cNvSpPr/>
          <p:nvPr/>
        </p:nvSpPr>
        <p:spPr>
          <a:xfrm>
            <a:off x="939800" y="2603500"/>
            <a:ext cx="914400" cy="9144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40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5A0AC3-F586-9F49-4B27-3C4254E88F94}"/>
              </a:ext>
            </a:extLst>
          </p:cNvPr>
          <p:cNvSpPr txBox="1"/>
          <p:nvPr/>
        </p:nvSpPr>
        <p:spPr>
          <a:xfrm>
            <a:off x="1066800" y="3606800"/>
            <a:ext cx="6604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500" b="1">
                <a:solidFill>
                  <a:srgbClr val="102A43"/>
                </a:solidFill>
                <a:latin typeface="Aptos" panose="020B0004020202020204" pitchFamily="34" charset="0"/>
              </a:rPr>
              <a:t>E0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B2F7FD9-2D69-2546-E963-58D0D1083DD6}"/>
              </a:ext>
            </a:extLst>
          </p:cNvPr>
          <p:cNvCxnSpPr/>
          <p:nvPr/>
        </p:nvCxnSpPr>
        <p:spPr>
          <a:xfrm>
            <a:off x="1854200" y="3060700"/>
            <a:ext cx="1498600" cy="0"/>
          </a:xfrm>
          <a:prstGeom prst="straightConnector1">
            <a:avLst/>
          </a:prstGeom>
          <a:ln w="3048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053A8715-B51B-C8AC-9391-8A8F94295271}"/>
              </a:ext>
            </a:extLst>
          </p:cNvPr>
          <p:cNvSpPr/>
          <p:nvPr/>
        </p:nvSpPr>
        <p:spPr>
          <a:xfrm>
            <a:off x="3543300" y="2603500"/>
            <a:ext cx="914400" cy="9144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34F5A8-A3E1-89CE-47BE-2B086A17A4BF}"/>
              </a:ext>
            </a:extLst>
          </p:cNvPr>
          <p:cNvSpPr txBox="1"/>
          <p:nvPr/>
        </p:nvSpPr>
        <p:spPr>
          <a:xfrm>
            <a:off x="3670300" y="3606800"/>
            <a:ext cx="6604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500" b="1">
                <a:solidFill>
                  <a:srgbClr val="102A43"/>
                </a:solidFill>
                <a:latin typeface="Aptos" panose="020B0004020202020204" pitchFamily="34" charset="0"/>
              </a:rPr>
              <a:t>E1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7E4B687-995B-3EA3-2475-10899053C3EB}"/>
              </a:ext>
            </a:extLst>
          </p:cNvPr>
          <p:cNvCxnSpPr/>
          <p:nvPr/>
        </p:nvCxnSpPr>
        <p:spPr>
          <a:xfrm>
            <a:off x="4457700" y="3060700"/>
            <a:ext cx="1498600" cy="0"/>
          </a:xfrm>
          <a:prstGeom prst="straightConnector1">
            <a:avLst/>
          </a:prstGeom>
          <a:ln w="3048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31BFB74A-90A4-9FF9-9BE6-BF62BBE597C5}"/>
              </a:ext>
            </a:extLst>
          </p:cNvPr>
          <p:cNvSpPr/>
          <p:nvPr/>
        </p:nvSpPr>
        <p:spPr>
          <a:xfrm>
            <a:off x="6146800" y="2603500"/>
            <a:ext cx="914400" cy="9144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50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8550C5-21C6-352A-4C53-3610D07A1485}"/>
              </a:ext>
            </a:extLst>
          </p:cNvPr>
          <p:cNvSpPr txBox="1"/>
          <p:nvPr/>
        </p:nvSpPr>
        <p:spPr>
          <a:xfrm>
            <a:off x="6273800" y="3606800"/>
            <a:ext cx="6604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500" b="1">
                <a:solidFill>
                  <a:srgbClr val="102A43"/>
                </a:solidFill>
                <a:latin typeface="Aptos" panose="020B0004020202020204" pitchFamily="34" charset="0"/>
              </a:rPr>
              <a:t>E2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CB1C8EB-14A0-9079-04FE-A964122896E2}"/>
              </a:ext>
            </a:extLst>
          </p:cNvPr>
          <p:cNvCxnSpPr/>
          <p:nvPr/>
        </p:nvCxnSpPr>
        <p:spPr>
          <a:xfrm>
            <a:off x="7061200" y="3060700"/>
            <a:ext cx="1498600" cy="0"/>
          </a:xfrm>
          <a:prstGeom prst="straightConnector1">
            <a:avLst/>
          </a:prstGeom>
          <a:ln w="3048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D8B7B52D-3313-92EF-1C55-A44A7251869E}"/>
              </a:ext>
            </a:extLst>
          </p:cNvPr>
          <p:cNvSpPr/>
          <p:nvPr/>
        </p:nvSpPr>
        <p:spPr>
          <a:xfrm>
            <a:off x="8750300" y="2603500"/>
            <a:ext cx="914400" cy="9144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55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E61476-44C6-AAC1-0EF4-1C827A5805AA}"/>
              </a:ext>
            </a:extLst>
          </p:cNvPr>
          <p:cNvSpPr txBox="1"/>
          <p:nvPr/>
        </p:nvSpPr>
        <p:spPr>
          <a:xfrm>
            <a:off x="8877300" y="3606800"/>
            <a:ext cx="6604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500" b="1">
                <a:solidFill>
                  <a:srgbClr val="102A43"/>
                </a:solidFill>
                <a:latin typeface="Aptos" panose="020B0004020202020204" pitchFamily="34" charset="0"/>
              </a:rPr>
              <a:t>E3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CCB503-5F84-7C03-B385-AF4FC4A38CE2}"/>
              </a:ext>
            </a:extLst>
          </p:cNvPr>
          <p:cNvSpPr txBox="1"/>
          <p:nvPr/>
        </p:nvSpPr>
        <p:spPr>
          <a:xfrm>
            <a:off x="889000" y="4178300"/>
            <a:ext cx="10414000" cy="24622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Each estimate uses coordinate-median position + one measured rotation medoid over all collected poses.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186738D-5C0D-4BEC-6945-2ECB99A7BFC9}"/>
              </a:ext>
            </a:extLst>
          </p:cNvPr>
          <p:cNvSpPr/>
          <p:nvPr/>
        </p:nvSpPr>
        <p:spPr>
          <a:xfrm>
            <a:off x="1219200" y="4914900"/>
            <a:ext cx="4699000" cy="889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 dirty="0">
                <a:solidFill>
                  <a:srgbClr val="16324F"/>
                </a:solidFill>
                <a:latin typeface="Aptos" panose="020B0004020202020204" pitchFamily="34" charset="0"/>
              </a:rPr>
              <a:t>Stable comparison</a:t>
            </a:r>
            <a:br>
              <a:rPr lang="en-GB" sz="1600" b="1" dirty="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l-GR" sz="1600" b="1" dirty="0">
                <a:solidFill>
                  <a:srgbClr val="16324F"/>
                </a:solidFill>
                <a:latin typeface="Aptos" panose="020B0004020202020204" pitchFamily="34" charset="0"/>
              </a:rPr>
              <a:t>Δ </a:t>
            </a:r>
            <a:r>
              <a:rPr lang="en-GB" sz="1600" b="1" dirty="0">
                <a:solidFill>
                  <a:srgbClr val="16324F"/>
                </a:solidFill>
                <a:latin typeface="Aptos" panose="020B0004020202020204" pitchFamily="34" charset="0"/>
              </a:rPr>
              <a:t>position ≤ 2 mm  AND  </a:t>
            </a:r>
            <a:r>
              <a:rPr lang="el-GR" sz="1600" b="1" dirty="0">
                <a:solidFill>
                  <a:srgbClr val="16324F"/>
                </a:solidFill>
                <a:latin typeface="Aptos" panose="020B0004020202020204" pitchFamily="34" charset="0"/>
              </a:rPr>
              <a:t>Δ </a:t>
            </a:r>
            <a:r>
              <a:rPr lang="en-GB" sz="1600" b="1" dirty="0">
                <a:solidFill>
                  <a:srgbClr val="16324F"/>
                </a:solidFill>
                <a:latin typeface="Aptos" panose="020B0004020202020204" pitchFamily="34" charset="0"/>
              </a:rPr>
              <a:t>rotation ≤ 0.5°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4F9DAE4-5A53-2D3B-64E1-83D0D78C07A8}"/>
              </a:ext>
            </a:extLst>
          </p:cNvPr>
          <p:cNvSpPr/>
          <p:nvPr/>
        </p:nvSpPr>
        <p:spPr>
          <a:xfrm>
            <a:off x="6350000" y="4914900"/>
            <a:ext cx="4648200" cy="889000"/>
          </a:xfrm>
          <a:prstGeom prst="roundRect">
            <a:avLst/>
          </a:prstGeom>
          <a:solidFill>
            <a:srgbClr val="E7F7ED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 dirty="0">
                <a:solidFill>
                  <a:srgbClr val="202C37"/>
                </a:solidFill>
                <a:latin typeface="Aptos" panose="020B0004020202020204" pitchFamily="34" charset="0"/>
              </a:rPr>
              <a:t>3 stable comparisons → detection 55</a:t>
            </a:r>
            <a:br>
              <a:rPr lang="en-GB" sz="1500" b="1" dirty="0">
                <a:solidFill>
                  <a:srgbClr val="202C37"/>
                </a:solidFill>
                <a:latin typeface="Aptos" panose="020B0004020202020204" pitchFamily="34" charset="0"/>
              </a:rPr>
            </a:br>
            <a:br>
              <a:rPr lang="en-GB" sz="1500" b="1" dirty="0">
                <a:solidFill>
                  <a:srgbClr val="202C37"/>
                </a:solidFill>
                <a:latin typeface="Aptos" panose="020B0004020202020204" pitchFamily="34" charset="0"/>
              </a:rPr>
            </a:br>
            <a:r>
              <a:rPr lang="en-GB" sz="1500" b="1" dirty="0">
                <a:solidFill>
                  <a:srgbClr val="202C37"/>
                </a:solidFill>
                <a:latin typeface="Aptos" panose="020B0004020202020204" pitchFamily="34" charset="0"/>
              </a:rPr>
              <a:t>Detection 100 fallback ≈20 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B9FC7F-89F7-32F8-82FE-274437ACD4E0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Grid-selected on both calibration replays • 95–97% stationary confirmation • 0% moving false acceptance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E76273-E7C6-80C4-65E0-17CE1C966378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3742557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AB9D6A-9BD3-C6F4-68BA-FB05A10CA4FA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836F8E-A742-7195-C3E7-A9095886F14B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 dirty="0">
                <a:solidFill>
                  <a:srgbClr val="102A43"/>
                </a:solidFill>
                <a:latin typeface="Aptos" panose="020B0004020202020204" pitchFamily="34" charset="0"/>
              </a:rPr>
              <a:t>After startup: the runtime filter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5CAD0A-6C4A-EE5A-774B-0D02F75AD77B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5B90F99-01DF-1557-DA78-7533EB724B45}"/>
              </a:ext>
            </a:extLst>
          </p:cNvPr>
          <p:cNvSpPr/>
          <p:nvPr/>
        </p:nvSpPr>
        <p:spPr>
          <a:xfrm>
            <a:off x="1181100" y="1905000"/>
            <a:ext cx="457200" cy="4572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BDE531B-60A2-972A-CAEE-C45798B08AB0}"/>
              </a:ext>
            </a:extLst>
          </p:cNvPr>
          <p:cNvSpPr/>
          <p:nvPr/>
        </p:nvSpPr>
        <p:spPr>
          <a:xfrm>
            <a:off x="546100" y="2603500"/>
            <a:ext cx="1778000" cy="9398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FLOOR-LOCKED</a:t>
            </a:r>
            <a:b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MEASUREMENT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7EE25C3-46E0-E645-A6C8-8CF1ADE0B55B}"/>
              </a:ext>
            </a:extLst>
          </p:cNvPr>
          <p:cNvCxnSpPr/>
          <p:nvPr/>
        </p:nvCxnSpPr>
        <p:spPr>
          <a:xfrm>
            <a:off x="2324100" y="3073400"/>
            <a:ext cx="431800" cy="0"/>
          </a:xfrm>
          <a:prstGeom prst="straightConnector1">
            <a:avLst/>
          </a:prstGeom>
          <a:ln w="2794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2AA537D6-08FC-9BE2-D6CA-D49D7816BBD7}"/>
              </a:ext>
            </a:extLst>
          </p:cNvPr>
          <p:cNvSpPr/>
          <p:nvPr/>
        </p:nvSpPr>
        <p:spPr>
          <a:xfrm>
            <a:off x="3479800" y="1905000"/>
            <a:ext cx="457200" cy="457200"/>
          </a:xfrm>
          <a:prstGeom prst="ellipse">
            <a:avLst/>
          </a:prstGeom>
          <a:solidFill>
            <a:srgbClr val="2CB1BC"/>
          </a:solidFill>
          <a:ln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661DB2E-F186-01B5-A020-705CE18C1493}"/>
              </a:ext>
            </a:extLst>
          </p:cNvPr>
          <p:cNvSpPr/>
          <p:nvPr/>
        </p:nvSpPr>
        <p:spPr>
          <a:xfrm>
            <a:off x="2844800" y="2603500"/>
            <a:ext cx="1778000" cy="939800"/>
          </a:xfrm>
          <a:prstGeom prst="roundRect">
            <a:avLst/>
          </a:prstGeom>
          <a:solidFill>
            <a:srgbClr val="2CB1BC"/>
          </a:solidFill>
          <a:ln w="15875"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7-POSE</a:t>
            </a:r>
            <a:b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MEDOID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FDAEAE7-A9A0-2548-81AF-B99670A6041D}"/>
              </a:ext>
            </a:extLst>
          </p:cNvPr>
          <p:cNvCxnSpPr/>
          <p:nvPr/>
        </p:nvCxnSpPr>
        <p:spPr>
          <a:xfrm>
            <a:off x="4622800" y="3073400"/>
            <a:ext cx="431800" cy="0"/>
          </a:xfrm>
          <a:prstGeom prst="straightConnector1">
            <a:avLst/>
          </a:prstGeom>
          <a:ln w="2794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11C3374E-7742-B42C-07E5-A29FE0F944A2}"/>
              </a:ext>
            </a:extLst>
          </p:cNvPr>
          <p:cNvSpPr/>
          <p:nvPr/>
        </p:nvSpPr>
        <p:spPr>
          <a:xfrm>
            <a:off x="5778500" y="1905000"/>
            <a:ext cx="457200" cy="4572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D7B7BEE-7A4E-DF4D-ADEF-D612A9BBFF58}"/>
              </a:ext>
            </a:extLst>
          </p:cNvPr>
          <p:cNvSpPr/>
          <p:nvPr/>
        </p:nvSpPr>
        <p:spPr>
          <a:xfrm>
            <a:off x="5143500" y="2603500"/>
            <a:ext cx="1778000" cy="9398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DEAD</a:t>
            </a:r>
            <a:b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ZONES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1C2E98B-4032-547C-4364-3AC20E64C897}"/>
              </a:ext>
            </a:extLst>
          </p:cNvPr>
          <p:cNvCxnSpPr/>
          <p:nvPr/>
        </p:nvCxnSpPr>
        <p:spPr>
          <a:xfrm>
            <a:off x="6921500" y="3073400"/>
            <a:ext cx="431800" cy="0"/>
          </a:xfrm>
          <a:prstGeom prst="straightConnector1">
            <a:avLst/>
          </a:prstGeom>
          <a:ln w="2794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FBF0D753-AD34-1C8F-ED93-0CAB67D66C94}"/>
              </a:ext>
            </a:extLst>
          </p:cNvPr>
          <p:cNvSpPr/>
          <p:nvPr/>
        </p:nvSpPr>
        <p:spPr>
          <a:xfrm>
            <a:off x="8077200" y="1905000"/>
            <a:ext cx="457200" cy="457200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3B56F06-5DA8-58C6-D41E-7AC66F73AE74}"/>
              </a:ext>
            </a:extLst>
          </p:cNvPr>
          <p:cNvSpPr/>
          <p:nvPr/>
        </p:nvSpPr>
        <p:spPr>
          <a:xfrm>
            <a:off x="7442200" y="2603500"/>
            <a:ext cx="1778000" cy="939800"/>
          </a:xfrm>
          <a:prstGeom prst="roundRect">
            <a:avLst/>
          </a:prstGeom>
          <a:solidFill>
            <a:srgbClr val="F59E0B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EXPONENTIAL</a:t>
            </a:r>
            <a:b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SMOOTHING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11FEDC1-9183-F09B-BDAE-90899EF3C1D4}"/>
              </a:ext>
            </a:extLst>
          </p:cNvPr>
          <p:cNvCxnSpPr/>
          <p:nvPr/>
        </p:nvCxnSpPr>
        <p:spPr>
          <a:xfrm>
            <a:off x="9220200" y="3073400"/>
            <a:ext cx="431800" cy="0"/>
          </a:xfrm>
          <a:prstGeom prst="straightConnector1">
            <a:avLst/>
          </a:prstGeom>
          <a:ln w="2794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B7E71277-CEB1-0C75-D39D-581E5613DFB7}"/>
              </a:ext>
            </a:extLst>
          </p:cNvPr>
          <p:cNvSpPr/>
          <p:nvPr/>
        </p:nvSpPr>
        <p:spPr>
          <a:xfrm>
            <a:off x="10375900" y="1905000"/>
            <a:ext cx="457200" cy="457200"/>
          </a:xfrm>
          <a:prstGeom prst="ellipse">
            <a:avLst/>
          </a:prstGeom>
          <a:solidFill>
            <a:srgbClr val="7152AD"/>
          </a:solidFill>
          <a:ln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DCF3530-005B-4BAC-EB4A-2EECFD2AC891}"/>
              </a:ext>
            </a:extLst>
          </p:cNvPr>
          <p:cNvSpPr/>
          <p:nvPr/>
        </p:nvSpPr>
        <p:spPr>
          <a:xfrm>
            <a:off x="9740900" y="2603500"/>
            <a:ext cx="1778000" cy="9398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LOCAL REST</a:t>
            </a:r>
            <a:b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FFFFFF"/>
                </a:solidFill>
                <a:latin typeface="Aptos" panose="020B0004020202020204" pitchFamily="34" charset="0"/>
              </a:rPr>
              <a:t>PULL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D232C0-0CA9-9821-0305-E20036898C24}"/>
              </a:ext>
            </a:extLst>
          </p:cNvPr>
          <p:cNvSpPr txBox="1"/>
          <p:nvPr/>
        </p:nvSpPr>
        <p:spPr>
          <a:xfrm>
            <a:off x="411941" y="4013200"/>
            <a:ext cx="25400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</a:rPr>
              <a:t>Updates once per new OpenCV timestamp,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79AE5F6-7B86-32A5-C45D-877BE90D17FB}"/>
              </a:ext>
            </a:extLst>
          </p:cNvPr>
          <p:cNvSpPr txBox="1"/>
          <p:nvPr/>
        </p:nvSpPr>
        <p:spPr>
          <a:xfrm>
            <a:off x="2710641" y="4002089"/>
            <a:ext cx="25400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400" dirty="0">
                <a:solidFill>
                  <a:srgbClr val="5C7084"/>
                </a:solidFill>
                <a:latin typeface="Aptos" panose="020B0004020202020204" pitchFamily="34" charset="0"/>
              </a:rPr>
              <a:t>       </a:t>
            </a:r>
            <a:r>
              <a:rPr lang="en-GB" sz="1400" dirty="0">
                <a:solidFill>
                  <a:srgbClr val="C00000"/>
                </a:solidFill>
                <a:latin typeface="Aptos" panose="020B0004020202020204" pitchFamily="34" charset="0"/>
              </a:rPr>
              <a:t>Rejects a lone temporal outlier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981BAC-8B96-1C10-180E-43B8E5710280}"/>
              </a:ext>
            </a:extLst>
          </p:cNvPr>
          <p:cNvSpPr txBox="1"/>
          <p:nvPr/>
        </p:nvSpPr>
        <p:spPr>
          <a:xfrm>
            <a:off x="5168900" y="4025900"/>
            <a:ext cx="25400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400" dirty="0">
                <a:solidFill>
                  <a:srgbClr val="5C7084"/>
                </a:solidFill>
                <a:latin typeface="Aptos" panose="020B0004020202020204" pitchFamily="34" charset="0"/>
              </a:rPr>
              <a:t>Holds tiny position / rotation changes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F7E3EB-DB13-A92E-887F-CFF98D60F696}"/>
              </a:ext>
            </a:extLst>
          </p:cNvPr>
          <p:cNvSpPr txBox="1"/>
          <p:nvPr/>
        </p:nvSpPr>
        <p:spPr>
          <a:xfrm>
            <a:off x="7467600" y="4025900"/>
            <a:ext cx="25400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400" dirty="0">
                <a:solidFill>
                  <a:srgbClr val="5C7084"/>
                </a:solidFill>
                <a:latin typeface="Aptos" panose="020B0004020202020204" pitchFamily="34" charset="0"/>
              </a:rPr>
              <a:t>Moves continuously at render rate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20626FF-AC61-ECA8-85FC-AF448E9204A6}"/>
              </a:ext>
            </a:extLst>
          </p:cNvPr>
          <p:cNvSpPr txBox="1"/>
          <p:nvPr/>
        </p:nvSpPr>
        <p:spPr>
          <a:xfrm>
            <a:off x="9766300" y="4025900"/>
            <a:ext cx="19050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400">
                <a:solidFill>
                  <a:srgbClr val="5C7084"/>
                </a:solidFill>
                <a:latin typeface="Aptos" panose="020B0004020202020204" pitchFamily="34" charset="0"/>
              </a:rPr>
              <a:t>Always active; measurement leads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6743929-18DA-1F82-55EC-5BCA4C0FE71D}"/>
              </a:ext>
            </a:extLst>
          </p:cNvPr>
          <p:cNvSpPr/>
          <p:nvPr/>
        </p:nvSpPr>
        <p:spPr>
          <a:xfrm>
            <a:off x="1193800" y="5207000"/>
            <a:ext cx="9804400" cy="6985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 dirty="0">
                <a:solidFill>
                  <a:srgbClr val="FFFFFF"/>
                </a:solidFill>
                <a:latin typeface="Aptos" panose="020B0004020202020204" pitchFamily="34" charset="0"/>
              </a:rPr>
              <a:t>Selected values: window 7 • radius 0.10 m • position dead zone 5 mm • rotation dead zone 1.5° • smoothing τ = 0.8 s • prior τ = 8 s • </a:t>
            </a:r>
            <a:r>
              <a:rPr lang="en-GB" sz="1600" b="1" dirty="0">
                <a:solidFill>
                  <a:srgbClr val="FF0000"/>
                </a:solidFill>
                <a:latin typeface="Aptos" panose="020B0004020202020204" pitchFamily="34" charset="0"/>
              </a:rPr>
              <a:t>rest re-anchor beyond 20 mm / 6°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FD3DD9-6EDD-DAD6-E0FD-AF06F7E91109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simple_pose_stabilizer.gd • avatar_rig_navel.gd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8283844-12F1-C70B-9208-A82C6F0CC657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381651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73B186-6E98-F946-09C5-0CFE83D440BC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1162E2-0FB2-1FBE-A50E-8A83F7A92AC4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Why the seven-pose medoid rejects jumps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F5C7367-8695-DE0D-F08C-EBBD248A4287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2CED3C3-571B-0967-2C22-45587EDDDC7A}"/>
              </a:ext>
            </a:extLst>
          </p:cNvPr>
          <p:cNvSpPr/>
          <p:nvPr/>
        </p:nvSpPr>
        <p:spPr>
          <a:xfrm>
            <a:off x="1625600" y="2921000"/>
            <a:ext cx="685800" cy="6858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M1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9B25F4B-C44C-4D0F-91BE-CE0E36DF0017}"/>
              </a:ext>
            </a:extLst>
          </p:cNvPr>
          <p:cNvSpPr/>
          <p:nvPr/>
        </p:nvSpPr>
        <p:spPr>
          <a:xfrm>
            <a:off x="2108200" y="2768600"/>
            <a:ext cx="685800" cy="6858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M2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AF4238F-D889-039E-C1F2-755FC91FE156}"/>
              </a:ext>
            </a:extLst>
          </p:cNvPr>
          <p:cNvSpPr/>
          <p:nvPr/>
        </p:nvSpPr>
        <p:spPr>
          <a:xfrm>
            <a:off x="2463800" y="3200400"/>
            <a:ext cx="685800" cy="6858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M3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355DC32-97B8-708B-9E39-84FBA79768AC}"/>
              </a:ext>
            </a:extLst>
          </p:cNvPr>
          <p:cNvSpPr/>
          <p:nvPr/>
        </p:nvSpPr>
        <p:spPr>
          <a:xfrm>
            <a:off x="2946400" y="2844800"/>
            <a:ext cx="685800" cy="6858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chosen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E496920-106A-66FE-65A1-0A2A604F6A78}"/>
              </a:ext>
            </a:extLst>
          </p:cNvPr>
          <p:cNvSpPr/>
          <p:nvPr/>
        </p:nvSpPr>
        <p:spPr>
          <a:xfrm>
            <a:off x="3276600" y="3327400"/>
            <a:ext cx="685800" cy="6858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M5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0827838-9909-AA41-C723-E1CB37606074}"/>
              </a:ext>
            </a:extLst>
          </p:cNvPr>
          <p:cNvSpPr/>
          <p:nvPr/>
        </p:nvSpPr>
        <p:spPr>
          <a:xfrm>
            <a:off x="3632200" y="2984500"/>
            <a:ext cx="685800" cy="6858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M6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9A280E8-E0F2-E02D-E7C9-61E2F99F8390}"/>
              </a:ext>
            </a:extLst>
          </p:cNvPr>
          <p:cNvSpPr/>
          <p:nvPr/>
        </p:nvSpPr>
        <p:spPr>
          <a:xfrm>
            <a:off x="5334000" y="2133600"/>
            <a:ext cx="685800" cy="685800"/>
          </a:xfrm>
          <a:prstGeom prst="ellipse">
            <a:avLst/>
          </a:prstGeom>
          <a:solidFill>
            <a:srgbClr val="E45756"/>
          </a:solidFill>
          <a:ln>
            <a:solidFill>
              <a:srgbClr val="E4575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100" b="1">
                <a:solidFill>
                  <a:srgbClr val="FFFFFF"/>
                </a:solidFill>
                <a:latin typeface="Aptos" panose="020B0004020202020204" pitchFamily="34" charset="0"/>
              </a:rPr>
              <a:t>bad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907692-0BAA-A207-E034-7C2AE8C89F95}"/>
              </a:ext>
            </a:extLst>
          </p:cNvPr>
          <p:cNvSpPr txBox="1"/>
          <p:nvPr/>
        </p:nvSpPr>
        <p:spPr>
          <a:xfrm>
            <a:off x="889000" y="4368800"/>
            <a:ext cx="5461000" cy="784830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700">
                <a:solidFill>
                  <a:srgbClr val="16324F"/>
                </a:solidFill>
                <a:latin typeface="Aptos" panose="020B0004020202020204" pitchFamily="34" charset="0"/>
              </a:rPr>
              <a:t>Six measurements agree; one is far away. The medoid chooses the actual measured pose with the smallest total distance to all others.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B80F855-23BC-2677-557E-BC1E91970717}"/>
              </a:ext>
            </a:extLst>
          </p:cNvPr>
          <p:cNvSpPr/>
          <p:nvPr/>
        </p:nvSpPr>
        <p:spPr>
          <a:xfrm>
            <a:off x="7239000" y="2336800"/>
            <a:ext cx="3937000" cy="1016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b="1">
                <a:solidFill>
                  <a:srgbClr val="16324F"/>
                </a:solidFill>
                <a:latin typeface="Aptos" panose="020B0004020202020204" pitchFamily="34" charset="0"/>
              </a:rPr>
              <a:t>score = position distance</a:t>
            </a:r>
            <a:br>
              <a:rPr lang="en-GB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b="1">
                <a:solidFill>
                  <a:srgbClr val="16324F"/>
                </a:solidFill>
                <a:latin typeface="Aptos" panose="020B0004020202020204" pitchFamily="34" charset="0"/>
              </a:rPr>
              <a:t>+ radius × rotation angle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2C72CFA-626F-E84A-31C1-AFCC830211EC}"/>
              </a:ext>
            </a:extLst>
          </p:cNvPr>
          <p:cNvSpPr txBox="1"/>
          <p:nvPr/>
        </p:nvSpPr>
        <p:spPr>
          <a:xfrm>
            <a:off x="7289800" y="3733800"/>
            <a:ext cx="3835400" cy="98488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Current radius = 0.10 m</a:t>
            </a: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At this radius, 1° rotation contributes approximately the same score as 1.75 mm of position error.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09C7E3-0D75-A9C7-2AD3-9D08E60279FA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simple_pose_stabilizer.gd::_medoid • 0.10 m selected across old/new calibration replays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477F62-5E25-70E3-C7FE-DCDDA863ACF4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213692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87993F-040A-A454-A058-B1D283D25F28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21FF72-86EF-A82E-76D0-DDD43DE09120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Dead zone, smoothing and prior do different jobs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C8173D-0242-C098-0DD3-F6490F8B16F9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E5A1F73-9F4A-81AB-0E10-3EDFF70F98FD}"/>
              </a:ext>
            </a:extLst>
          </p:cNvPr>
          <p:cNvSpPr/>
          <p:nvPr/>
        </p:nvSpPr>
        <p:spPr>
          <a:xfrm>
            <a:off x="685800" y="1905000"/>
            <a:ext cx="3352800" cy="6096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DEAD ZONE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AC5CA15-A1C9-A753-6B6F-139421BCF663}"/>
              </a:ext>
            </a:extLst>
          </p:cNvPr>
          <p:cNvSpPr/>
          <p:nvPr/>
        </p:nvSpPr>
        <p:spPr>
          <a:xfrm>
            <a:off x="685800" y="2667000"/>
            <a:ext cx="3352800" cy="2413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≤5 mm position</a:t>
            </a: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≤1.5° rotation</a:t>
            </a: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Hold the corresponding output channel.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FAEA867-AE5A-D9A3-6CA6-F751A94EAADA}"/>
              </a:ext>
            </a:extLst>
          </p:cNvPr>
          <p:cNvSpPr/>
          <p:nvPr/>
        </p:nvSpPr>
        <p:spPr>
          <a:xfrm>
            <a:off x="4521200" y="1905000"/>
            <a:ext cx="3352800" cy="609600"/>
          </a:xfrm>
          <a:prstGeom prst="roundRect">
            <a:avLst/>
          </a:prstGeom>
          <a:solidFill>
            <a:srgbClr val="F59E0B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SMOOTHING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B41254D-56EA-64FC-A931-71123F8C2C3D}"/>
              </a:ext>
            </a:extLst>
          </p:cNvPr>
          <p:cNvSpPr/>
          <p:nvPr/>
        </p:nvSpPr>
        <p:spPr>
          <a:xfrm>
            <a:off x="4521200" y="2667000"/>
            <a:ext cx="3352800" cy="2413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l-GR" sz="1600" dirty="0">
                <a:solidFill>
                  <a:srgbClr val="16324F"/>
                </a:solidFill>
                <a:latin typeface="Aptos" panose="020B0004020202020204" pitchFamily="34" charset="0"/>
              </a:rPr>
              <a:t>τ = 0.8 </a:t>
            </a:r>
            <a:r>
              <a:rPr lang="en-GB" sz="1600" dirty="0">
                <a:solidFill>
                  <a:srgbClr val="16324F"/>
                </a:solidFill>
                <a:latin typeface="Aptos" panose="020B0004020202020204" pitchFamily="34" charset="0"/>
              </a:rPr>
              <a:t>s</a:t>
            </a:r>
            <a:br>
              <a:rPr lang="en-GB" sz="1600" dirty="0">
                <a:solidFill>
                  <a:srgbClr val="16324F"/>
                </a:solidFill>
                <a:latin typeface="Aptos" panose="020B0004020202020204" pitchFamily="34" charset="0"/>
              </a:rPr>
            </a:br>
            <a:br>
              <a:rPr lang="en-GB" sz="1600" dirty="0">
                <a:solidFill>
                  <a:srgbClr val="16324F"/>
                </a:solidFill>
                <a:latin typeface="Aptos" panose="020B0004020202020204" pitchFamily="34" charset="0"/>
              </a:rPr>
            </a:br>
            <a:endParaRPr lang="en-GB" sz="1600" dirty="0">
              <a:solidFill>
                <a:srgbClr val="16324F"/>
              </a:solidFill>
              <a:latin typeface="Aptos" panose="020B000402020202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3814F49-CE0D-4C92-685B-8AAA81BAFFB0}"/>
              </a:ext>
            </a:extLst>
          </p:cNvPr>
          <p:cNvSpPr/>
          <p:nvPr/>
        </p:nvSpPr>
        <p:spPr>
          <a:xfrm>
            <a:off x="8356600" y="1905000"/>
            <a:ext cx="3352800" cy="6096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REST PRIOR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40E244A-838A-63F7-B609-B21520CB1FFE}"/>
              </a:ext>
            </a:extLst>
          </p:cNvPr>
          <p:cNvSpPr/>
          <p:nvPr/>
        </p:nvSpPr>
        <p:spPr>
          <a:xfrm>
            <a:off x="8356600" y="2667000"/>
            <a:ext cx="3352800" cy="2413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dirty="0">
                <a:solidFill>
                  <a:srgbClr val="16324F"/>
                </a:solidFill>
                <a:latin typeface="Aptos" panose="020B0004020202020204" pitchFamily="34" charset="0"/>
              </a:rPr>
              <a:t>τ = 8 s</a:t>
            </a:r>
            <a:br>
              <a:rPr lang="en-GB" sz="1600" dirty="0">
                <a:solidFill>
                  <a:srgbClr val="16324F"/>
                </a:solidFill>
                <a:latin typeface="Aptos" panose="020B0004020202020204" pitchFamily="34" charset="0"/>
              </a:rPr>
            </a:br>
            <a:br>
              <a:rPr lang="en-GB" sz="1600" dirty="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 dirty="0">
                <a:solidFill>
                  <a:srgbClr val="FF0000"/>
                </a:solidFill>
                <a:latin typeface="Aptos" panose="020B0004020202020204" pitchFamily="34" charset="0"/>
              </a:rPr>
              <a:t>Weak and always active; smoothing is 10× faster, so measurements lead during movement.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832624-3A60-354B-ABD7-81E4B18CC7C2}"/>
              </a:ext>
            </a:extLst>
          </p:cNvPr>
          <p:cNvSpPr txBox="1"/>
          <p:nvPr/>
        </p:nvSpPr>
        <p:spPr>
          <a:xfrm>
            <a:off x="1041400" y="5562600"/>
            <a:ext cx="10096500" cy="46166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500" b="1" dirty="0">
                <a:solidFill>
                  <a:srgbClr val="FF0000"/>
                </a:solidFill>
                <a:latin typeface="Aptos" panose="020B0004020202020204" pitchFamily="34" charset="0"/>
              </a:rPr>
              <a:t>A stable endpoint beyond 20 mm or 6° re-anchors the remembered rest itself, so the prior pulls toward the new location instead of dragging a relocated mannequin backwards.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107BBB-E80B-652B-7AEE-14385C7617C5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Filtering order: medoid → dead zones → smoothing → weak rest pull • rest re-anchors at stable endpoints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F357DB-36A7-A136-9C42-066B1E8C48B0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571453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3F3197-B43C-9050-370F-EC2FB8730C26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22B705-F396-57C9-92A7-2B940AB8FA89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Two poses exist: displayed pose and remembered rest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9518F3-EEB2-91C2-FE08-7E9567BFD344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46D1A6F-C870-3C21-1539-3DF227C11786}"/>
              </a:ext>
            </a:extLst>
          </p:cNvPr>
          <p:cNvSpPr/>
          <p:nvPr/>
        </p:nvSpPr>
        <p:spPr>
          <a:xfrm>
            <a:off x="889000" y="2286000"/>
            <a:ext cx="2667000" cy="1041400"/>
          </a:xfrm>
          <a:prstGeom prst="roundRect">
            <a:avLst/>
          </a:prstGeom>
          <a:solidFill>
            <a:srgbClr val="2CB1BC"/>
          </a:solidFill>
          <a:ln w="15875"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Measurement-only</a:t>
            </a:r>
            <a:b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7-pose medoid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258E616-5652-FC47-BC59-01A2A01DFAB2}"/>
              </a:ext>
            </a:extLst>
          </p:cNvPr>
          <p:cNvCxnSpPr/>
          <p:nvPr/>
        </p:nvCxnSpPr>
        <p:spPr>
          <a:xfrm>
            <a:off x="3556000" y="2806700"/>
            <a:ext cx="1587500" cy="0"/>
          </a:xfrm>
          <a:prstGeom prst="straightConnector1">
            <a:avLst/>
          </a:prstGeom>
          <a:ln w="381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6A41035-730F-DB6B-7C24-9359325E0992}"/>
              </a:ext>
            </a:extLst>
          </p:cNvPr>
          <p:cNvSpPr/>
          <p:nvPr/>
        </p:nvSpPr>
        <p:spPr>
          <a:xfrm>
            <a:off x="5168900" y="2286000"/>
            <a:ext cx="2159000" cy="1041400"/>
          </a:xfrm>
          <a:prstGeom prst="roundRect">
            <a:avLst/>
          </a:prstGeom>
          <a:solidFill>
            <a:srgbClr val="F59E0B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7-target window</a:t>
            </a:r>
            <a:b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stationary?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6AC42E6-7562-FD76-F112-3597F687FEEA}"/>
              </a:ext>
            </a:extLst>
          </p:cNvPr>
          <p:cNvCxnSpPr/>
          <p:nvPr/>
        </p:nvCxnSpPr>
        <p:spPr>
          <a:xfrm>
            <a:off x="7327900" y="2806700"/>
            <a:ext cx="1562100" cy="0"/>
          </a:xfrm>
          <a:prstGeom prst="straightConnector1">
            <a:avLst/>
          </a:prstGeom>
          <a:ln w="381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2489CB1-A3CD-1B43-1F82-93D3CC9CE83E}"/>
              </a:ext>
            </a:extLst>
          </p:cNvPr>
          <p:cNvSpPr/>
          <p:nvPr/>
        </p:nvSpPr>
        <p:spPr>
          <a:xfrm>
            <a:off x="8915400" y="2286000"/>
            <a:ext cx="2413000" cy="10414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Remembered rest</a:t>
            </a:r>
            <a:b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re-anchors (jumps)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C61614-DC4F-00EF-7AD2-A2865E15D8D9}"/>
              </a:ext>
            </a:extLst>
          </p:cNvPr>
          <p:cNvSpPr txBox="1"/>
          <p:nvPr/>
        </p:nvSpPr>
        <p:spPr>
          <a:xfrm>
            <a:off x="3644900" y="3835400"/>
            <a:ext cx="4953000" cy="32316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2100" b="1">
                <a:solidFill>
                  <a:srgbClr val="102A43"/>
                </a:solidFill>
                <a:latin typeface="Aptos" panose="020B0004020202020204" pitchFamily="34" charset="0"/>
              </a:rPr>
              <a:t>Re-anchor floor: 20 mm / 6°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65E76DA-EA11-B1B3-32DF-1C3F71BD22DB}"/>
              </a:ext>
            </a:extLst>
          </p:cNvPr>
          <p:cNvSpPr txBox="1"/>
          <p:nvPr/>
        </p:nvSpPr>
        <p:spPr>
          <a:xfrm>
            <a:off x="1524000" y="4508500"/>
            <a:ext cx="9144000" cy="492443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Rest never learns from a single raw pose and never from the displayed pose, because that output already contains smoothing and prior feedback. It adopts the measurement-only medoid target once the complete 7-target window is stationary (≤2 mm / ≤0.5°) and clearly displaced from the old rest. Position and rotation re-anchor independently.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300B656-A5FB-E63D-A452-03696C12B513}"/>
              </a:ext>
            </a:extLst>
          </p:cNvPr>
          <p:cNvSpPr/>
          <p:nvPr/>
        </p:nvSpPr>
        <p:spPr>
          <a:xfrm>
            <a:off x="2159000" y="5588000"/>
            <a:ext cx="7874000" cy="558800"/>
          </a:xfrm>
          <a:prstGeom prst="roundRect">
            <a:avLst/>
          </a:prstGeom>
          <a:solidFill>
            <a:srgbClr val="FFF2E1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202C37"/>
                </a:solidFill>
                <a:latin typeface="Aptos" panose="020B0004020202020204" pitchFamily="34" charset="0"/>
              </a:rPr>
              <a:t>LIMIT: the newest stationary test exposed stable viewpoint errors up to 114 mm. The re-anchor floor cannot reject a large, stable wrong pose; marker agreement must be fixed before fusion.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2C584A-1C8E-DF67-A871-33A15A4844FC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navel_provider.gd::reanchor_rest_from_stable_target • simple_pose_stabilizer.gd::_update_stable_endpoint_state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D8EF47-88B8-F8D6-FAA9-0434F8C65F63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065856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E517183-2DFD-B1F5-25D8-FDEC0954B0AA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B3F212-6853-5D85-EFC7-74BF6E34019B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Tracking loss and Quest-menu resume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D27B776-F994-9EA0-9266-E82B095E4A20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3D8FB8-A7AD-0049-B094-BB2D29FE2F70}"/>
              </a:ext>
            </a:extLst>
          </p:cNvPr>
          <p:cNvSpPr txBox="1"/>
          <p:nvPr/>
        </p:nvSpPr>
        <p:spPr>
          <a:xfrm>
            <a:off x="736600" y="1778000"/>
            <a:ext cx="4572000" cy="32316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100" b="1">
                <a:solidFill>
                  <a:srgbClr val="102A43"/>
                </a:solidFill>
                <a:latin typeface="Aptos" panose="020B0004020202020204" pitchFamily="34" charset="0"/>
              </a:rPr>
              <a:t>Temporary marker loss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68AC441-F704-3C6F-2130-68F6818056D5}"/>
              </a:ext>
            </a:extLst>
          </p:cNvPr>
          <p:cNvSpPr/>
          <p:nvPr/>
        </p:nvSpPr>
        <p:spPr>
          <a:xfrm>
            <a:off x="787400" y="2438400"/>
            <a:ext cx="2286000" cy="939800"/>
          </a:xfrm>
          <a:prstGeom prst="roundRect">
            <a:avLst/>
          </a:prstGeom>
          <a:solidFill>
            <a:srgbClr val="E45756"/>
          </a:solidFill>
          <a:ln w="15875">
            <a:solidFill>
              <a:srgbClr val="E4575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No new marker result</a:t>
            </a:r>
            <a:b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for 300 ms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F8B7D73-BF45-1D27-EC73-2ACDB42BC040}"/>
              </a:ext>
            </a:extLst>
          </p:cNvPr>
          <p:cNvCxnSpPr/>
          <p:nvPr/>
        </p:nvCxnSpPr>
        <p:spPr>
          <a:xfrm>
            <a:off x="3073400" y="2908300"/>
            <a:ext cx="762000" cy="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1776A0A-1F4F-4AD0-323A-B8E75DE1D2B8}"/>
              </a:ext>
            </a:extLst>
          </p:cNvPr>
          <p:cNvSpPr/>
          <p:nvPr/>
        </p:nvSpPr>
        <p:spPr>
          <a:xfrm>
            <a:off x="3860800" y="2438400"/>
            <a:ext cx="2286000" cy="9398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Hide avatar</a:t>
            </a:r>
            <a:b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keep last internal pose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173FE2A-2F1D-88BC-281B-8E134C24ABE9}"/>
              </a:ext>
            </a:extLst>
          </p:cNvPr>
          <p:cNvCxnSpPr/>
          <p:nvPr/>
        </p:nvCxnSpPr>
        <p:spPr>
          <a:xfrm>
            <a:off x="5003800" y="3378200"/>
            <a:ext cx="0" cy="76200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D64F48C-75BE-F4E0-510C-44C0FF47000D}"/>
              </a:ext>
            </a:extLst>
          </p:cNvPr>
          <p:cNvSpPr/>
          <p:nvPr/>
        </p:nvSpPr>
        <p:spPr>
          <a:xfrm>
            <a:off x="3860800" y="4191000"/>
            <a:ext cx="2286000" cy="9398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 dirty="0">
                <a:solidFill>
                  <a:srgbClr val="FFFFFF"/>
                </a:solidFill>
                <a:latin typeface="Aptos" panose="020B0004020202020204" pitchFamily="34" charset="0"/>
              </a:rPr>
              <a:t>Collect 7 fresh detections</a:t>
            </a:r>
            <a:br>
              <a:rPr lang="en-GB" sz="1500" b="1" dirty="0">
                <a:solidFill>
                  <a:srgbClr val="FFFFFF"/>
                </a:solidFill>
                <a:latin typeface="Aptos" panose="020B0004020202020204" pitchFamily="34" charset="0"/>
              </a:rPr>
            </a:br>
            <a:endParaRPr lang="en-GB" sz="15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02EA7F-E2A8-B118-A961-AFE2E669C621}"/>
              </a:ext>
            </a:extLst>
          </p:cNvPr>
          <p:cNvSpPr txBox="1"/>
          <p:nvPr/>
        </p:nvSpPr>
        <p:spPr>
          <a:xfrm>
            <a:off x="6959600" y="1778000"/>
            <a:ext cx="4445000" cy="32316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100" b="1">
                <a:solidFill>
                  <a:srgbClr val="102A43"/>
                </a:solidFill>
                <a:latin typeface="Aptos" panose="020B0004020202020204" pitchFamily="34" charset="0"/>
              </a:rPr>
              <a:t>App resumes after Quest menu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2C28747-9817-D11D-57DA-1165334FE290}"/>
              </a:ext>
            </a:extLst>
          </p:cNvPr>
          <p:cNvSpPr/>
          <p:nvPr/>
        </p:nvSpPr>
        <p:spPr>
          <a:xfrm>
            <a:off x="7137400" y="2438400"/>
            <a:ext cx="2286000" cy="939800"/>
          </a:xfrm>
          <a:prstGeom prst="roundRect">
            <a:avLst/>
          </a:prstGeom>
          <a:solidFill>
            <a:srgbClr val="E45756"/>
          </a:solidFill>
          <a:ln w="15875">
            <a:solidFill>
              <a:srgbClr val="E4575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Old XR world rest</a:t>
            </a:r>
            <a:b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may no longer be valid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15D1043-9E6B-4699-22DD-EFBEB3DDA684}"/>
              </a:ext>
            </a:extLst>
          </p:cNvPr>
          <p:cNvCxnSpPr/>
          <p:nvPr/>
        </p:nvCxnSpPr>
        <p:spPr>
          <a:xfrm>
            <a:off x="9423400" y="2908300"/>
            <a:ext cx="762000" cy="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67C551D-501A-28DD-6126-BF144BFADEA7}"/>
              </a:ext>
            </a:extLst>
          </p:cNvPr>
          <p:cNvSpPr/>
          <p:nvPr/>
        </p:nvSpPr>
        <p:spPr>
          <a:xfrm>
            <a:off x="10210800" y="2438400"/>
            <a:ext cx="1524000" cy="9398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Keep permanent</a:t>
            </a:r>
            <a:b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marker offsets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2E15043-6576-A4A8-5F12-FB7E3D2620FC}"/>
              </a:ext>
            </a:extLst>
          </p:cNvPr>
          <p:cNvCxnSpPr/>
          <p:nvPr/>
        </p:nvCxnSpPr>
        <p:spPr>
          <a:xfrm>
            <a:off x="9423400" y="3378200"/>
            <a:ext cx="0" cy="762000"/>
          </a:xfrm>
          <a:prstGeom prst="straightConnector1">
            <a:avLst/>
          </a:prstGeom>
          <a:ln w="3175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4C4292C-041E-9791-2DC7-227CA4766F6B}"/>
              </a:ext>
            </a:extLst>
          </p:cNvPr>
          <p:cNvSpPr/>
          <p:nvPr/>
        </p:nvSpPr>
        <p:spPr>
          <a:xfrm>
            <a:off x="8280400" y="4191000"/>
            <a:ext cx="2286000" cy="939800"/>
          </a:xfrm>
          <a:prstGeom prst="roundRect">
            <a:avLst/>
          </a:prstGeom>
          <a:solidFill>
            <a:srgbClr val="F59E0B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Relearn startup rest</a:t>
            </a:r>
            <a:b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55–100 detections</a:t>
            </a:r>
            <a:b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≈11–20 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F6E4C3-61BA-C3AD-A8C8-DD4317B029F1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marker_freshness.gd • avatar_rig_navel.gd::_notification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35222A-3874-AF89-8027-6A5537863619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408961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21E1890-5262-FF86-3D4F-93BFDA1E52DD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1EDF03-F08E-A645-D89E-5DB6BAC5EFAB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Final render transform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566FB64-18CF-7570-9D21-482F54C8B8B7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82CD4A2-7BAE-6EC8-67D2-685127179055}"/>
              </a:ext>
            </a:extLst>
          </p:cNvPr>
          <p:cNvSpPr/>
          <p:nvPr/>
        </p:nvSpPr>
        <p:spPr>
          <a:xfrm>
            <a:off x="914400" y="2476500"/>
            <a:ext cx="2413000" cy="10922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  <a:t>FILTERED</a:t>
            </a:r>
            <a:b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  <a:t>COMMON POSE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E5ED52-2CEF-DDEA-ABF5-4BACDBA519BB}"/>
              </a:ext>
            </a:extLst>
          </p:cNvPr>
          <p:cNvSpPr txBox="1"/>
          <p:nvPr/>
        </p:nvSpPr>
        <p:spPr>
          <a:xfrm>
            <a:off x="3835400" y="2705100"/>
            <a:ext cx="508000" cy="492443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3200" b="1">
                <a:solidFill>
                  <a:srgbClr val="102A43"/>
                </a:solidFill>
                <a:latin typeface="Aptos" panose="020B0004020202020204" pitchFamily="34" charset="0"/>
              </a:rPr>
              <a:t>×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B5A6272-9A2F-4EDE-6466-87263947A7FE}"/>
              </a:ext>
            </a:extLst>
          </p:cNvPr>
          <p:cNvSpPr/>
          <p:nvPr/>
        </p:nvSpPr>
        <p:spPr>
          <a:xfrm>
            <a:off x="4826000" y="2476500"/>
            <a:ext cx="2413000" cy="10922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  <a:t>FIXED MODEL</a:t>
            </a:r>
            <a:b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  <a:t>ALIGNMENT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272FFD-2313-F942-EEA8-8200DA27FAC9}"/>
              </a:ext>
            </a:extLst>
          </p:cNvPr>
          <p:cNvSpPr txBox="1"/>
          <p:nvPr/>
        </p:nvSpPr>
        <p:spPr>
          <a:xfrm>
            <a:off x="7747000" y="2705100"/>
            <a:ext cx="508000" cy="492443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3200" b="1">
                <a:solidFill>
                  <a:srgbClr val="102A43"/>
                </a:solidFill>
                <a:latin typeface="Aptos" panose="020B0004020202020204" pitchFamily="34" charset="0"/>
              </a:rPr>
              <a:t>=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62F01BB-4701-1623-2E91-58879C8D3E4F}"/>
              </a:ext>
            </a:extLst>
          </p:cNvPr>
          <p:cNvSpPr/>
          <p:nvPr/>
        </p:nvSpPr>
        <p:spPr>
          <a:xfrm>
            <a:off x="8763000" y="2476500"/>
            <a:ext cx="2413000" cy="10922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  <a:t>VISIBLE</a:t>
            </a:r>
            <a:b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</a:br>
            <a:r>
              <a:rPr lang="en-GB" sz="1900" b="1">
                <a:solidFill>
                  <a:srgbClr val="FFFFFF"/>
                </a:solidFill>
                <a:latin typeface="Aptos" panose="020B0004020202020204" pitchFamily="34" charset="0"/>
              </a:rPr>
              <a:t>AVATAR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2AD1ABA-D080-4D6B-2127-F2F66ADC3045}"/>
              </a:ext>
            </a:extLst>
          </p:cNvPr>
          <p:cNvSpPr/>
          <p:nvPr/>
        </p:nvSpPr>
        <p:spPr>
          <a:xfrm>
            <a:off x="4318000" y="4241800"/>
            <a:ext cx="3556000" cy="127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Scale 0.77</a:t>
            </a: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Rotation −90° X (lay flat)</a:t>
            </a:r>
            <a:b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600">
                <a:solidFill>
                  <a:srgbClr val="16324F"/>
                </a:solidFill>
                <a:latin typeface="Aptos" panose="020B0004020202020204" pitchFamily="34" charset="0"/>
              </a:rPr>
              <a:t>Position (0.07256, −0.127499, 0.177248) 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CACE7A-F7D0-8CA0-7C49-5858CC888D42}"/>
              </a:ext>
            </a:extLst>
          </p:cNvPr>
          <p:cNvSpPr txBox="1"/>
          <p:nvPr/>
        </p:nvSpPr>
        <p:spPr>
          <a:xfrm>
            <a:off x="3175000" y="5816600"/>
            <a:ext cx="5842000" cy="24622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600" b="1">
                <a:solidFill>
                  <a:srgbClr val="27AE60"/>
                </a:solidFill>
                <a:latin typeface="Aptos" panose="020B0004020202020204" pitchFamily="34" charset="0"/>
              </a:rPr>
              <a:t>Floor-lock sets local Z down and local Y to horizontal body heading before this fixed model correction is applied.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F27911-6F3D-E148-2F1A-16C75915F7BA}"/>
              </a:ext>
            </a:extLst>
          </p:cNvPr>
          <p:cNvSpPr txBox="1"/>
          <p:nvPr/>
        </p:nvSpPr>
        <p:spPr>
          <a:xfrm>
            <a:off x="787400" y="1651000"/>
            <a:ext cx="10604500" cy="261610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700" b="1">
                <a:solidFill>
                  <a:srgbClr val="E45756"/>
                </a:solidFill>
                <a:latin typeface="Aptos" panose="020B0004020202020204" pitchFamily="34" charset="0"/>
              </a:rPr>
              <a:t>A persistent fixed offset here cannot be repaired by waiting, smoothing, the prior or 600-second healing.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72B8F9-8AB6-B196-A065-FF8879869625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main_3d.tscn: mannequin child transform • AvatarRig.global_transform = filtered pose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1512ED-3867-226D-0349-A7B993E36BFA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640900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F9BE2A-28FB-57C8-6C11-714D8AEB3AE3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8369FD-E601-E7EF-2DB1-27EA410B1D92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What the latest experiments selected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127BDA-A35A-1753-E96D-0221C965EABE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CF18FC-0458-CC7E-DCDB-D9B2078DF245}"/>
              </a:ext>
            </a:extLst>
          </p:cNvPr>
          <p:cNvSpPr txBox="1"/>
          <p:nvPr/>
        </p:nvSpPr>
        <p:spPr>
          <a:xfrm>
            <a:off x="533400" y="1524000"/>
            <a:ext cx="10985500" cy="523220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Stationary + 617.5 mm movement replays selected the filter; hiding and compression recordings were hold-out checks.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3D87C04-0B02-B899-AB1E-A9EAB31BECD1}"/>
              </a:ext>
            </a:extLst>
          </p:cNvPr>
          <p:cNvSpPr/>
          <p:nvPr/>
        </p:nvSpPr>
        <p:spPr>
          <a:xfrm>
            <a:off x="635000" y="2324100"/>
            <a:ext cx="3175000" cy="5080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Parameter group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1DD280B-442D-7794-1F7D-4773082D563D}"/>
              </a:ext>
            </a:extLst>
          </p:cNvPr>
          <p:cNvSpPr/>
          <p:nvPr/>
        </p:nvSpPr>
        <p:spPr>
          <a:xfrm>
            <a:off x="4000500" y="2324100"/>
            <a:ext cx="3302000" cy="5080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Examples in grid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97DB92D-A8FE-962F-673A-3802D6877362}"/>
              </a:ext>
            </a:extLst>
          </p:cNvPr>
          <p:cNvSpPr/>
          <p:nvPr/>
        </p:nvSpPr>
        <p:spPr>
          <a:xfrm>
            <a:off x="7493000" y="2324100"/>
            <a:ext cx="2222500" cy="5080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Current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BEC3D16-2457-824C-08D8-91009F8E3CDB}"/>
              </a:ext>
            </a:extLst>
          </p:cNvPr>
          <p:cNvSpPr/>
          <p:nvPr/>
        </p:nvSpPr>
        <p:spPr>
          <a:xfrm>
            <a:off x="9906000" y="2324100"/>
            <a:ext cx="1651000" cy="5080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300" b="1">
                <a:solidFill>
                  <a:srgbClr val="FFFFFF"/>
                </a:solidFill>
                <a:latin typeface="Aptos" panose="020B0004020202020204" pitchFamily="34" charset="0"/>
              </a:rPr>
              <a:t>Status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08CB1CA-F212-9F5F-AE96-831351B1D8DA}"/>
              </a:ext>
            </a:extLst>
          </p:cNvPr>
          <p:cNvSpPr/>
          <p:nvPr/>
        </p:nvSpPr>
        <p:spPr>
          <a:xfrm>
            <a:off x="635000" y="2882900"/>
            <a:ext cx="3175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Startup convergence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73B66D5-BD24-CF94-D8A9-B12EEF64AB6A}"/>
              </a:ext>
            </a:extLst>
          </p:cNvPr>
          <p:cNvSpPr/>
          <p:nvPr/>
        </p:nvSpPr>
        <p:spPr>
          <a:xfrm>
            <a:off x="4000500" y="2882900"/>
            <a:ext cx="3302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start / step / fallback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0EA9CBA-6621-FC79-9BEE-FAE2BA0A15E3}"/>
              </a:ext>
            </a:extLst>
          </p:cNvPr>
          <p:cNvSpPr/>
          <p:nvPr/>
        </p:nvSpPr>
        <p:spPr>
          <a:xfrm>
            <a:off x="7493000" y="2882900"/>
            <a:ext cx="22225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40 / 5 / 100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90428FC-06D3-5CE3-5830-CF085B99D465}"/>
              </a:ext>
            </a:extLst>
          </p:cNvPr>
          <p:cNvSpPr/>
          <p:nvPr/>
        </p:nvSpPr>
        <p:spPr>
          <a:xfrm>
            <a:off x="9906000" y="2882900"/>
            <a:ext cx="1651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 b="1">
                <a:solidFill>
                  <a:srgbClr val="16324F"/>
                </a:solidFill>
                <a:latin typeface="Aptos" panose="020B0004020202020204" pitchFamily="34" charset="0"/>
              </a:rPr>
              <a:t>Selected*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007C97E-6769-8CC7-9D6D-48C46584DAFB}"/>
              </a:ext>
            </a:extLst>
          </p:cNvPr>
          <p:cNvSpPr/>
          <p:nvPr/>
        </p:nvSpPr>
        <p:spPr>
          <a:xfrm>
            <a:off x="635000" y="3594100"/>
            <a:ext cx="31750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Display filter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ADCDC1F-7661-62BD-CE89-4D1218F0FF16}"/>
              </a:ext>
            </a:extLst>
          </p:cNvPr>
          <p:cNvSpPr/>
          <p:nvPr/>
        </p:nvSpPr>
        <p:spPr>
          <a:xfrm>
            <a:off x="4000500" y="3594100"/>
            <a:ext cx="33020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window • radius • dead zones • smoothing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ACA739D-EE3B-6E0F-2FAF-E7FB54C83868}"/>
              </a:ext>
            </a:extLst>
          </p:cNvPr>
          <p:cNvSpPr/>
          <p:nvPr/>
        </p:nvSpPr>
        <p:spPr>
          <a:xfrm>
            <a:off x="7493000" y="3594100"/>
            <a:ext cx="22225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050">
                <a:solidFill>
                  <a:srgbClr val="16324F"/>
                </a:solidFill>
                <a:latin typeface="Aptos" panose="020B0004020202020204" pitchFamily="34" charset="0"/>
              </a:rPr>
              <a:t>7 • 0.10 m • 5 mm / 1.5° • 0.8 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50D4D79-55F2-2C4D-6EA9-B95CCE7BD3B3}"/>
              </a:ext>
            </a:extLst>
          </p:cNvPr>
          <p:cNvSpPr/>
          <p:nvPr/>
        </p:nvSpPr>
        <p:spPr>
          <a:xfrm>
            <a:off x="9906000" y="3594100"/>
            <a:ext cx="16510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 b="1">
                <a:solidFill>
                  <a:srgbClr val="16324F"/>
                </a:solidFill>
                <a:latin typeface="Aptos" panose="020B0004020202020204" pitchFamily="34" charset="0"/>
              </a:rPr>
              <a:t>Selected*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8544E62-2CB0-C061-D0CB-C1CA17700923}"/>
              </a:ext>
            </a:extLst>
          </p:cNvPr>
          <p:cNvSpPr/>
          <p:nvPr/>
        </p:nvSpPr>
        <p:spPr>
          <a:xfrm>
            <a:off x="635000" y="4305300"/>
            <a:ext cx="3175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Prior and re-anchor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A851ABA-887C-CCDB-6533-49D7E55F737E}"/>
              </a:ext>
            </a:extLst>
          </p:cNvPr>
          <p:cNvSpPr/>
          <p:nvPr/>
        </p:nvSpPr>
        <p:spPr>
          <a:xfrm>
            <a:off x="4000500" y="4305300"/>
            <a:ext cx="3302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prior • re-anchor floor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E21384B-2752-721C-3818-8A67101FB023}"/>
              </a:ext>
            </a:extLst>
          </p:cNvPr>
          <p:cNvSpPr/>
          <p:nvPr/>
        </p:nvSpPr>
        <p:spPr>
          <a:xfrm>
            <a:off x="7493000" y="4305300"/>
            <a:ext cx="22225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8 s • 20 mm / 6°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B09E24B-73C0-CE65-88A1-786B5411139E}"/>
              </a:ext>
            </a:extLst>
          </p:cNvPr>
          <p:cNvSpPr/>
          <p:nvPr/>
        </p:nvSpPr>
        <p:spPr>
          <a:xfrm>
            <a:off x="9906000" y="4305300"/>
            <a:ext cx="1651000" cy="63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 b="1">
                <a:solidFill>
                  <a:srgbClr val="16324F"/>
                </a:solidFill>
                <a:latin typeface="Aptos" panose="020B0004020202020204" pitchFamily="34" charset="0"/>
              </a:rPr>
              <a:t>Retained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D1DBCED-D5A3-5D3E-3526-45AAFA261FC7}"/>
              </a:ext>
            </a:extLst>
          </p:cNvPr>
          <p:cNvSpPr/>
          <p:nvPr/>
        </p:nvSpPr>
        <p:spPr>
          <a:xfrm>
            <a:off x="635000" y="5016500"/>
            <a:ext cx="31750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Fusion strategy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9A794BF-A1A0-4982-C989-E3FE9A09F4AA}"/>
              </a:ext>
            </a:extLst>
          </p:cNvPr>
          <p:cNvSpPr/>
          <p:nvPr/>
        </p:nvSpPr>
        <p:spPr>
          <a:xfrm>
            <a:off x="4000500" y="5016500"/>
            <a:ext cx="33020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mean • robust • agreement-gated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4F4DD70-3406-57B1-DB00-A1CB1CF4BED2}"/>
              </a:ext>
            </a:extLst>
          </p:cNvPr>
          <p:cNvSpPr/>
          <p:nvPr/>
        </p:nvSpPr>
        <p:spPr>
          <a:xfrm>
            <a:off x="7493000" y="5016500"/>
            <a:ext cx="22225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>
                <a:solidFill>
                  <a:srgbClr val="16324F"/>
                </a:solidFill>
                <a:latin typeface="Aptos" panose="020B0004020202020204" pitchFamily="34" charset="0"/>
              </a:rPr>
              <a:t>mean for all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5CE8E6DF-E796-4D46-3A49-0A12DACD7786}"/>
              </a:ext>
            </a:extLst>
          </p:cNvPr>
          <p:cNvSpPr/>
          <p:nvPr/>
        </p:nvSpPr>
        <p:spPr>
          <a:xfrm>
            <a:off x="9906000" y="5016500"/>
            <a:ext cx="1651000" cy="635000"/>
          </a:xfrm>
          <a:prstGeom prst="roundRect">
            <a:avLst/>
          </a:prstGeom>
          <a:solidFill>
            <a:srgbClr val="E8F0F8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200" b="1">
                <a:solidFill>
                  <a:srgbClr val="E45756"/>
                </a:solidFill>
                <a:latin typeface="Aptos" panose="020B0004020202020204" pitchFamily="34" charset="0"/>
              </a:rPr>
              <a:t>Open issue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2B63EEB-39D5-F852-B53C-CD6D5E97CD28}"/>
              </a:ext>
            </a:extLst>
          </p:cNvPr>
          <p:cNvSpPr/>
          <p:nvPr/>
        </p:nvSpPr>
        <p:spPr>
          <a:xfrm>
            <a:off x="1333500" y="5880100"/>
            <a:ext cx="9525000" cy="533400"/>
          </a:xfrm>
          <a:prstGeom prst="roundRect">
            <a:avLst/>
          </a:prstGeom>
          <a:solidFill>
            <a:srgbClr val="2CB1BC"/>
          </a:solidFill>
          <a:ln w="15875"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Hold-out result: filtering cannot remove stable 2–12 cm disagreement between marker estimates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BB0B41F-B1E5-238B-A772-41C0ED296A3A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*Best supported values for this dataset; marker-fusion reliability remains unresolved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F1BA9B-8A60-4976-553C-08164231063D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2910439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F04A3D-D8BC-7131-82B0-A20EB12EDCEE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ABDC22-B33F-453D-ED06-EA33428799D9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How this prototype supports NaReT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C9AF47-380F-A55D-CBCB-F972E20301D8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991D762-3538-ADB5-2AA7-78B4C3FB6D9A}"/>
              </a:ext>
            </a:extLst>
          </p:cNvPr>
          <p:cNvSpPr/>
          <p:nvPr/>
        </p:nvSpPr>
        <p:spPr>
          <a:xfrm>
            <a:off x="698500" y="1803400"/>
            <a:ext cx="3111500" cy="6096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NARET REQUIREMENT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D8EC804-0246-A93E-3F31-DD47DB043EA6}"/>
              </a:ext>
            </a:extLst>
          </p:cNvPr>
          <p:cNvSpPr/>
          <p:nvPr/>
        </p:nvSpPr>
        <p:spPr>
          <a:xfrm>
            <a:off x="698500" y="2590800"/>
            <a:ext cx="3111500" cy="1498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German–Polish AI/XR learning</a:t>
            </a:r>
            <a:b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through realistic resuscitation scenarios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3799568-5010-96C5-C966-D3BF059D02D6}"/>
              </a:ext>
            </a:extLst>
          </p:cNvPr>
          <p:cNvCxnSpPr/>
          <p:nvPr/>
        </p:nvCxnSpPr>
        <p:spPr>
          <a:xfrm>
            <a:off x="3810000" y="3340100"/>
            <a:ext cx="914400" cy="0"/>
          </a:xfrm>
          <a:prstGeom prst="straightConnector1">
            <a:avLst/>
          </a:prstGeom>
          <a:ln w="381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3703AA0-2540-0EA9-8045-81CBB0A80885}"/>
              </a:ext>
            </a:extLst>
          </p:cNvPr>
          <p:cNvSpPr/>
          <p:nvPr/>
        </p:nvSpPr>
        <p:spPr>
          <a:xfrm>
            <a:off x="4749800" y="1803400"/>
            <a:ext cx="2692400" cy="6096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QUEST PROTOTYPE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FB8A1B0-2A2C-8F9D-4381-F1740EAF01F0}"/>
              </a:ext>
            </a:extLst>
          </p:cNvPr>
          <p:cNvSpPr/>
          <p:nvPr/>
        </p:nvSpPr>
        <p:spPr>
          <a:xfrm>
            <a:off x="4749800" y="2590800"/>
            <a:ext cx="2692400" cy="1498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Place and stabilize the virtual patient</a:t>
            </a:r>
            <a:b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on the real CPR mannequin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5682CCE-9901-F909-0079-24D4DC18A04D}"/>
              </a:ext>
            </a:extLst>
          </p:cNvPr>
          <p:cNvCxnSpPr/>
          <p:nvPr/>
        </p:nvCxnSpPr>
        <p:spPr>
          <a:xfrm>
            <a:off x="7442200" y="3340100"/>
            <a:ext cx="914400" cy="0"/>
          </a:xfrm>
          <a:prstGeom prst="straightConnector1">
            <a:avLst/>
          </a:prstGeom>
          <a:ln w="381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7959713-B093-E5E6-5FD7-22593CE6AAFF}"/>
              </a:ext>
            </a:extLst>
          </p:cNvPr>
          <p:cNvSpPr/>
          <p:nvPr/>
        </p:nvSpPr>
        <p:spPr>
          <a:xfrm>
            <a:off x="8382000" y="1803400"/>
            <a:ext cx="3111500" cy="6096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TECHNICAL METHOD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7E78C4F-7AAB-2DE9-8BF3-2A0D62F4611F}"/>
              </a:ext>
            </a:extLst>
          </p:cNvPr>
          <p:cNvSpPr/>
          <p:nvPr/>
        </p:nvSpPr>
        <p:spPr>
          <a:xfrm>
            <a:off x="8382000" y="2590800"/>
            <a:ext cx="3111500" cy="1498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ArUco markers, calibration,</a:t>
            </a:r>
            <a:b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700" b="1">
                <a:solidFill>
                  <a:srgbClr val="16324F"/>
                </a:solidFill>
                <a:latin typeface="Aptos" panose="020B0004020202020204" pitchFamily="34" charset="0"/>
              </a:rPr>
              <a:t>pose fusion and filtering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5904841-7870-6962-E0CF-82C1A6E928E0}"/>
              </a:ext>
            </a:extLst>
          </p:cNvPr>
          <p:cNvSpPr/>
          <p:nvPr/>
        </p:nvSpPr>
        <p:spPr>
          <a:xfrm>
            <a:off x="1193800" y="4762500"/>
            <a:ext cx="9804400" cy="787400"/>
          </a:xfrm>
          <a:prstGeom prst="roundRect">
            <a:avLst/>
          </a:prstGeom>
          <a:solidFill>
            <a:srgbClr val="FFF2E1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202C37"/>
                </a:solidFill>
                <a:latin typeface="Aptos" panose="020B0004020202020204" pitchFamily="34" charset="0"/>
              </a:rPr>
              <a:t>Important: NaReT requires a reliable XR learning experience. It does not prescribe ArUco markers or a particular barcode size.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26E1BA-D9B8-CAAA-09C3-5EE081D6E680}"/>
              </a:ext>
            </a:extLst>
          </p:cNvPr>
          <p:cNvSpPr txBox="1"/>
          <p:nvPr/>
        </p:nvSpPr>
        <p:spPr>
          <a:xfrm>
            <a:off x="1295400" y="5816600"/>
            <a:ext cx="9588500" cy="261610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700" b="1">
                <a:solidFill>
                  <a:srgbClr val="102A43"/>
                </a:solidFill>
                <a:latin typeface="Aptos" panose="020B0004020202020204" pitchFamily="34" charset="0"/>
              </a:rPr>
              <a:t>Project method: concept → prototype → testing → evaluation → iterative improvement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9107F28-0A85-B8EE-F02B-81F184791F06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Sources: NaReT JEMS A1.5 • About the project / O projekcie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648CAC-39FC-8738-2488-ACD723D8E5C3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40754844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9F5EBC-9111-976F-7D04-35ED5FFB0395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864902-746C-4BF7-8D5D-080BCD1BEB5A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What to do next — in the correct order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650C60-CB38-B1DD-DB77-DE01421009B7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B8DFB1A-DA11-09ED-0956-D94283764C09}"/>
              </a:ext>
            </a:extLst>
          </p:cNvPr>
          <p:cNvSpPr/>
          <p:nvPr/>
        </p:nvSpPr>
        <p:spPr>
          <a:xfrm>
            <a:off x="838200" y="1790700"/>
            <a:ext cx="660400" cy="660400"/>
          </a:xfrm>
          <a:prstGeom prst="ellipse">
            <a:avLst/>
          </a:prstGeom>
          <a:solidFill>
            <a:srgbClr val="102A43"/>
          </a:solidFill>
          <a:ln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177336-6E5E-9A6C-22B4-72C05E24CD4B}"/>
              </a:ext>
            </a:extLst>
          </p:cNvPr>
          <p:cNvSpPr txBox="1"/>
          <p:nvPr/>
        </p:nvSpPr>
        <p:spPr>
          <a:xfrm>
            <a:off x="1727200" y="1701800"/>
            <a:ext cx="2857500" cy="24622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600" b="1">
                <a:solidFill>
                  <a:srgbClr val="102A43"/>
                </a:solidFill>
                <a:latin typeface="Aptos" panose="020B0004020202020204" pitchFamily="34" charset="0"/>
              </a:rPr>
              <a:t>ARCHIVE INSTALLED BUILD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340707-F94E-0569-B554-AC75E2793050}"/>
              </a:ext>
            </a:extLst>
          </p:cNvPr>
          <p:cNvSpPr txBox="1"/>
          <p:nvPr/>
        </p:nvSpPr>
        <p:spPr>
          <a:xfrm>
            <a:off x="4635500" y="1701800"/>
            <a:ext cx="66040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Keep the 5 September APK, exact filter values and previous calibration as the reproducible baseline.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36F5E6B-36F7-836E-ECB6-21F93180F13F}"/>
              </a:ext>
            </a:extLst>
          </p:cNvPr>
          <p:cNvCxnSpPr/>
          <p:nvPr/>
        </p:nvCxnSpPr>
        <p:spPr>
          <a:xfrm>
            <a:off x="1168400" y="2451100"/>
            <a:ext cx="0" cy="27940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114F36A5-82CF-F1FB-5525-0E018C0B177B}"/>
              </a:ext>
            </a:extLst>
          </p:cNvPr>
          <p:cNvSpPr/>
          <p:nvPr/>
        </p:nvSpPr>
        <p:spPr>
          <a:xfrm>
            <a:off x="838200" y="2908300"/>
            <a:ext cx="660400" cy="6604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26B066-2340-4B83-1371-BA89B530F539}"/>
              </a:ext>
            </a:extLst>
          </p:cNvPr>
          <p:cNvSpPr txBox="1"/>
          <p:nvPr/>
        </p:nvSpPr>
        <p:spPr>
          <a:xfrm>
            <a:off x="1727200" y="2819400"/>
            <a:ext cx="2857500" cy="24622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600" b="1">
                <a:solidFill>
                  <a:srgbClr val="1976D2"/>
                </a:solidFill>
                <a:latin typeface="Aptos" panose="020B0004020202020204" pitchFamily="34" charset="0"/>
              </a:rPr>
              <a:t>FIX MARKER AGREEMENT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8353BA-34D4-7D39-5A66-917788684F43}"/>
              </a:ext>
            </a:extLst>
          </p:cNvPr>
          <p:cNvSpPr txBox="1"/>
          <p:nvPr/>
        </p:nvSpPr>
        <p:spPr>
          <a:xfrm>
            <a:off x="4635500" y="2819400"/>
            <a:ext cx="66040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Detect disagreeing common-pose estimates before fusion; do not blindly mean-average a bad marker.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1911C4C-DBEC-8D2B-7E02-07E9060E2432}"/>
              </a:ext>
            </a:extLst>
          </p:cNvPr>
          <p:cNvCxnSpPr/>
          <p:nvPr/>
        </p:nvCxnSpPr>
        <p:spPr>
          <a:xfrm>
            <a:off x="1168400" y="3568700"/>
            <a:ext cx="0" cy="27940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05E300A9-93AC-4697-8358-C925E7786337}"/>
              </a:ext>
            </a:extLst>
          </p:cNvPr>
          <p:cNvSpPr/>
          <p:nvPr/>
        </p:nvSpPr>
        <p:spPr>
          <a:xfrm>
            <a:off x="838200" y="4025900"/>
            <a:ext cx="660400" cy="660400"/>
          </a:xfrm>
          <a:prstGeom prst="ellipse">
            <a:avLst/>
          </a:prstGeom>
          <a:solidFill>
            <a:srgbClr val="7152AD"/>
          </a:solidFill>
          <a:ln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83B6FA-FE9A-5647-2BA4-6DF9226559BC}"/>
              </a:ext>
            </a:extLst>
          </p:cNvPr>
          <p:cNvSpPr txBox="1"/>
          <p:nvPr/>
        </p:nvSpPr>
        <p:spPr>
          <a:xfrm>
            <a:off x="1727200" y="3937000"/>
            <a:ext cx="2857500" cy="24622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600" b="1">
                <a:solidFill>
                  <a:srgbClr val="7152AD"/>
                </a:solidFill>
                <a:latin typeface="Aptos" panose="020B0004020202020204" pitchFamily="34" charset="0"/>
              </a:rPr>
              <a:t>RE-CHECK CALIBRATION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6B34C0-C876-E7D7-7937-F073E486BABA}"/>
              </a:ext>
            </a:extLst>
          </p:cNvPr>
          <p:cNvSpPr txBox="1"/>
          <p:nvPr/>
        </p:nvSpPr>
        <p:spPr>
          <a:xfrm>
            <a:off x="4635500" y="3937000"/>
            <a:ext cx="66040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Use tape-consistent marker geometry and test that changing headset viewpoint does not move the mannequin.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3440C29-0555-47F7-B652-1334ECC0B9CF}"/>
              </a:ext>
            </a:extLst>
          </p:cNvPr>
          <p:cNvCxnSpPr/>
          <p:nvPr/>
        </p:nvCxnSpPr>
        <p:spPr>
          <a:xfrm>
            <a:off x="1168400" y="4686300"/>
            <a:ext cx="0" cy="27940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C6A7F07F-7064-A949-E7A0-4EEB34BEA962}"/>
              </a:ext>
            </a:extLst>
          </p:cNvPr>
          <p:cNvSpPr/>
          <p:nvPr/>
        </p:nvSpPr>
        <p:spPr>
          <a:xfrm>
            <a:off x="838200" y="5143500"/>
            <a:ext cx="660400" cy="6604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E36D3F-0109-C493-1884-550EA11E4882}"/>
              </a:ext>
            </a:extLst>
          </p:cNvPr>
          <p:cNvSpPr txBox="1"/>
          <p:nvPr/>
        </p:nvSpPr>
        <p:spPr>
          <a:xfrm>
            <a:off x="1727200" y="5054600"/>
            <a:ext cx="2857500" cy="24622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600" b="1">
                <a:solidFill>
                  <a:srgbClr val="27AE60"/>
                </a:solidFill>
                <a:latin typeface="Aptos" panose="020B0004020202020204" pitchFamily="34" charset="0"/>
              </a:rPr>
              <a:t>VALIDATE FULL CPR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0B2793-11F8-40D5-A8D3-297E7AE17874}"/>
              </a:ext>
            </a:extLst>
          </p:cNvPr>
          <p:cNvSpPr txBox="1"/>
          <p:nvPr/>
        </p:nvSpPr>
        <p:spPr>
          <a:xfrm>
            <a:off x="4635500" y="5054600"/>
            <a:ext cx="66040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Repeat hiding, compression and complete BLS scenarios after fusion is corrected.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4FB9424-302E-8643-2992-144EB9452248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The installed filter is the baseline; marker agreement is now the highest-priority tracking problem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612DE9-1405-5EB0-053E-3A416B45486F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1547673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F83B6C-7609-850A-2EA9-D208EF53B98B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C6EFB6-94D0-EE68-4CA0-49ADC1D215D4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Small-marker experiment — change one thing at a time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D198AB-0E7F-A489-A2E6-CE34D17C7F62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E869749-7024-A0CA-A9C5-91845858AC47}"/>
              </a:ext>
            </a:extLst>
          </p:cNvPr>
          <p:cNvSpPr/>
          <p:nvPr/>
        </p:nvSpPr>
        <p:spPr>
          <a:xfrm>
            <a:off x="952500" y="1841500"/>
            <a:ext cx="2794000" cy="9144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2500" b="1">
                <a:solidFill>
                  <a:srgbClr val="FFFFFF"/>
                </a:solidFill>
                <a:latin typeface="Aptos" panose="020B0004020202020204" pitchFamily="34" charset="0"/>
              </a:rPr>
              <a:t>10 cm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60808F-1779-9AD6-7BF0-6C399F71BF09}"/>
              </a:ext>
            </a:extLst>
          </p:cNvPr>
          <p:cNvSpPr txBox="1"/>
          <p:nvPr/>
        </p:nvSpPr>
        <p:spPr>
          <a:xfrm>
            <a:off x="952500" y="2882900"/>
            <a:ext cx="2794000" cy="20005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300" b="1">
                <a:solidFill>
                  <a:srgbClr val="27AE60"/>
                </a:solidFill>
                <a:latin typeface="Aptos" panose="020B0004020202020204" pitchFamily="34" charset="0"/>
              </a:rPr>
              <a:t>CONTROL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826FFAA-49D1-BFC9-C9B5-1A6EE4EE24D1}"/>
              </a:ext>
            </a:extLst>
          </p:cNvPr>
          <p:cNvSpPr/>
          <p:nvPr/>
        </p:nvSpPr>
        <p:spPr>
          <a:xfrm>
            <a:off x="4686300" y="1841500"/>
            <a:ext cx="2794000" cy="9144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2500" b="1">
                <a:solidFill>
                  <a:srgbClr val="FFFFFF"/>
                </a:solidFill>
                <a:latin typeface="Aptos" panose="020B0004020202020204" pitchFamily="34" charset="0"/>
              </a:rPr>
              <a:t>7.5 cm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7F1282-27C5-BDE0-A72A-A70C796B376B}"/>
              </a:ext>
            </a:extLst>
          </p:cNvPr>
          <p:cNvSpPr txBox="1"/>
          <p:nvPr/>
        </p:nvSpPr>
        <p:spPr>
          <a:xfrm>
            <a:off x="4686300" y="2882900"/>
            <a:ext cx="2794000" cy="20005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300" b="1">
                <a:solidFill>
                  <a:srgbClr val="1976D2"/>
                </a:solidFill>
                <a:latin typeface="Aptos" panose="020B0004020202020204" pitchFamily="34" charset="0"/>
              </a:rPr>
              <a:t>FIRST CANDIDATE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F215B2C-8F76-294B-609B-BCEE581B264D}"/>
              </a:ext>
            </a:extLst>
          </p:cNvPr>
          <p:cNvSpPr/>
          <p:nvPr/>
        </p:nvSpPr>
        <p:spPr>
          <a:xfrm>
            <a:off x="8420100" y="1841500"/>
            <a:ext cx="2794000" cy="914400"/>
          </a:xfrm>
          <a:prstGeom prst="roundRect">
            <a:avLst/>
          </a:prstGeom>
          <a:solidFill>
            <a:srgbClr val="F59E0B"/>
          </a:solidFill>
          <a:ln w="15875">
            <a:solidFill>
              <a:srgbClr val="F59E0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2500" b="1">
                <a:solidFill>
                  <a:srgbClr val="FFFFFF"/>
                </a:solidFill>
                <a:latin typeface="Aptos" panose="020B0004020202020204" pitchFamily="34" charset="0"/>
              </a:rPr>
              <a:t>5 cm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A61ABF-1147-4B5B-872E-CA9024ECB93E}"/>
              </a:ext>
            </a:extLst>
          </p:cNvPr>
          <p:cNvSpPr txBox="1"/>
          <p:nvPr/>
        </p:nvSpPr>
        <p:spPr>
          <a:xfrm>
            <a:off x="8420100" y="2882900"/>
            <a:ext cx="2794000" cy="20005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300" b="1">
                <a:solidFill>
                  <a:srgbClr val="F59E0B"/>
                </a:solidFill>
                <a:latin typeface="Aptos" panose="020B0004020202020204" pitchFamily="34" charset="0"/>
              </a:rPr>
              <a:t>SMALLEST CANDIDATE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0AE3D7-8A48-A2B6-3A90-5018AB0A3335}"/>
              </a:ext>
            </a:extLst>
          </p:cNvPr>
          <p:cNvSpPr txBox="1"/>
          <p:nvPr/>
        </p:nvSpPr>
        <p:spPr>
          <a:xfrm>
            <a:off x="762000" y="3632200"/>
            <a:ext cx="2286000" cy="30777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000" b="1">
                <a:solidFill>
                  <a:srgbClr val="102A43"/>
                </a:solidFill>
                <a:latin typeface="Aptos" panose="020B0004020202020204" pitchFamily="34" charset="0"/>
              </a:rPr>
              <a:t>For every size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C4B562C-BD37-2A91-C2BE-1D522288DD61}"/>
              </a:ext>
            </a:extLst>
          </p:cNvPr>
          <p:cNvSpPr/>
          <p:nvPr/>
        </p:nvSpPr>
        <p:spPr>
          <a:xfrm>
            <a:off x="762000" y="4191000"/>
            <a:ext cx="2413000" cy="1041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Print exact black-square size</a:t>
            </a:r>
            <a:b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+ clear white border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A94BACC-E38B-5A8E-0770-A921654B9080}"/>
              </a:ext>
            </a:extLst>
          </p:cNvPr>
          <p:cNvCxnSpPr/>
          <p:nvPr/>
        </p:nvCxnSpPr>
        <p:spPr>
          <a:xfrm>
            <a:off x="3175000" y="4711700"/>
            <a:ext cx="4064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B157BDC-A88F-4005-F07F-E78126DC61DE}"/>
              </a:ext>
            </a:extLst>
          </p:cNvPr>
          <p:cNvSpPr/>
          <p:nvPr/>
        </p:nvSpPr>
        <p:spPr>
          <a:xfrm>
            <a:off x="3606800" y="4191000"/>
            <a:ext cx="2413000" cy="1041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Set aruco_patch_size</a:t>
            </a:r>
            <a:b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+ recalibrate mounting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44AD995-AB49-6E4A-34A8-90CE2CF148E0}"/>
              </a:ext>
            </a:extLst>
          </p:cNvPr>
          <p:cNvCxnSpPr/>
          <p:nvPr/>
        </p:nvCxnSpPr>
        <p:spPr>
          <a:xfrm>
            <a:off x="6019800" y="4711700"/>
            <a:ext cx="4064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5412F6F-D038-D789-7F1E-28321C73E930}"/>
              </a:ext>
            </a:extLst>
          </p:cNvPr>
          <p:cNvSpPr/>
          <p:nvPr/>
        </p:nvSpPr>
        <p:spPr>
          <a:xfrm>
            <a:off x="6451600" y="4191000"/>
            <a:ext cx="2413000" cy="1041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Record labelled</a:t>
            </a:r>
            <a:b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CPR-view tests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8EFE6B2-C989-7312-9B69-5D74E3234E01}"/>
              </a:ext>
            </a:extLst>
          </p:cNvPr>
          <p:cNvCxnSpPr/>
          <p:nvPr/>
        </p:nvCxnSpPr>
        <p:spPr>
          <a:xfrm>
            <a:off x="8864600" y="4711700"/>
            <a:ext cx="4064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8C01D7A-B455-1AE4-E4A9-5635143E4CDD}"/>
              </a:ext>
            </a:extLst>
          </p:cNvPr>
          <p:cNvSpPr/>
          <p:nvPr/>
        </p:nvSpPr>
        <p:spPr>
          <a:xfrm>
            <a:off x="9296400" y="4191000"/>
            <a:ext cx="2159000" cy="1041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Compare reliability</a:t>
            </a:r>
            <a:b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400" b="1">
                <a:solidFill>
                  <a:srgbClr val="16324F"/>
                </a:solidFill>
                <a:latin typeface="Aptos" panose="020B0004020202020204" pitchFamily="34" charset="0"/>
              </a:rPr>
              <a:t>and alignment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134A50-342B-D9AD-6F2F-1B0BF518F0C8}"/>
              </a:ext>
            </a:extLst>
          </p:cNvPr>
          <p:cNvSpPr txBox="1"/>
          <p:nvPr/>
        </p:nvSpPr>
        <p:spPr>
          <a:xfrm>
            <a:off x="825500" y="5715000"/>
            <a:ext cx="10541000" cy="230832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500" b="1">
                <a:solidFill>
                  <a:srgbClr val="102A43"/>
                </a:solidFill>
                <a:latin typeface="Aptos" panose="020B0004020202020204" pitchFamily="34" charset="0"/>
              </a:rPr>
              <a:t>Measure: detection rate • longest loss • position/rotation wobble • alignment error • recovery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AB9FC3-864E-A259-101B-44F75A25A8EF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Keep dictionary, IDs, resolution and filter fixed while marker size changes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4C169C-84D8-8EB6-239D-A0EB6C147191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8647180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C535F7-9C62-0FD0-808A-651556372E21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EE2579-63D5-FF5F-0CEB-ED575C1FB3E2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The complete CPR acceptance test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24874E-E67E-8C1A-F5D3-D2694E559A7F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37704DD-9627-93FF-7722-2479E96D422C}"/>
              </a:ext>
            </a:extLst>
          </p:cNvPr>
          <p:cNvSpPr/>
          <p:nvPr/>
        </p:nvSpPr>
        <p:spPr>
          <a:xfrm>
            <a:off x="571500" y="1968500"/>
            <a:ext cx="609600" cy="6096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6C76D12-12A4-452F-5514-DF367C88D133}"/>
              </a:ext>
            </a:extLst>
          </p:cNvPr>
          <p:cNvSpPr/>
          <p:nvPr/>
        </p:nvSpPr>
        <p:spPr>
          <a:xfrm>
            <a:off x="1308100" y="1841500"/>
            <a:ext cx="1778000" cy="863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16324F"/>
                </a:solidFill>
                <a:latin typeface="Aptos" panose="020B0004020202020204" pitchFamily="34" charset="0"/>
              </a:rPr>
              <a:t>Safety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28AE575-08E3-752F-D8E2-97D0D8BC727E}"/>
              </a:ext>
            </a:extLst>
          </p:cNvPr>
          <p:cNvCxnSpPr/>
          <p:nvPr/>
        </p:nvCxnSpPr>
        <p:spPr>
          <a:xfrm>
            <a:off x="3086100" y="2273300"/>
            <a:ext cx="3048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819B79B2-2243-84AF-E4D3-B655FDA6D84A}"/>
              </a:ext>
            </a:extLst>
          </p:cNvPr>
          <p:cNvSpPr/>
          <p:nvPr/>
        </p:nvSpPr>
        <p:spPr>
          <a:xfrm>
            <a:off x="3467100" y="1968500"/>
            <a:ext cx="609600" cy="6096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534E9D1-1ECE-BE0D-790E-FAEC5072A482}"/>
              </a:ext>
            </a:extLst>
          </p:cNvPr>
          <p:cNvSpPr/>
          <p:nvPr/>
        </p:nvSpPr>
        <p:spPr>
          <a:xfrm>
            <a:off x="4203700" y="1841500"/>
            <a:ext cx="1778000" cy="863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16324F"/>
                </a:solidFill>
                <a:latin typeface="Aptos" panose="020B0004020202020204" pitchFamily="34" charset="0"/>
              </a:rPr>
              <a:t>Response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62426BE-19B7-09AD-C029-D17DFDBFFAF5}"/>
              </a:ext>
            </a:extLst>
          </p:cNvPr>
          <p:cNvCxnSpPr/>
          <p:nvPr/>
        </p:nvCxnSpPr>
        <p:spPr>
          <a:xfrm>
            <a:off x="5981700" y="2273300"/>
            <a:ext cx="3048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89361CC4-8460-1D15-870E-43A011D102E3}"/>
              </a:ext>
            </a:extLst>
          </p:cNvPr>
          <p:cNvSpPr/>
          <p:nvPr/>
        </p:nvSpPr>
        <p:spPr>
          <a:xfrm>
            <a:off x="6362700" y="1968500"/>
            <a:ext cx="609600" cy="6096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D772684-041C-EB24-DCD9-51452D4733F9}"/>
              </a:ext>
            </a:extLst>
          </p:cNvPr>
          <p:cNvSpPr/>
          <p:nvPr/>
        </p:nvSpPr>
        <p:spPr>
          <a:xfrm>
            <a:off x="7099300" y="1841500"/>
            <a:ext cx="1778000" cy="863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16324F"/>
                </a:solidFill>
                <a:latin typeface="Aptos" panose="020B0004020202020204" pitchFamily="34" charset="0"/>
              </a:rPr>
              <a:t>Call 112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A399AC0-4239-0967-60A0-FF4D5F89361A}"/>
              </a:ext>
            </a:extLst>
          </p:cNvPr>
          <p:cNvCxnSpPr/>
          <p:nvPr/>
        </p:nvCxnSpPr>
        <p:spPr>
          <a:xfrm>
            <a:off x="8877300" y="2273300"/>
            <a:ext cx="3048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8ACEFCC8-353D-5583-772E-FBC851F79DC0}"/>
              </a:ext>
            </a:extLst>
          </p:cNvPr>
          <p:cNvSpPr/>
          <p:nvPr/>
        </p:nvSpPr>
        <p:spPr>
          <a:xfrm>
            <a:off x="9258300" y="1968500"/>
            <a:ext cx="609600" cy="609600"/>
          </a:xfrm>
          <a:prstGeom prst="ellipse">
            <a:avLst/>
          </a:prstGeom>
          <a:solidFill>
            <a:srgbClr val="1976D2"/>
          </a:solidFill>
          <a:ln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CF208E1-A43F-8760-A6BA-C0AE5E4D7098}"/>
              </a:ext>
            </a:extLst>
          </p:cNvPr>
          <p:cNvSpPr/>
          <p:nvPr/>
        </p:nvSpPr>
        <p:spPr>
          <a:xfrm>
            <a:off x="9994900" y="1841500"/>
            <a:ext cx="1778000" cy="863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16324F"/>
                </a:solidFill>
                <a:latin typeface="Aptos" panose="020B0004020202020204" pitchFamily="34" charset="0"/>
              </a:rPr>
              <a:t>Breathing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863C3BC-2445-CF56-8BBD-EEEDC90EF80C}"/>
              </a:ext>
            </a:extLst>
          </p:cNvPr>
          <p:cNvSpPr/>
          <p:nvPr/>
        </p:nvSpPr>
        <p:spPr>
          <a:xfrm>
            <a:off x="571500" y="3644900"/>
            <a:ext cx="609600" cy="6096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215FBA7-5AF1-BD01-2D7D-38ED3A8125C4}"/>
              </a:ext>
            </a:extLst>
          </p:cNvPr>
          <p:cNvSpPr/>
          <p:nvPr/>
        </p:nvSpPr>
        <p:spPr>
          <a:xfrm>
            <a:off x="1308100" y="3517900"/>
            <a:ext cx="1778000" cy="863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16324F"/>
                </a:solidFill>
                <a:latin typeface="Aptos" panose="020B0004020202020204" pitchFamily="34" charset="0"/>
              </a:rPr>
              <a:t>Compress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73437FC-2DF0-C5E8-0476-CBE333227CF4}"/>
              </a:ext>
            </a:extLst>
          </p:cNvPr>
          <p:cNvCxnSpPr/>
          <p:nvPr/>
        </p:nvCxnSpPr>
        <p:spPr>
          <a:xfrm>
            <a:off x="3086100" y="3949700"/>
            <a:ext cx="3048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F4EEF9E2-88F8-E792-A6A5-ED911FD02E86}"/>
              </a:ext>
            </a:extLst>
          </p:cNvPr>
          <p:cNvSpPr/>
          <p:nvPr/>
        </p:nvSpPr>
        <p:spPr>
          <a:xfrm>
            <a:off x="3467100" y="3644900"/>
            <a:ext cx="609600" cy="6096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177A2CBC-5591-F12A-3ED4-6EDA25FEA41A}"/>
              </a:ext>
            </a:extLst>
          </p:cNvPr>
          <p:cNvSpPr/>
          <p:nvPr/>
        </p:nvSpPr>
        <p:spPr>
          <a:xfrm>
            <a:off x="4203700" y="3517900"/>
            <a:ext cx="1778000" cy="863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16324F"/>
                </a:solidFill>
                <a:latin typeface="Aptos" panose="020B0004020202020204" pitchFamily="34" charset="0"/>
              </a:rPr>
              <a:t>AED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2D38697-27DA-FBFE-45F1-3E63B826F23D}"/>
              </a:ext>
            </a:extLst>
          </p:cNvPr>
          <p:cNvCxnSpPr/>
          <p:nvPr/>
        </p:nvCxnSpPr>
        <p:spPr>
          <a:xfrm>
            <a:off x="5981700" y="3949700"/>
            <a:ext cx="3048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4CA9BEC3-532B-BFEA-321F-CDA89C3068C6}"/>
              </a:ext>
            </a:extLst>
          </p:cNvPr>
          <p:cNvSpPr/>
          <p:nvPr/>
        </p:nvSpPr>
        <p:spPr>
          <a:xfrm>
            <a:off x="6362700" y="3644900"/>
            <a:ext cx="609600" cy="6096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7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BB92A85-2382-1FE1-7D11-EF630873D31B}"/>
              </a:ext>
            </a:extLst>
          </p:cNvPr>
          <p:cNvSpPr/>
          <p:nvPr/>
        </p:nvSpPr>
        <p:spPr>
          <a:xfrm>
            <a:off x="7099300" y="3517900"/>
            <a:ext cx="1778000" cy="863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16324F"/>
                </a:solidFill>
                <a:latin typeface="Aptos" panose="020B0004020202020204" pitchFamily="34" charset="0"/>
              </a:rPr>
              <a:t>Resume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68806B6-458A-4506-ECEE-98FF800E618F}"/>
              </a:ext>
            </a:extLst>
          </p:cNvPr>
          <p:cNvCxnSpPr/>
          <p:nvPr/>
        </p:nvCxnSpPr>
        <p:spPr>
          <a:xfrm>
            <a:off x="8877300" y="3949700"/>
            <a:ext cx="304800" cy="0"/>
          </a:xfrm>
          <a:prstGeom prst="straightConnector1">
            <a:avLst/>
          </a:prstGeom>
          <a:ln w="25400">
            <a:solidFill>
              <a:srgbClr val="5C7084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CCB4C292-2A57-0375-ACFB-CB1AE952134A}"/>
              </a:ext>
            </a:extLst>
          </p:cNvPr>
          <p:cNvSpPr/>
          <p:nvPr/>
        </p:nvSpPr>
        <p:spPr>
          <a:xfrm>
            <a:off x="9258300" y="3644900"/>
            <a:ext cx="609600" cy="609600"/>
          </a:xfrm>
          <a:prstGeom prst="ellipse">
            <a:avLst/>
          </a:prstGeom>
          <a:solidFill>
            <a:srgbClr val="27AE60"/>
          </a:solidFill>
          <a:ln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600" b="1">
                <a:solidFill>
                  <a:srgbClr val="FFFFFF"/>
                </a:solidFill>
                <a:latin typeface="Aptos" panose="020B0004020202020204" pitchFamily="34" charset="0"/>
              </a:rPr>
              <a:t>8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6BAD980-25B3-7E1A-F37E-406BFCAA2C6F}"/>
              </a:ext>
            </a:extLst>
          </p:cNvPr>
          <p:cNvSpPr/>
          <p:nvPr/>
        </p:nvSpPr>
        <p:spPr>
          <a:xfrm>
            <a:off x="9994900" y="3517900"/>
            <a:ext cx="1778000" cy="863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600" b="1">
                <a:solidFill>
                  <a:srgbClr val="16324F"/>
                </a:solidFill>
                <a:latin typeface="Aptos" panose="020B0004020202020204" pitchFamily="34" charset="0"/>
              </a:rPr>
              <a:t>Handover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7ADB8AB8-8269-1C2B-A91A-057131A3D0AD}"/>
              </a:ext>
            </a:extLst>
          </p:cNvPr>
          <p:cNvSpPr/>
          <p:nvPr/>
        </p:nvSpPr>
        <p:spPr>
          <a:xfrm>
            <a:off x="2286000" y="5029200"/>
            <a:ext cx="7620000" cy="609600"/>
          </a:xfrm>
          <a:prstGeom prst="roundRect">
            <a:avLst/>
          </a:prstGeom>
          <a:solidFill>
            <a:srgbClr val="102A43"/>
          </a:solidFill>
          <a:ln w="15875">
            <a:solidFill>
              <a:srgbClr val="102A4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b="1">
                <a:solidFill>
                  <a:srgbClr val="FFFFFF"/>
                </a:solidFill>
                <a:latin typeface="Aptos" panose="020B0004020202020204" pitchFamily="34" charset="0"/>
              </a:rPr>
              <a:t>Quest tracking must remain usable throughout the sequence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920B1F-B28E-741D-4C5F-FD7A0CE9048C}"/>
              </a:ext>
            </a:extLst>
          </p:cNvPr>
          <p:cNvSpPr txBox="1"/>
          <p:nvPr/>
        </p:nvSpPr>
        <p:spPr>
          <a:xfrm>
            <a:off x="825500" y="5918200"/>
            <a:ext cx="10541000" cy="461665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ctr"/>
            <a:r>
              <a:rPr lang="en-GB" sz="1500" b="1">
                <a:solidFill>
                  <a:srgbClr val="16324F"/>
                </a:solidFill>
                <a:latin typeface="Aptos" panose="020B0004020202020204" pitchFamily="34" charset="0"/>
              </a:rPr>
              <a:t>Acceptance: no random fly-in • correct orientation • acceptable wobble • loss recovery • real mannequin movement retained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BA8AB7F-C57E-4A38-3F06-43813EEED092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Scenario 1 // Lernplattform • medical content must be approved by the project medical partners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5D7431F-DAED-BB22-5EBE-BC76834C4873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5770316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3553AF2-3462-DB9F-CEA4-43C4628C75D6}"/>
              </a:ext>
            </a:extLst>
          </p:cNvPr>
          <p:cNvSpPr txBox="1"/>
          <p:nvPr/>
        </p:nvSpPr>
        <p:spPr>
          <a:xfrm>
            <a:off x="533400" y="279400"/>
            <a:ext cx="7620000" cy="153888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1000" b="1">
                <a:solidFill>
                  <a:srgbClr val="1976D2"/>
                </a:solidFill>
                <a:latin typeface="Aptos" panose="020B0004020202020204" pitchFamily="34" charset="0"/>
              </a:rPr>
              <a:t>CURRENT QUEST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187BFA-A035-3541-37B7-6EC2C595C02A}"/>
              </a:ext>
            </a:extLst>
          </p:cNvPr>
          <p:cNvSpPr txBox="1"/>
          <p:nvPr/>
        </p:nvSpPr>
        <p:spPr>
          <a:xfrm>
            <a:off x="533400" y="609600"/>
            <a:ext cx="10985500" cy="430887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2800" b="1">
                <a:solidFill>
                  <a:srgbClr val="102A43"/>
                </a:solidFill>
                <a:latin typeface="Aptos" panose="020B0004020202020204" pitchFamily="34" charset="0"/>
              </a:rPr>
              <a:t>From technical prototype to NaReT deliverable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6A76EC4-88FC-DE6A-8898-FD0D5232FF79}"/>
              </a:ext>
            </a:extLst>
          </p:cNvPr>
          <p:cNvSpPr/>
          <p:nvPr/>
        </p:nvSpPr>
        <p:spPr>
          <a:xfrm>
            <a:off x="533400" y="1282700"/>
            <a:ext cx="11125200" cy="38100"/>
          </a:xfrm>
          <a:prstGeom prst="rect">
            <a:avLst/>
          </a:prstGeom>
          <a:solidFill>
            <a:srgbClr val="2CB1B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7F4FB24-6F32-AE1E-A1A1-799AC2DBF0A0}"/>
              </a:ext>
            </a:extLst>
          </p:cNvPr>
          <p:cNvSpPr/>
          <p:nvPr/>
        </p:nvSpPr>
        <p:spPr>
          <a:xfrm>
            <a:off x="635000" y="1828800"/>
            <a:ext cx="3365500" cy="609600"/>
          </a:xfrm>
          <a:prstGeom prst="roundRect">
            <a:avLst/>
          </a:prstGeom>
          <a:solidFill>
            <a:srgbClr val="1976D2"/>
          </a:solidFill>
          <a:ln w="15875">
            <a:solidFill>
              <a:srgbClr val="1976D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CONTENT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0B5BE4A-8FF1-DA0A-6F39-839DA7FD2A60}"/>
              </a:ext>
            </a:extLst>
          </p:cNvPr>
          <p:cNvSpPr/>
          <p:nvPr/>
        </p:nvSpPr>
        <p:spPr>
          <a:xfrm>
            <a:off x="635000" y="2590800"/>
            <a:ext cx="3365500" cy="23495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German + Polish</a:t>
            </a:r>
            <a:b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Productive vs receptive phrases</a:t>
            </a:r>
            <a:b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Audio + pronunciation</a:t>
            </a:r>
            <a:b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AED and Situation B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432C68D-2B31-336F-DD43-28B56F6E2A6F}"/>
              </a:ext>
            </a:extLst>
          </p:cNvPr>
          <p:cNvSpPr/>
          <p:nvPr/>
        </p:nvSpPr>
        <p:spPr>
          <a:xfrm>
            <a:off x="4483100" y="1828800"/>
            <a:ext cx="3365500" cy="609600"/>
          </a:xfrm>
          <a:prstGeom prst="roundRect">
            <a:avLst/>
          </a:prstGeom>
          <a:solidFill>
            <a:srgbClr val="7152AD"/>
          </a:solidFill>
          <a:ln w="15875">
            <a:solidFill>
              <a:srgbClr val="7152A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QUALITY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297795C-4200-4ACC-FF21-D7DB3CB2182B}"/>
              </a:ext>
            </a:extLst>
          </p:cNvPr>
          <p:cNvSpPr/>
          <p:nvPr/>
        </p:nvSpPr>
        <p:spPr>
          <a:xfrm>
            <a:off x="4483100" y="2590800"/>
            <a:ext cx="3365500" cy="23495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Usability + accessibility</a:t>
            </a:r>
            <a:b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Phone/tablet/desktop</a:t>
            </a:r>
            <a:b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Privacy decisions</a:t>
            </a:r>
            <a:b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en-GB" sz="1500">
                <a:solidFill>
                  <a:srgbClr val="16324F"/>
                </a:solidFill>
                <a:latin typeface="Aptos" panose="020B0004020202020204" pitchFamily="34" charset="0"/>
              </a:rPr>
              <a:t>Reliable Quest tracking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0F0A0FB-9A28-9FFB-D186-33635EB3B040}"/>
              </a:ext>
            </a:extLst>
          </p:cNvPr>
          <p:cNvSpPr/>
          <p:nvPr/>
        </p:nvSpPr>
        <p:spPr>
          <a:xfrm>
            <a:off x="8331200" y="1828800"/>
            <a:ext cx="3365500" cy="609600"/>
          </a:xfrm>
          <a:prstGeom prst="roundRect">
            <a:avLst/>
          </a:prstGeom>
          <a:solidFill>
            <a:srgbClr val="27AE60"/>
          </a:solidFill>
          <a:ln w="15875">
            <a:solidFill>
              <a:srgbClr val="27A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700" b="1">
                <a:solidFill>
                  <a:srgbClr val="FFFFFF"/>
                </a:solidFill>
                <a:latin typeface="Aptos" panose="020B0004020202020204" pitchFamily="34" charset="0"/>
              </a:rPr>
              <a:t>EVIDENCE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B6B770D-62E2-D5DB-BCBF-D7E01C674B62}"/>
              </a:ext>
            </a:extLst>
          </p:cNvPr>
          <p:cNvSpPr/>
          <p:nvPr/>
        </p:nvSpPr>
        <p:spPr>
          <a:xfrm>
            <a:off x="8331200" y="2590800"/>
            <a:ext cx="3365500" cy="23495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D6E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fr-FR" sz="1500">
                <a:solidFill>
                  <a:srgbClr val="16324F"/>
                </a:solidFill>
                <a:latin typeface="Aptos" panose="020B0004020202020204" pitchFamily="34" charset="0"/>
              </a:rPr>
              <a:t>Structured user tests</a:t>
            </a:r>
            <a:br>
              <a:rPr lang="fr-FR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fr-FR" sz="1500">
                <a:solidFill>
                  <a:srgbClr val="16324F"/>
                </a:solidFill>
                <a:latin typeface="Aptos" panose="020B0004020202020204" pitchFamily="34" charset="0"/>
              </a:rPr>
              <a:t>Quantitative + qualitative evaluation</a:t>
            </a:r>
            <a:br>
              <a:rPr lang="fr-FR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fr-FR" sz="1500">
                <a:solidFill>
                  <a:srgbClr val="16324F"/>
                </a:solidFill>
                <a:latin typeface="Aptos" panose="020B0004020202020204" pitchFamily="34" charset="0"/>
              </a:rPr>
              <a:t>Iterative corrections</a:t>
            </a:r>
            <a:br>
              <a:rPr lang="fr-FR" sz="1500">
                <a:solidFill>
                  <a:srgbClr val="16324F"/>
                </a:solidFill>
                <a:latin typeface="Aptos" panose="020B0004020202020204" pitchFamily="34" charset="0"/>
              </a:rPr>
            </a:br>
            <a:r>
              <a:rPr lang="fr-FR" sz="1500">
                <a:solidFill>
                  <a:srgbClr val="16324F"/>
                </a:solidFill>
                <a:latin typeface="Aptos" panose="020B0004020202020204" pitchFamily="34" charset="0"/>
              </a:rPr>
              <a:t>Project documentation</a:t>
            </a:r>
            <a:endParaRPr lang="en-GB" sz="1500">
              <a:solidFill>
                <a:srgbClr val="16324F"/>
              </a:solidFill>
              <a:latin typeface="Aptos" panose="020B000402020202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A1890C8-7390-0E73-A14F-44C9523CB236}"/>
              </a:ext>
            </a:extLst>
          </p:cNvPr>
          <p:cNvSpPr/>
          <p:nvPr/>
        </p:nvSpPr>
        <p:spPr>
          <a:xfrm>
            <a:off x="952500" y="5486400"/>
            <a:ext cx="10287000" cy="762000"/>
          </a:xfrm>
          <a:prstGeom prst="roundRect">
            <a:avLst/>
          </a:prstGeom>
          <a:solidFill>
            <a:srgbClr val="2CB1BC"/>
          </a:solidFill>
          <a:ln w="15875">
            <a:solidFill>
              <a:srgbClr val="2CB1B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0" tIns="63500" rIns="127000" bIns="63500" rtlCol="0" anchor="ctr"/>
          <a:lstStyle/>
          <a:p>
            <a:pPr algn="ctr"/>
            <a:r>
              <a:rPr lang="en-GB" sz="1500" b="1">
                <a:solidFill>
                  <a:srgbClr val="FFFFFF"/>
                </a:solidFill>
                <a:latin typeface="Aptos" panose="020B0004020202020204" pitchFamily="34" charset="0"/>
              </a:rPr>
              <a:t>Current Drive priorities: platform skeleton • language minigames • privacy • audio/speech • AED scope • Situation B • responsive UI • documentation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ECF1FE-183F-06A1-B534-FB45D3359F1E}"/>
              </a:ext>
            </a:extLst>
          </p:cNvPr>
          <p:cNvSpPr txBox="1"/>
          <p:nvPr/>
        </p:nvSpPr>
        <p:spPr>
          <a:xfrm>
            <a:off x="533400" y="6489700"/>
            <a:ext cx="9779000" cy="123111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r>
              <a:rPr lang="en-GB" sz="800">
                <a:solidFill>
                  <a:srgbClr val="5C7084"/>
                </a:solidFill>
                <a:latin typeface="Aptos" panose="020B0004020202020204" pitchFamily="34" charset="0"/>
              </a:rPr>
              <a:t>Source: NaReT Action Items board (read-only GitHub export) • JEMS A1.5 and A1.7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7171BB-B1DE-28F4-8115-A8CFE6167852}"/>
              </a:ext>
            </a:extLst>
          </p:cNvPr>
          <p:cNvSpPr txBox="1"/>
          <p:nvPr/>
        </p:nvSpPr>
        <p:spPr>
          <a:xfrm>
            <a:off x="11074400" y="6438900"/>
            <a:ext cx="584200" cy="138499"/>
          </a:xfrm>
          <a:prstGeom prst="rect">
            <a:avLst/>
          </a:prstGeom>
          <a:noFill/>
        </p:spPr>
        <p:txBody>
          <a:bodyPr vert="horz" lIns="0" tIns="0" rIns="0" bIns="0" rtlCol="0" anchor="t">
            <a:spAutoFit/>
          </a:bodyPr>
          <a:lstStyle/>
          <a:p>
            <a:pPr algn="r"/>
            <a:r>
              <a:rPr lang="en-GB" sz="900" b="1">
                <a:solidFill>
                  <a:srgbClr val="5C7084"/>
                </a:solidFill>
                <a:latin typeface="Aptos" panose="020B0004020202020204" pitchFamily="34" charset="0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9506955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1496</Words>
  <Application>Microsoft Office PowerPoint</Application>
  <PresentationFormat>Widescreen</PresentationFormat>
  <Paragraphs>229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Ardra Bauldwin</dc:creator>
  <cp:lastModifiedBy>Ardra Bauldwin</cp:lastModifiedBy>
  <cp:revision>4</cp:revision>
  <dcterms:created xsi:type="dcterms:W3CDTF">2026-08-30T19:16:00Z</dcterms:created>
  <dcterms:modified xsi:type="dcterms:W3CDTF">2026-09-02T15:55:21Z</dcterms:modified>
</cp:coreProperties>
</file>