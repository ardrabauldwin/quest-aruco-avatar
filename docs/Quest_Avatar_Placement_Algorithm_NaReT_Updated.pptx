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65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1051-EB82-BC66-9376-BD68CF49B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E2B62-2154-1563-1299-ADE69D850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62962-D102-ED2C-02E4-52AB84C0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EEF32-80EE-F1EF-8EC6-6712A0D64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79242-BB2B-75D2-A1A4-2894893D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31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3AC2-15BC-ED83-BD93-1177EA96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23AE-731F-3B77-380E-1D43ABE9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52AF1-40D6-6E36-C5C6-A9282EBE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3A7D3-0D49-AE78-4D13-EB221F50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37729-DC8A-6343-05D3-755D0E8F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35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AB5E-615C-BC51-D7D6-0F49CF7A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D517-E40C-63C9-058C-37337EACF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3750C-F85F-ADC9-8924-D27C8FC5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1836C-2A2B-3ED9-F466-464EA840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89DF2-365B-CD31-41E1-1D196B22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00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42EC-7097-9876-E4E7-B6C0F618C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932D2-1442-7A8B-2C5D-BF29D69B4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3AC35-579C-2CA6-09FF-91C0790DB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D2237-C14A-1E6D-20E7-DE57BF54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7E138-1F79-6840-DF7E-4544D56D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26621-46A1-3BDD-5313-EBE4F1A63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08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F8B9-9756-D8B3-EB17-A5C814D5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22F6C-F4CC-10E9-1CC4-D696A9616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46620-68E5-DD95-9E06-DF5CD031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4ACB0-04B5-7246-C95D-054D76288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F4C50-22D7-EAFD-87FB-AA63F4CBD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D2B40-9007-3660-047E-9E64EC00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26D71-F83E-3DC0-5096-91A15FDA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D1216-C5E6-8788-62C6-FC616C29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29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D302-8FC4-6207-84F4-C91F5E61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9CE10-BEB3-ECB6-E0B3-0440BD99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D44D0-6B1F-0EEC-3A19-890F523C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FDF1D-753D-4109-5808-DFF9968D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47028-BABB-E6BB-F6CA-0AA89F6D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A16DF-5040-E26D-6C78-A54D5DE7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36418-E9A1-FAAF-D46C-B210BAAB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56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ED38-64FC-8599-88FA-C047442D3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EC04-96E8-7C64-3B39-39996A9BA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A16CA-83FE-A8BA-82E8-5C11749CD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29934-CC76-86A6-A0DC-39AF19DC2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A7E4F-D47E-F04D-73D9-67920EEA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25228-CE50-CA44-2628-AFE3B5DC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70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827C-BA03-3863-FC7B-811E239C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9052BA-748D-9CBB-2B40-24768B639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961A1-CD42-BE7E-F368-3AD20AD1F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0D9EB-CE2C-7149-63F8-86EB0817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86F9B-08CB-3161-0903-4C1AB488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0D986-2D45-9E95-C1EB-672AF068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9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CBB6-E6CF-FB6F-7D6E-988EF0AB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AC603-4761-DBAA-5A28-4E34AF66A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0B6D-2F54-E3BD-13C8-77CB67C5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B2F9B-9278-BA21-D11D-CC2971A6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028C6-3816-0FD7-4E1D-88E0111E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187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1E700-2FB0-5E9E-D952-53E007FA1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7EA7E-3997-963A-79B3-FEB01BB2F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688D1-0266-872C-4604-E1EB30FE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390E2-BF9B-F78C-E6A9-1FB6F081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CFCD0-EE39-E39D-FA16-4F2CF1F9C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73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3A89E-636A-DADC-2C20-198D1346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C35D2-6CCC-9693-8242-F9586B08A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77154-5794-477F-5858-0DA2E296C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27236-4C34-48E2-B38E-25D0C5A8811C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71CD1-A52A-0CA0-5BCB-D18514A59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41483-F432-CC22-E4D3-276E92007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61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3BCC90-E220-B25D-9107-7233CBE92B35}"/>
              </a:ext>
            </a:extLst>
          </p:cNvPr>
          <p:cNvSpPr txBox="1"/>
          <p:nvPr/>
        </p:nvSpPr>
        <p:spPr>
          <a:xfrm>
            <a:off x="685800" y="762000"/>
            <a:ext cx="10795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2CB1BC"/>
                </a:solidFill>
                <a:latin typeface="Aptos" panose="020B0004020202020204" pitchFamily="34" charset="0"/>
              </a:rPr>
              <a:t>QUEST ARUCO AVATAR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08930-26C7-F46E-194C-3B67E2EDCBF0}"/>
              </a:ext>
            </a:extLst>
          </p:cNvPr>
          <p:cNvSpPr txBox="1"/>
          <p:nvPr/>
        </p:nvSpPr>
        <p:spPr>
          <a:xfrm>
            <a:off x="685800" y="1422400"/>
            <a:ext cx="96520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3600" b="1">
                <a:solidFill>
                  <a:srgbClr val="FFFFFF"/>
                </a:solidFill>
                <a:latin typeface="Aptos" panose="020B0004020202020204" pitchFamily="34" charset="0"/>
              </a:rPr>
              <a:t>How the avatar is placed</a:t>
            </a:r>
            <a:br>
              <a:rPr lang="en-GB" sz="3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3600" b="1">
                <a:solidFill>
                  <a:srgbClr val="FFFFFF"/>
                </a:solidFill>
                <a:latin typeface="Aptos" panose="020B0004020202020204" pitchFamily="34" charset="0"/>
              </a:rPr>
              <a:t>on the mannequin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D266A-88EA-A907-38AE-D5DC928C33DD}"/>
              </a:ext>
            </a:extLst>
          </p:cNvPr>
          <p:cNvSpPr txBox="1"/>
          <p:nvPr/>
        </p:nvSpPr>
        <p:spPr>
          <a:xfrm>
            <a:off x="711200" y="2908300"/>
            <a:ext cx="9906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>
                <a:solidFill>
                  <a:srgbClr val="CCDEEE"/>
                </a:solidFill>
                <a:latin typeface="Aptos" panose="020B0004020202020204" pitchFamily="34" charset="0"/>
              </a:rPr>
              <a:t>Current detection, reconstruction, rest and filtering algorithm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80CD90-06C4-EC46-8D99-FF5DE6ED1FC5}"/>
              </a:ext>
            </a:extLst>
          </p:cNvPr>
          <p:cNvSpPr/>
          <p:nvPr/>
        </p:nvSpPr>
        <p:spPr>
          <a:xfrm>
            <a:off x="736600" y="4191000"/>
            <a:ext cx="1828800" cy="7874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CAMERA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AE8F42-205C-68B5-96A2-FE919CE5C748}"/>
              </a:ext>
            </a:extLst>
          </p:cNvPr>
          <p:cNvCxnSpPr/>
          <p:nvPr/>
        </p:nvCxnSpPr>
        <p:spPr>
          <a:xfrm>
            <a:off x="25654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EB3D4B-6DDB-71AA-DB53-E9DF252E4082}"/>
              </a:ext>
            </a:extLst>
          </p:cNvPr>
          <p:cNvSpPr/>
          <p:nvPr/>
        </p:nvSpPr>
        <p:spPr>
          <a:xfrm>
            <a:off x="2946400" y="4191000"/>
            <a:ext cx="1828800" cy="7874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MARKERS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64F034-6FA3-29F0-2C7D-C17E2BB62162}"/>
              </a:ext>
            </a:extLst>
          </p:cNvPr>
          <p:cNvCxnSpPr/>
          <p:nvPr/>
        </p:nvCxnSpPr>
        <p:spPr>
          <a:xfrm>
            <a:off x="47752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2F8AE2-D91C-E87B-50BE-2572E505D659}"/>
              </a:ext>
            </a:extLst>
          </p:cNvPr>
          <p:cNvSpPr/>
          <p:nvPr/>
        </p:nvSpPr>
        <p:spPr>
          <a:xfrm>
            <a:off x="5156200" y="4191000"/>
            <a:ext cx="1828800" cy="7874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COMMON POSE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0DAC4B-AAA3-48BD-0D02-67A67483D793}"/>
              </a:ext>
            </a:extLst>
          </p:cNvPr>
          <p:cNvCxnSpPr/>
          <p:nvPr/>
        </p:nvCxnSpPr>
        <p:spPr>
          <a:xfrm>
            <a:off x="69850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6BC05D-6609-6464-19A1-B6EE05AF9860}"/>
              </a:ext>
            </a:extLst>
          </p:cNvPr>
          <p:cNvSpPr/>
          <p:nvPr/>
        </p:nvSpPr>
        <p:spPr>
          <a:xfrm>
            <a:off x="7366000" y="4191000"/>
            <a:ext cx="1828800" cy="787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FILTER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2E9665-851F-114F-C2FB-E55CDCDCA8F6}"/>
              </a:ext>
            </a:extLst>
          </p:cNvPr>
          <p:cNvCxnSpPr/>
          <p:nvPr/>
        </p:nvCxnSpPr>
        <p:spPr>
          <a:xfrm>
            <a:off x="91948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367833-3941-5C33-4E85-250724EFF2BA}"/>
              </a:ext>
            </a:extLst>
          </p:cNvPr>
          <p:cNvSpPr/>
          <p:nvPr/>
        </p:nvSpPr>
        <p:spPr>
          <a:xfrm>
            <a:off x="9575800" y="4191000"/>
            <a:ext cx="1828800" cy="7874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AVATAR</a:t>
            </a:r>
          </a:p>
        </p:txBody>
      </p:sp>
    </p:spTree>
    <p:extLst>
      <p:ext uri="{BB962C8B-B14F-4D97-AF65-F5344CB8AC3E}">
        <p14:creationId xmlns:p14="http://schemas.microsoft.com/office/powerpoint/2010/main" val="3493447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D66CC7-6E70-0524-73D6-79863F24A084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FF9E7-67FD-6597-6F8F-658D33512B1F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The placement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B99D0-E53C-6467-A228-B95B4572B973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6C54A-036A-D5F9-FD03-0250675C86D9}"/>
              </a:ext>
            </a:extLst>
          </p:cNvPr>
          <p:cNvSpPr txBox="1"/>
          <p:nvPr/>
        </p:nvSpPr>
        <p:spPr>
          <a:xfrm>
            <a:off x="533400" y="15748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000" b="1">
                <a:solidFill>
                  <a:srgbClr val="16324F"/>
                </a:solidFill>
                <a:latin typeface="Aptos" panose="020B0004020202020204" pitchFamily="34" charset="0"/>
              </a:rPr>
              <a:t>Three physical markers must describe one virtual body anchor.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9D41E5-FD15-AE6F-4EBB-FC61E11D0131}"/>
              </a:ext>
            </a:extLst>
          </p:cNvPr>
          <p:cNvSpPr/>
          <p:nvPr/>
        </p:nvSpPr>
        <p:spPr>
          <a:xfrm>
            <a:off x="724156" y="2590800"/>
            <a:ext cx="1396744" cy="12065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ID0</a:t>
            </a:r>
            <a:b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</a:br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common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308CC3-4B5D-535B-373A-797333EA1B07}"/>
              </a:ext>
            </a:extLst>
          </p:cNvPr>
          <p:cNvSpPr/>
          <p:nvPr/>
        </p:nvSpPr>
        <p:spPr>
          <a:xfrm>
            <a:off x="914400" y="4140200"/>
            <a:ext cx="1206500" cy="1206500"/>
          </a:xfrm>
          <a:prstGeom prst="ellipse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ID1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chest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3BB521-8390-82BB-FA0F-FF12D8C264B7}"/>
              </a:ext>
            </a:extLst>
          </p:cNvPr>
          <p:cNvSpPr/>
          <p:nvPr/>
        </p:nvSpPr>
        <p:spPr>
          <a:xfrm>
            <a:off x="2667000" y="4140200"/>
            <a:ext cx="1206500" cy="12065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ID2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torso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E57D31-9A62-B502-663F-CFAF9678F7D9}"/>
              </a:ext>
            </a:extLst>
          </p:cNvPr>
          <p:cNvCxnSpPr/>
          <p:nvPr/>
        </p:nvCxnSpPr>
        <p:spPr>
          <a:xfrm>
            <a:off x="2159000" y="3175000"/>
            <a:ext cx="2616200" cy="3556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2B7B25-631E-58B5-6EBF-C4EF2E333738}"/>
              </a:ext>
            </a:extLst>
          </p:cNvPr>
          <p:cNvCxnSpPr/>
          <p:nvPr/>
        </p:nvCxnSpPr>
        <p:spPr>
          <a:xfrm flipV="1">
            <a:off x="2159000" y="3886200"/>
            <a:ext cx="2616200" cy="8128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A9464D-94B2-92BF-9478-68ED551E799C}"/>
              </a:ext>
            </a:extLst>
          </p:cNvPr>
          <p:cNvCxnSpPr/>
          <p:nvPr/>
        </p:nvCxnSpPr>
        <p:spPr>
          <a:xfrm flipV="1">
            <a:off x="3873500" y="3987800"/>
            <a:ext cx="901700" cy="7112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6C1389-2D2B-F374-B8EE-F3371A4A2435}"/>
              </a:ext>
            </a:extLst>
          </p:cNvPr>
          <p:cNvSpPr/>
          <p:nvPr/>
        </p:nvSpPr>
        <p:spPr>
          <a:xfrm>
            <a:off x="4800600" y="3124200"/>
            <a:ext cx="2286000" cy="12065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2000" b="1">
                <a:solidFill>
                  <a:srgbClr val="FFFFFF"/>
                </a:solidFill>
                <a:latin typeface="Aptos" panose="020B0004020202020204" pitchFamily="34" charset="0"/>
              </a:rPr>
              <a:t>ONE COMMON</a:t>
            </a:r>
            <a:br>
              <a:rPr lang="en-GB" sz="20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2000" b="1">
                <a:solidFill>
                  <a:srgbClr val="FFFFFF"/>
                </a:solidFill>
                <a:latin typeface="Aptos" panose="020B0004020202020204" pitchFamily="34" charset="0"/>
              </a:rPr>
              <a:t>6-DoF POSE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82F5E-0228-4267-74A4-1DFC83F3653F}"/>
              </a:ext>
            </a:extLst>
          </p:cNvPr>
          <p:cNvSpPr txBox="1"/>
          <p:nvPr/>
        </p:nvSpPr>
        <p:spPr>
          <a:xfrm>
            <a:off x="7747000" y="2514600"/>
            <a:ext cx="3810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fr-FR" b="1">
                <a:solidFill>
                  <a:srgbClr val="102A43"/>
                </a:solidFill>
                <a:latin typeface="Aptos" panose="020B0004020202020204" pitchFamily="34" charset="0"/>
              </a:rPr>
              <a:t>Pose = position (X,Y,Z) + orientation</a:t>
            </a:r>
            <a:endParaRPr lang="en-GB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92A2F1-18EA-9F7E-4F4A-FED804B19F73}"/>
              </a:ext>
            </a:extLst>
          </p:cNvPr>
          <p:cNvSpPr txBox="1"/>
          <p:nvPr/>
        </p:nvSpPr>
        <p:spPr>
          <a:xfrm>
            <a:off x="7747000" y="3162300"/>
            <a:ext cx="3632200" cy="73866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The calibration stores a full marker → common transform, including both translation and rotation.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3B14D6-63FC-A113-48EE-C0F1C5C8F547}"/>
              </a:ext>
            </a:extLst>
          </p:cNvPr>
          <p:cNvSpPr/>
          <p:nvPr/>
        </p:nvSpPr>
        <p:spPr>
          <a:xfrm>
            <a:off x="7670800" y="4635500"/>
            <a:ext cx="3810000" cy="8636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16324F"/>
                </a:solidFill>
                <a:latin typeface="Aptos" panose="020B0004020202020204" pitchFamily="34" charset="0"/>
              </a:rPr>
              <a:t>marker world pose × marker-to-common offset = common estimate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62AA9D-55FF-9255-9D40-61351201DCBC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 • default_navel_calibration.cfg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46649-4D79-21CE-8C02-14F7D5143D13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346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7DB9C3-6D4D-24E4-2A71-9B39C0307011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7746F-839E-82D3-8A69-25675135F5BA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Reconstruct and fuse the common pose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BA1E49-709B-2D38-61A3-7F52D967C5F8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AEC06-ADE8-DC86-FB83-D15F521AFAF4}"/>
              </a:ext>
            </a:extLst>
          </p:cNvPr>
          <p:cNvSpPr txBox="1"/>
          <p:nvPr/>
        </p:nvSpPr>
        <p:spPr>
          <a:xfrm>
            <a:off x="533400" y="1549400"/>
            <a:ext cx="9652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b="1">
                <a:solidFill>
                  <a:srgbClr val="16324F"/>
                </a:solidFill>
                <a:latin typeface="Aptos" panose="020B0004020202020204" pitchFamily="34" charset="0"/>
              </a:rPr>
              <a:t>Only markers from the exact newest camera result are combined.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F4E231-EC38-2E05-6690-A40E8D13F7A8}"/>
              </a:ext>
            </a:extLst>
          </p:cNvPr>
          <p:cNvSpPr/>
          <p:nvPr/>
        </p:nvSpPr>
        <p:spPr>
          <a:xfrm>
            <a:off x="685800" y="2235200"/>
            <a:ext cx="1905000" cy="685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1 marker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99BEBB-335D-6DE9-F13F-604BEA8D951A}"/>
              </a:ext>
            </a:extLst>
          </p:cNvPr>
          <p:cNvSpPr/>
          <p:nvPr/>
        </p:nvSpPr>
        <p:spPr>
          <a:xfrm>
            <a:off x="2819400" y="22352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rgbClr val="16324F"/>
                </a:solidFill>
                <a:latin typeface="Aptos" panose="020B0004020202020204" pitchFamily="34" charset="0"/>
              </a:rPr>
              <a:t>Use its reconstructed common pose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9DD84F-910F-2CCD-D643-1BF3326C7C8F}"/>
              </a:ext>
            </a:extLst>
          </p:cNvPr>
          <p:cNvSpPr/>
          <p:nvPr/>
        </p:nvSpPr>
        <p:spPr>
          <a:xfrm>
            <a:off x="685800" y="3200400"/>
            <a:ext cx="1905000" cy="6858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2 markers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A9F6AE-DFFA-35F3-125D-2CA57D371422}"/>
              </a:ext>
            </a:extLst>
          </p:cNvPr>
          <p:cNvSpPr/>
          <p:nvPr/>
        </p:nvSpPr>
        <p:spPr>
          <a:xfrm>
            <a:off x="2819400" y="32004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rgbClr val="16324F"/>
                </a:solidFill>
                <a:latin typeface="Aptos" panose="020B0004020202020204" pitchFamily="34" charset="0"/>
              </a:rPr>
              <a:t>Mean position + sign-aligned quaternion average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8BA688-1577-15FA-A6D0-47226CBB8357}"/>
              </a:ext>
            </a:extLst>
          </p:cNvPr>
          <p:cNvSpPr/>
          <p:nvPr/>
        </p:nvSpPr>
        <p:spPr>
          <a:xfrm>
            <a:off x="685800" y="4165600"/>
            <a:ext cx="1905000" cy="685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3 markers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4BE53E-A168-5FE8-D3B0-9209E7718DDA}"/>
              </a:ext>
            </a:extLst>
          </p:cNvPr>
          <p:cNvSpPr/>
          <p:nvPr/>
        </p:nvSpPr>
        <p:spPr>
          <a:xfrm>
            <a:off x="2819400" y="41656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Mean position + sign-aligned quaternion average (same as 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A9E2CD-62FF-874F-C1C5-88B43D3AE627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navel_provider.gd::_fuse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6747D-2FFF-78F6-BBB3-EB0C34CB6D45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1877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EAE7CE-60C9-112C-1832-86170D329ABB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B0A4C-EFD9-4D6C-DDDC-B7059BB8D602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Startup: learn a robust session rest pose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271A81-77F0-5C76-DA23-1B205DBAD73E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BC8E7-2DFE-8476-E4DA-7D88BC58B527}"/>
              </a:ext>
            </a:extLst>
          </p:cNvPr>
          <p:cNvSpPr txBox="1"/>
          <p:nvPr/>
        </p:nvSpPr>
        <p:spPr>
          <a:xfrm>
            <a:off x="533400" y="1549400"/>
            <a:ext cx="9906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b="1" dirty="0">
                <a:solidFill>
                  <a:srgbClr val="16324F"/>
                </a:solidFill>
                <a:latin typeface="Aptos" panose="020B0004020202020204" pitchFamily="34" charset="0"/>
              </a:rPr>
              <a:t>The avatar stays hidden while independent fused poses are collected.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260A45-4BDE-C9F9-ECA6-48552E34BA62}"/>
              </a:ext>
            </a:extLst>
          </p:cNvPr>
          <p:cNvSpPr/>
          <p:nvPr/>
        </p:nvSpPr>
        <p:spPr>
          <a:xfrm>
            <a:off x="9398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A0AC3-F586-9F49-4B27-3C4254E88F94}"/>
              </a:ext>
            </a:extLst>
          </p:cNvPr>
          <p:cNvSpPr txBox="1"/>
          <p:nvPr/>
        </p:nvSpPr>
        <p:spPr>
          <a:xfrm>
            <a:off x="10668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2F7FD9-2D69-2546-E963-58D0D1083DD6}"/>
              </a:ext>
            </a:extLst>
          </p:cNvPr>
          <p:cNvCxnSpPr/>
          <p:nvPr/>
        </p:nvCxnSpPr>
        <p:spPr>
          <a:xfrm>
            <a:off x="18542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53A8715-B51B-C8AC-9391-8A8F94295271}"/>
              </a:ext>
            </a:extLst>
          </p:cNvPr>
          <p:cNvSpPr/>
          <p:nvPr/>
        </p:nvSpPr>
        <p:spPr>
          <a:xfrm>
            <a:off x="35433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4F5A8-A3E1-89CE-47BE-2B086A17A4BF}"/>
              </a:ext>
            </a:extLst>
          </p:cNvPr>
          <p:cNvSpPr txBox="1"/>
          <p:nvPr/>
        </p:nvSpPr>
        <p:spPr>
          <a:xfrm>
            <a:off x="36703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E4B687-995B-3EA3-2475-10899053C3EB}"/>
              </a:ext>
            </a:extLst>
          </p:cNvPr>
          <p:cNvCxnSpPr/>
          <p:nvPr/>
        </p:nvCxnSpPr>
        <p:spPr>
          <a:xfrm>
            <a:off x="44577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1BFB74A-90A4-9FF9-9BE6-BF62BBE597C5}"/>
              </a:ext>
            </a:extLst>
          </p:cNvPr>
          <p:cNvSpPr/>
          <p:nvPr/>
        </p:nvSpPr>
        <p:spPr>
          <a:xfrm>
            <a:off x="61468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550C5-21C6-352A-4C53-3610D07A1485}"/>
              </a:ext>
            </a:extLst>
          </p:cNvPr>
          <p:cNvSpPr txBox="1"/>
          <p:nvPr/>
        </p:nvSpPr>
        <p:spPr>
          <a:xfrm>
            <a:off x="62738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B1C8EB-14A0-9079-04FE-A964122896E2}"/>
              </a:ext>
            </a:extLst>
          </p:cNvPr>
          <p:cNvCxnSpPr/>
          <p:nvPr/>
        </p:nvCxnSpPr>
        <p:spPr>
          <a:xfrm>
            <a:off x="70612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8B7B52D-3313-92EF-1C55-A44A7251869E}"/>
              </a:ext>
            </a:extLst>
          </p:cNvPr>
          <p:cNvSpPr/>
          <p:nvPr/>
        </p:nvSpPr>
        <p:spPr>
          <a:xfrm>
            <a:off x="8750300" y="2603500"/>
            <a:ext cx="914400" cy="9144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E61476-44C6-AAC1-0EF4-1C827A5805AA}"/>
              </a:ext>
            </a:extLst>
          </p:cNvPr>
          <p:cNvSpPr txBox="1"/>
          <p:nvPr/>
        </p:nvSpPr>
        <p:spPr>
          <a:xfrm>
            <a:off x="88773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CCB503-5F84-7C03-B385-AF4FC4A38CE2}"/>
              </a:ext>
            </a:extLst>
          </p:cNvPr>
          <p:cNvSpPr txBox="1"/>
          <p:nvPr/>
        </p:nvSpPr>
        <p:spPr>
          <a:xfrm>
            <a:off x="889000" y="4178300"/>
            <a:ext cx="10414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Each E uses coordinate-median position + tangent-space median rotation over all collected poses.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86738D-5C0D-4BEC-6945-2ECB99A7BFC9}"/>
              </a:ext>
            </a:extLst>
          </p:cNvPr>
          <p:cNvSpPr/>
          <p:nvPr/>
        </p:nvSpPr>
        <p:spPr>
          <a:xfrm>
            <a:off x="1219200" y="4914900"/>
            <a:ext cx="4699000" cy="889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  <a:t>Stable comparison</a:t>
            </a:r>
            <a:b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l-GR" sz="1600" b="1" dirty="0">
                <a:solidFill>
                  <a:srgbClr val="16324F"/>
                </a:solidFill>
                <a:latin typeface="Aptos" panose="020B0004020202020204" pitchFamily="34" charset="0"/>
              </a:rPr>
              <a:t>Δ </a:t>
            </a:r>
            <a: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  <a:t>position ≤ 2 mm  AND  </a:t>
            </a:r>
            <a:r>
              <a:rPr lang="el-GR" sz="1600" b="1" dirty="0">
                <a:solidFill>
                  <a:srgbClr val="16324F"/>
                </a:solidFill>
                <a:latin typeface="Aptos" panose="020B0004020202020204" pitchFamily="34" charset="0"/>
              </a:rPr>
              <a:t>Δ </a:t>
            </a:r>
            <a: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  <a:t>rotation ≤ 0.5°,35 PERC TIME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F9DAE4-5A53-2D3B-64E1-83D0D78C07A8}"/>
              </a:ext>
            </a:extLst>
          </p:cNvPr>
          <p:cNvSpPr/>
          <p:nvPr/>
        </p:nvSpPr>
        <p:spPr>
          <a:xfrm>
            <a:off x="6350000" y="4914900"/>
            <a:ext cx="4648200" cy="889000"/>
          </a:xfrm>
          <a:prstGeom prst="roundRect">
            <a:avLst/>
          </a:prstGeom>
          <a:solidFill>
            <a:srgbClr val="E7F7ED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  <a:t>3 stable comparisons → detection 35</a:t>
            </a:r>
            <a:b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</a:br>
            <a:b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</a:br>
            <a: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  <a:t>Detection 50 fallback ≈11.4 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B9FC7F-89F7-32F8-82FE-274437ACD4E0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 • 2.0 mm / 0.50° are present in the grid, but not yet validated as best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E76273-E7C6-80C4-65E0-17CE1C966378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7425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B9D6A-9BD3-C6F4-68BA-FB05A10CA4FA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36F8E-A742-7195-C3E7-A9095886F14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After startup: the runtime filter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CAD0A-6C4A-EE5A-774B-0D02F75AD77B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B90F99-01DF-1557-DA78-7533EB724B45}"/>
              </a:ext>
            </a:extLst>
          </p:cNvPr>
          <p:cNvSpPr/>
          <p:nvPr/>
        </p:nvSpPr>
        <p:spPr>
          <a:xfrm>
            <a:off x="1181100" y="1905000"/>
            <a:ext cx="457200" cy="4572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DE531B-60A2-972A-CAEE-C45798B08AB0}"/>
              </a:ext>
            </a:extLst>
          </p:cNvPr>
          <p:cNvSpPr/>
          <p:nvPr/>
        </p:nvSpPr>
        <p:spPr>
          <a:xfrm>
            <a:off x="546100" y="2603500"/>
            <a:ext cx="1778000" cy="939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NEW FUSED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MEASUREMENT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EE25C3-46E0-E645-A6C8-8CF1ADE0B55B}"/>
              </a:ext>
            </a:extLst>
          </p:cNvPr>
          <p:cNvCxnSpPr/>
          <p:nvPr/>
        </p:nvCxnSpPr>
        <p:spPr>
          <a:xfrm>
            <a:off x="23241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AA537D6-08FC-9BE2-D6CA-D49D7816BBD7}"/>
              </a:ext>
            </a:extLst>
          </p:cNvPr>
          <p:cNvSpPr/>
          <p:nvPr/>
        </p:nvSpPr>
        <p:spPr>
          <a:xfrm>
            <a:off x="3479800" y="1905000"/>
            <a:ext cx="457200" cy="457200"/>
          </a:xfrm>
          <a:prstGeom prst="ellipse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61DB2E-F186-01B5-A020-705CE18C1493}"/>
              </a:ext>
            </a:extLst>
          </p:cNvPr>
          <p:cNvSpPr/>
          <p:nvPr/>
        </p:nvSpPr>
        <p:spPr>
          <a:xfrm>
            <a:off x="2844800" y="2603500"/>
            <a:ext cx="1778000" cy="9398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7-POSE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MEDOID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DAEAE7-A9A0-2548-81AF-B99670A6041D}"/>
              </a:ext>
            </a:extLst>
          </p:cNvPr>
          <p:cNvCxnSpPr/>
          <p:nvPr/>
        </p:nvCxnSpPr>
        <p:spPr>
          <a:xfrm>
            <a:off x="46228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1C3374E-7742-B42C-07E5-A29FE0F944A2}"/>
              </a:ext>
            </a:extLst>
          </p:cNvPr>
          <p:cNvSpPr/>
          <p:nvPr/>
        </p:nvSpPr>
        <p:spPr>
          <a:xfrm>
            <a:off x="5778500" y="1905000"/>
            <a:ext cx="457200" cy="4572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7B7BEE-7A4E-DF4D-ADEF-D612A9BBFF58}"/>
              </a:ext>
            </a:extLst>
          </p:cNvPr>
          <p:cNvSpPr/>
          <p:nvPr/>
        </p:nvSpPr>
        <p:spPr>
          <a:xfrm>
            <a:off x="5143500" y="2603500"/>
            <a:ext cx="1778000" cy="939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DEAD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ZONES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C2E98B-4032-547C-4364-3AC20E64C897}"/>
              </a:ext>
            </a:extLst>
          </p:cNvPr>
          <p:cNvCxnSpPr/>
          <p:nvPr/>
        </p:nvCxnSpPr>
        <p:spPr>
          <a:xfrm>
            <a:off x="69215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BF0D753-AD34-1C8F-ED93-0CAB67D66C94}"/>
              </a:ext>
            </a:extLst>
          </p:cNvPr>
          <p:cNvSpPr/>
          <p:nvPr/>
        </p:nvSpPr>
        <p:spPr>
          <a:xfrm>
            <a:off x="8077200" y="190500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B56F06-5DA8-58C6-D41E-7AC66F73AE74}"/>
              </a:ext>
            </a:extLst>
          </p:cNvPr>
          <p:cNvSpPr/>
          <p:nvPr/>
        </p:nvSpPr>
        <p:spPr>
          <a:xfrm>
            <a:off x="7442200" y="2603500"/>
            <a:ext cx="1778000" cy="9398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EXPONENTIAL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SMOOTHING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1FEDC1-9183-F09B-BDAE-90899EF3C1D4}"/>
              </a:ext>
            </a:extLst>
          </p:cNvPr>
          <p:cNvCxnSpPr/>
          <p:nvPr/>
        </p:nvCxnSpPr>
        <p:spPr>
          <a:xfrm>
            <a:off x="92202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7E71277-CEB1-0C75-D39D-581E5613DFB7}"/>
              </a:ext>
            </a:extLst>
          </p:cNvPr>
          <p:cNvSpPr/>
          <p:nvPr/>
        </p:nvSpPr>
        <p:spPr>
          <a:xfrm>
            <a:off x="10375900" y="1905000"/>
            <a:ext cx="457200" cy="457200"/>
          </a:xfrm>
          <a:prstGeom prst="ellipse">
            <a:avLst/>
          </a:prstGeom>
          <a:solidFill>
            <a:srgbClr val="7152AD"/>
          </a:solidFill>
          <a:ln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CF3530-005B-4BAC-EB4A-2EECFD2AC891}"/>
              </a:ext>
            </a:extLst>
          </p:cNvPr>
          <p:cNvSpPr/>
          <p:nvPr/>
        </p:nvSpPr>
        <p:spPr>
          <a:xfrm>
            <a:off x="9740900" y="2603500"/>
            <a:ext cx="1778000" cy="9398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LOCAL REST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PULL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D232C0-0CA9-9821-0305-E20036898C24}"/>
              </a:ext>
            </a:extLst>
          </p:cNvPr>
          <p:cNvSpPr txBox="1"/>
          <p:nvPr/>
        </p:nvSpPr>
        <p:spPr>
          <a:xfrm>
            <a:off x="411941" y="4013200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Updates once per new OpenCV timestamp,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9AE5F6-7B86-32A5-C45D-877BE90D17FB}"/>
              </a:ext>
            </a:extLst>
          </p:cNvPr>
          <p:cNvSpPr txBox="1"/>
          <p:nvPr/>
        </p:nvSpPr>
        <p:spPr>
          <a:xfrm>
            <a:off x="2710641" y="4002089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       </a:t>
            </a:r>
            <a:r>
              <a:rPr lang="en-GB" sz="1400" dirty="0">
                <a:solidFill>
                  <a:srgbClr val="C00000"/>
                </a:solidFill>
                <a:latin typeface="Aptos" panose="020B0004020202020204" pitchFamily="34" charset="0"/>
              </a:rPr>
              <a:t>Rejects a lone temporal outlier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981BAC-8B96-1C10-180E-43B8E5710280}"/>
              </a:ext>
            </a:extLst>
          </p:cNvPr>
          <p:cNvSpPr txBox="1"/>
          <p:nvPr/>
        </p:nvSpPr>
        <p:spPr>
          <a:xfrm>
            <a:off x="5168900" y="4025900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Holds tiny position / rotation changes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F7E3EB-DB13-A92E-887F-CFF98D60F696}"/>
              </a:ext>
            </a:extLst>
          </p:cNvPr>
          <p:cNvSpPr txBox="1"/>
          <p:nvPr/>
        </p:nvSpPr>
        <p:spPr>
          <a:xfrm>
            <a:off x="7467600" y="4025900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Moves continuously at render 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0626FF-AC61-ECA8-85FC-AF448E9204A6}"/>
              </a:ext>
            </a:extLst>
          </p:cNvPr>
          <p:cNvSpPr txBox="1"/>
          <p:nvPr/>
        </p:nvSpPr>
        <p:spPr>
          <a:xfrm>
            <a:off x="9766300" y="4025900"/>
            <a:ext cx="1905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>
                <a:solidFill>
                  <a:srgbClr val="5C7084"/>
                </a:solidFill>
                <a:latin typeface="Aptos" panose="020B0004020202020204" pitchFamily="34" charset="0"/>
              </a:rPr>
              <a:t>Always active; measurement leads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6743929-18DA-1F82-55EC-5BCA4C0FE71D}"/>
              </a:ext>
            </a:extLst>
          </p:cNvPr>
          <p:cNvSpPr/>
          <p:nvPr/>
        </p:nvSpPr>
        <p:spPr>
          <a:xfrm>
            <a:off x="1193800" y="5207000"/>
            <a:ext cx="9804400" cy="6985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Current values: window 7 • position dead zone 6 mm • rotation dead zone 0.5° • smoothing τ = 0.8 s • prior τ = 8 s • </a:t>
            </a:r>
            <a:r>
              <a:rPr lang="en-GB" sz="1600" b="1" dirty="0">
                <a:solidFill>
                  <a:srgbClr val="FF0000"/>
                </a:solidFill>
                <a:latin typeface="Aptos" panose="020B0004020202020204" pitchFamily="34" charset="0"/>
              </a:rPr>
              <a:t>rest re-anchor beyond 20 mm / 6°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D3DD9-6EDD-DAD6-E0FD-AF06F7E91109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simple_pose_stabilizer.gd • avatar_rig_navel.gd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283844-12F1-C70B-9208-A82C6F0CC657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8165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73B186-6E98-F946-09C5-0CFE83D440BC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162E2-0FB2-1FBE-A50E-8A83F7A92AC4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Why the seven-pose medoid rejects jumps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5C7367-8695-DE0D-F08C-EBBD248A4287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CED3C3-571B-0967-2C22-45587EDDDC7A}"/>
              </a:ext>
            </a:extLst>
          </p:cNvPr>
          <p:cNvSpPr/>
          <p:nvPr/>
        </p:nvSpPr>
        <p:spPr>
          <a:xfrm>
            <a:off x="1625600" y="29210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B25F4B-C44C-4D0F-91BE-CE0E36DF0017}"/>
              </a:ext>
            </a:extLst>
          </p:cNvPr>
          <p:cNvSpPr/>
          <p:nvPr/>
        </p:nvSpPr>
        <p:spPr>
          <a:xfrm>
            <a:off x="2108200" y="27686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F4238F-D889-039E-C1F2-755FC91FE156}"/>
              </a:ext>
            </a:extLst>
          </p:cNvPr>
          <p:cNvSpPr/>
          <p:nvPr/>
        </p:nvSpPr>
        <p:spPr>
          <a:xfrm>
            <a:off x="2463800" y="32004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55DC32-97B8-708B-9E39-84FBA79768AC}"/>
              </a:ext>
            </a:extLst>
          </p:cNvPr>
          <p:cNvSpPr/>
          <p:nvPr/>
        </p:nvSpPr>
        <p:spPr>
          <a:xfrm>
            <a:off x="2946400" y="2844800"/>
            <a:ext cx="685800" cy="6858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chosen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496920-106A-66FE-65A1-0A2A604F6A78}"/>
              </a:ext>
            </a:extLst>
          </p:cNvPr>
          <p:cNvSpPr/>
          <p:nvPr/>
        </p:nvSpPr>
        <p:spPr>
          <a:xfrm>
            <a:off x="3276600" y="33274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827838-9909-AA41-C723-E1CB37606074}"/>
              </a:ext>
            </a:extLst>
          </p:cNvPr>
          <p:cNvSpPr/>
          <p:nvPr/>
        </p:nvSpPr>
        <p:spPr>
          <a:xfrm>
            <a:off x="3632200" y="29845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A280E8-E0F2-E02D-E7C9-61E2F99F8390}"/>
              </a:ext>
            </a:extLst>
          </p:cNvPr>
          <p:cNvSpPr/>
          <p:nvPr/>
        </p:nvSpPr>
        <p:spPr>
          <a:xfrm>
            <a:off x="5334000" y="2133600"/>
            <a:ext cx="685800" cy="685800"/>
          </a:xfrm>
          <a:prstGeom prst="ellipse">
            <a:avLst/>
          </a:prstGeom>
          <a:solidFill>
            <a:srgbClr val="E45756"/>
          </a:solidFill>
          <a:ln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bad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07692-0BAA-A207-E034-7C2AE8C89F95}"/>
              </a:ext>
            </a:extLst>
          </p:cNvPr>
          <p:cNvSpPr txBox="1"/>
          <p:nvPr/>
        </p:nvSpPr>
        <p:spPr>
          <a:xfrm>
            <a:off x="889000" y="4368800"/>
            <a:ext cx="5461000" cy="78483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700">
                <a:solidFill>
                  <a:srgbClr val="16324F"/>
                </a:solidFill>
                <a:latin typeface="Aptos" panose="020B0004020202020204" pitchFamily="34" charset="0"/>
              </a:rPr>
              <a:t>Six measurements agree; one is far away. The medoid chooses the actual measured pose with the smallest total distance to all others.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B80F855-23BC-2677-557E-BC1E91970717}"/>
              </a:ext>
            </a:extLst>
          </p:cNvPr>
          <p:cNvSpPr/>
          <p:nvPr/>
        </p:nvSpPr>
        <p:spPr>
          <a:xfrm>
            <a:off x="7239000" y="2336800"/>
            <a:ext cx="3937000" cy="1016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16324F"/>
                </a:solidFill>
                <a:latin typeface="Aptos" panose="020B0004020202020204" pitchFamily="34" charset="0"/>
              </a:rPr>
              <a:t>score = position distance</a:t>
            </a:r>
            <a:br>
              <a:rPr lang="en-GB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16324F"/>
                </a:solidFill>
                <a:latin typeface="Aptos" panose="020B0004020202020204" pitchFamily="34" charset="0"/>
              </a:rPr>
              <a:t>+ radius × rotation 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C72CFA-626F-E84A-31C1-AFCC830211EC}"/>
              </a:ext>
            </a:extLst>
          </p:cNvPr>
          <p:cNvSpPr txBox="1"/>
          <p:nvPr/>
        </p:nvSpPr>
        <p:spPr>
          <a:xfrm>
            <a:off x="7289800" y="3733800"/>
            <a:ext cx="3835400" cy="98488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Current radius = 0.2864789 m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At this radius, 1° rotation contributes approximately the same score as 5 mm of position error.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09C7E3-0D75-A9C7-2AD3-9D08E60279FA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simple_pose_stabilizer.gd::_medoid • radius is included in the tuning grid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477F62-5E25-70E3-C7FE-DCDDA863ACF4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1369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87993F-040A-A454-A058-B1D283D25F28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1FF72-86EF-A82E-76D0-DDD43DE09120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Dead zone, smoothing and prior do different jobs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8173D-0242-C098-0DD3-F6490F8B16F9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5A1F73-9F4A-81AB-0E10-3EDFF70F98FD}"/>
              </a:ext>
            </a:extLst>
          </p:cNvPr>
          <p:cNvSpPr/>
          <p:nvPr/>
        </p:nvSpPr>
        <p:spPr>
          <a:xfrm>
            <a:off x="685800" y="1905000"/>
            <a:ext cx="3352800" cy="6096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DEAD ZONE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C5CA15-A1C9-A753-6B6F-139421BCF663}"/>
              </a:ext>
            </a:extLst>
          </p:cNvPr>
          <p:cNvSpPr/>
          <p:nvPr/>
        </p:nvSpPr>
        <p:spPr>
          <a:xfrm>
            <a:off x="685800" y="2667000"/>
            <a:ext cx="33528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≤6 mm position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≤0.5° rotation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Hold the corresponding output channel.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AEA867-AE5A-D9A3-6CA6-F751A94EAADA}"/>
              </a:ext>
            </a:extLst>
          </p:cNvPr>
          <p:cNvSpPr/>
          <p:nvPr/>
        </p:nvSpPr>
        <p:spPr>
          <a:xfrm>
            <a:off x="4521200" y="1905000"/>
            <a:ext cx="3352800" cy="6096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SMOOTHING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41254D-56EA-64FC-A931-71123F8C2C3D}"/>
              </a:ext>
            </a:extLst>
          </p:cNvPr>
          <p:cNvSpPr/>
          <p:nvPr/>
        </p:nvSpPr>
        <p:spPr>
          <a:xfrm>
            <a:off x="4521200" y="2667000"/>
            <a:ext cx="33528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  <a:t>τ = 0.8 </a:t>
            </a:r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s</a:t>
            </a:r>
            <a:b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endParaRPr lang="en-GB" sz="1600" dirty="0">
              <a:solidFill>
                <a:srgbClr val="16324F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814F49-CE0D-4C92-685B-8AAA81BAFFB0}"/>
              </a:ext>
            </a:extLst>
          </p:cNvPr>
          <p:cNvSpPr/>
          <p:nvPr/>
        </p:nvSpPr>
        <p:spPr>
          <a:xfrm>
            <a:off x="8356600" y="1905000"/>
            <a:ext cx="3352800" cy="6096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REST PRIOR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0E244A-838A-63F7-B609-B21520CB1FFE}"/>
              </a:ext>
            </a:extLst>
          </p:cNvPr>
          <p:cNvSpPr/>
          <p:nvPr/>
        </p:nvSpPr>
        <p:spPr>
          <a:xfrm>
            <a:off x="8356600" y="2667000"/>
            <a:ext cx="33528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τ = 8 s</a:t>
            </a:r>
            <a:b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 dirty="0">
                <a:solidFill>
                  <a:srgbClr val="FF0000"/>
                </a:solidFill>
                <a:latin typeface="Aptos" panose="020B0004020202020204" pitchFamily="34" charset="0"/>
              </a:rPr>
              <a:t>Weak and always active; smoothing is 10× faster, so measurements lead during movement.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832624-3A60-354B-ABD7-81E4B18CC7C2}"/>
              </a:ext>
            </a:extLst>
          </p:cNvPr>
          <p:cNvSpPr txBox="1"/>
          <p:nvPr/>
        </p:nvSpPr>
        <p:spPr>
          <a:xfrm>
            <a:off x="1041400" y="5562600"/>
            <a:ext cx="100965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A stable endpoint beyond 20 mm or 6° re-anchors the remembered rest itself, so the prior pulls toward the new location instead of dragging a relocated mannequin backwards.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07BBB-E80B-652B-7AEE-14385C7617C5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Filtering order: medoid → dead zones → smoothing → weak rest pull • rest re-anchors at stable endpoints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357DB-36A7-A136-9C42-066B1E8C48B0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1453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F3197-B43C-9050-370F-EC2FB8730C26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2B705-F396-57C9-92A7-2B940AB8FA89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Two poses exist: displayed pose and remembered rest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9518F3-EEB2-91C2-FE08-7E9567BFD344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6D1A6F-C870-3C21-1539-3DF227C11786}"/>
              </a:ext>
            </a:extLst>
          </p:cNvPr>
          <p:cNvSpPr/>
          <p:nvPr/>
        </p:nvSpPr>
        <p:spPr>
          <a:xfrm>
            <a:off x="889000" y="2286000"/>
            <a:ext cx="2667000" cy="10414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Measurement-only</a:t>
            </a:r>
            <a:b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7-pose medoid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58E616-5652-FC47-BC59-01A2A01DFAB2}"/>
              </a:ext>
            </a:extLst>
          </p:cNvPr>
          <p:cNvCxnSpPr/>
          <p:nvPr/>
        </p:nvCxnSpPr>
        <p:spPr>
          <a:xfrm>
            <a:off x="3556000" y="2806700"/>
            <a:ext cx="15875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A41035-730F-DB6B-7C24-9359325E0992}"/>
              </a:ext>
            </a:extLst>
          </p:cNvPr>
          <p:cNvSpPr/>
          <p:nvPr/>
        </p:nvSpPr>
        <p:spPr>
          <a:xfrm>
            <a:off x="5168900" y="2286000"/>
            <a:ext cx="2159000" cy="1041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7-target window</a:t>
            </a:r>
            <a:b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stationary?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AC42E6-7562-FD76-F112-3597F687FEEA}"/>
              </a:ext>
            </a:extLst>
          </p:cNvPr>
          <p:cNvCxnSpPr/>
          <p:nvPr/>
        </p:nvCxnSpPr>
        <p:spPr>
          <a:xfrm>
            <a:off x="7327900" y="2806700"/>
            <a:ext cx="15621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489CB1-A3CD-1B43-1F82-93D3CC9CE83E}"/>
              </a:ext>
            </a:extLst>
          </p:cNvPr>
          <p:cNvSpPr/>
          <p:nvPr/>
        </p:nvSpPr>
        <p:spPr>
          <a:xfrm>
            <a:off x="8915400" y="2286000"/>
            <a:ext cx="2413000" cy="10414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Remembered rest</a:t>
            </a:r>
            <a:b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re-anchors (jumps)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C61614-DC4F-00EF-7AD2-A2865E15D8D9}"/>
              </a:ext>
            </a:extLst>
          </p:cNvPr>
          <p:cNvSpPr txBox="1"/>
          <p:nvPr/>
        </p:nvSpPr>
        <p:spPr>
          <a:xfrm>
            <a:off x="3644900" y="3835400"/>
            <a:ext cx="4953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2100" b="1">
                <a:solidFill>
                  <a:srgbClr val="102A43"/>
                </a:solidFill>
                <a:latin typeface="Aptos" panose="020B0004020202020204" pitchFamily="34" charset="0"/>
              </a:rPr>
              <a:t>Re-anchor floor: 20 mm / 6°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E76DA-EA11-B1B3-32DF-1C3F71BD22DB}"/>
              </a:ext>
            </a:extLst>
          </p:cNvPr>
          <p:cNvSpPr txBox="1"/>
          <p:nvPr/>
        </p:nvSpPr>
        <p:spPr>
          <a:xfrm>
            <a:off x="1524000" y="4508500"/>
            <a:ext cx="9144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Rest never learns from a single raw pose and never from the displayed pose, because that output already contains smoothing and prior feedback. It adopts the measurement-only medoid target once the complete 7-target window is stationary (≤2 mm / ≤0.5°) and clearly displaced from the old rest. Position and rotation re-anchor independently.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00B656-A5FB-E63D-A452-03696C12B513}"/>
              </a:ext>
            </a:extLst>
          </p:cNvPr>
          <p:cNvSpPr/>
          <p:nvPr/>
        </p:nvSpPr>
        <p:spPr>
          <a:xfrm>
            <a:off x="2159000" y="5588000"/>
            <a:ext cx="7874000" cy="558800"/>
          </a:xfrm>
          <a:prstGeom prst="roundRect">
            <a:avLst/>
          </a:prstGeom>
          <a:solidFill>
            <a:srgbClr val="FFF2E1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202C37"/>
                </a:solidFill>
                <a:latin typeface="Aptos" panose="020B0004020202020204" pitchFamily="34" charset="0"/>
              </a:rPr>
              <a:t>Important: the 20 mm / 6° floor sits above the worst stationary measurement excursion recorded (19.6 mm / 5.7°), so noise alone can never relocate the rest.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2C584A-1C8E-DF67-A871-33A15A4844FC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navel_provider.gd::reanchor_rest_from_stable_target • simple_pose_stabilizer.gd::_update_stable_endpoint_state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D8EF47-88B8-F8D6-FAA9-0434F8C65F63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65856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517183-2DFD-B1F5-25D8-FDEC0954B0AA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3F212-6853-5D85-EFC7-74BF6E34019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Tracking loss and Quest-menu resume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27B776-F994-9EA0-9266-E82B095E4A20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D8FB8-A7AD-0049-B094-BB2D29FE2F70}"/>
              </a:ext>
            </a:extLst>
          </p:cNvPr>
          <p:cNvSpPr txBox="1"/>
          <p:nvPr/>
        </p:nvSpPr>
        <p:spPr>
          <a:xfrm>
            <a:off x="736600" y="1778000"/>
            <a:ext cx="4572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100" b="1">
                <a:solidFill>
                  <a:srgbClr val="102A43"/>
                </a:solidFill>
                <a:latin typeface="Aptos" panose="020B0004020202020204" pitchFamily="34" charset="0"/>
              </a:rPr>
              <a:t>Temporary marker loss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8AC441-F704-3C6F-2130-68F6818056D5}"/>
              </a:ext>
            </a:extLst>
          </p:cNvPr>
          <p:cNvSpPr/>
          <p:nvPr/>
        </p:nvSpPr>
        <p:spPr>
          <a:xfrm>
            <a:off x="787400" y="2438400"/>
            <a:ext cx="2286000" cy="939800"/>
          </a:xfrm>
          <a:prstGeom prst="roundRect">
            <a:avLst/>
          </a:prstGeom>
          <a:solidFill>
            <a:srgbClr val="E45756"/>
          </a:solidFill>
          <a:ln w="15875"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No new marker result</a:t>
            </a:r>
            <a:b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for 300 ms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8B7D73-BF45-1D27-EC73-2ACDB42BC040}"/>
              </a:ext>
            </a:extLst>
          </p:cNvPr>
          <p:cNvCxnSpPr/>
          <p:nvPr/>
        </p:nvCxnSpPr>
        <p:spPr>
          <a:xfrm>
            <a:off x="3073400" y="2908300"/>
            <a:ext cx="762000" cy="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776A0A-1F4F-4AD0-323A-B8E75DE1D2B8}"/>
              </a:ext>
            </a:extLst>
          </p:cNvPr>
          <p:cNvSpPr/>
          <p:nvPr/>
        </p:nvSpPr>
        <p:spPr>
          <a:xfrm>
            <a:off x="3860800" y="2438400"/>
            <a:ext cx="2286000" cy="9398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Hide avatar</a:t>
            </a:r>
            <a:b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keep last internal pose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73FE2A-2F1D-88BC-281B-8E134C24ABE9}"/>
              </a:ext>
            </a:extLst>
          </p:cNvPr>
          <p:cNvCxnSpPr/>
          <p:nvPr/>
        </p:nvCxnSpPr>
        <p:spPr>
          <a:xfrm>
            <a:off x="5003800" y="3378200"/>
            <a:ext cx="0" cy="7620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64F48C-75BE-F4E0-510C-44C0FF47000D}"/>
              </a:ext>
            </a:extLst>
          </p:cNvPr>
          <p:cNvSpPr/>
          <p:nvPr/>
        </p:nvSpPr>
        <p:spPr>
          <a:xfrm>
            <a:off x="3860800" y="4191000"/>
            <a:ext cx="2286000" cy="939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  <a:t>Collect 7 fresh detections</a:t>
            </a:r>
            <a:b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</a:br>
            <a:endParaRPr lang="en-GB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02EA7F-E2A8-B118-A961-AFE2E669C621}"/>
              </a:ext>
            </a:extLst>
          </p:cNvPr>
          <p:cNvSpPr txBox="1"/>
          <p:nvPr/>
        </p:nvSpPr>
        <p:spPr>
          <a:xfrm>
            <a:off x="6959600" y="1778000"/>
            <a:ext cx="4445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100" b="1">
                <a:solidFill>
                  <a:srgbClr val="102A43"/>
                </a:solidFill>
                <a:latin typeface="Aptos" panose="020B0004020202020204" pitchFamily="34" charset="0"/>
              </a:rPr>
              <a:t>App resumes after Quest menu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C28747-9817-D11D-57DA-1165334FE290}"/>
              </a:ext>
            </a:extLst>
          </p:cNvPr>
          <p:cNvSpPr/>
          <p:nvPr/>
        </p:nvSpPr>
        <p:spPr>
          <a:xfrm>
            <a:off x="7137400" y="2438400"/>
            <a:ext cx="2286000" cy="939800"/>
          </a:xfrm>
          <a:prstGeom prst="roundRect">
            <a:avLst/>
          </a:prstGeom>
          <a:solidFill>
            <a:srgbClr val="E45756"/>
          </a:solidFill>
          <a:ln w="15875"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Old XR world rest</a:t>
            </a:r>
            <a:b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may no longer be valid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5D1043-9E6B-4699-22DD-EFBEB3DDA684}"/>
              </a:ext>
            </a:extLst>
          </p:cNvPr>
          <p:cNvCxnSpPr/>
          <p:nvPr/>
        </p:nvCxnSpPr>
        <p:spPr>
          <a:xfrm>
            <a:off x="9423400" y="2908300"/>
            <a:ext cx="762000" cy="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7C551D-501A-28DD-6126-BF144BFADEA7}"/>
              </a:ext>
            </a:extLst>
          </p:cNvPr>
          <p:cNvSpPr/>
          <p:nvPr/>
        </p:nvSpPr>
        <p:spPr>
          <a:xfrm>
            <a:off x="10210800" y="2438400"/>
            <a:ext cx="1524000" cy="939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Keep permanent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marker offsets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E15043-6576-A4A8-5F12-FB7E3D2620FC}"/>
              </a:ext>
            </a:extLst>
          </p:cNvPr>
          <p:cNvCxnSpPr/>
          <p:nvPr/>
        </p:nvCxnSpPr>
        <p:spPr>
          <a:xfrm>
            <a:off x="9423400" y="3378200"/>
            <a:ext cx="0" cy="7620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C4292C-041E-9791-2DC7-227CA4766F6B}"/>
              </a:ext>
            </a:extLst>
          </p:cNvPr>
          <p:cNvSpPr/>
          <p:nvPr/>
        </p:nvSpPr>
        <p:spPr>
          <a:xfrm>
            <a:off x="8280400" y="4191000"/>
            <a:ext cx="2286000" cy="9398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Relearn startup rest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35–50 detections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≈8–11.4 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F6E4C3-61BA-C3AD-A8C8-DD4317B029F1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marker_freshness.gd • avatar_rig_navel.gd::_notification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35222A-3874-AF89-8027-6A5537863619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0896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1E1890-5262-FF86-3D4F-93BFDA1E52DD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EDF03-F08E-A645-D89E-5DB6BAC5EFA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Final render transform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66FB64-18CF-7570-9D21-482F54C8B8B7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2CD4A2-7BAE-6EC8-67D2-685127179055}"/>
              </a:ext>
            </a:extLst>
          </p:cNvPr>
          <p:cNvSpPr/>
          <p:nvPr/>
        </p:nvSpPr>
        <p:spPr>
          <a:xfrm>
            <a:off x="914400" y="2476500"/>
            <a:ext cx="2413000" cy="10922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FILTERED</a:t>
            </a:r>
            <a:b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COMMON POSE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5ED52-2CEF-DDEA-ABF5-4BACDBA519BB}"/>
              </a:ext>
            </a:extLst>
          </p:cNvPr>
          <p:cNvSpPr txBox="1"/>
          <p:nvPr/>
        </p:nvSpPr>
        <p:spPr>
          <a:xfrm>
            <a:off x="3835400" y="2705100"/>
            <a:ext cx="508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3200" b="1">
                <a:solidFill>
                  <a:srgbClr val="102A43"/>
                </a:solidFill>
                <a:latin typeface="Aptos" panose="020B0004020202020204" pitchFamily="34" charset="0"/>
              </a:rPr>
              <a:t>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5A6272-9A2F-4EDE-6466-87263947A7FE}"/>
              </a:ext>
            </a:extLst>
          </p:cNvPr>
          <p:cNvSpPr/>
          <p:nvPr/>
        </p:nvSpPr>
        <p:spPr>
          <a:xfrm>
            <a:off x="4826000" y="2476500"/>
            <a:ext cx="2413000" cy="10922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FIXED MODEL</a:t>
            </a:r>
            <a:b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ALIGNMENT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72FFD-2313-F942-EEA8-8200DA27FAC9}"/>
              </a:ext>
            </a:extLst>
          </p:cNvPr>
          <p:cNvSpPr txBox="1"/>
          <p:nvPr/>
        </p:nvSpPr>
        <p:spPr>
          <a:xfrm>
            <a:off x="7747000" y="2705100"/>
            <a:ext cx="508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3200" b="1">
                <a:solidFill>
                  <a:srgbClr val="102A43"/>
                </a:solidFill>
                <a:latin typeface="Aptos" panose="020B0004020202020204" pitchFamily="34" charset="0"/>
              </a:rPr>
              <a:t>=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2F01BB-4701-1623-2E91-58879C8D3E4F}"/>
              </a:ext>
            </a:extLst>
          </p:cNvPr>
          <p:cNvSpPr/>
          <p:nvPr/>
        </p:nvSpPr>
        <p:spPr>
          <a:xfrm>
            <a:off x="8763000" y="2476500"/>
            <a:ext cx="2413000" cy="10922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VISIBLE</a:t>
            </a:r>
            <a:b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AVATAR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AD1ABA-D080-4D6B-2127-F2F66ADC3045}"/>
              </a:ext>
            </a:extLst>
          </p:cNvPr>
          <p:cNvSpPr/>
          <p:nvPr/>
        </p:nvSpPr>
        <p:spPr>
          <a:xfrm>
            <a:off x="4318000" y="4241800"/>
            <a:ext cx="3556000" cy="127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Scale 0.77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Rotation −90° X (lay flat)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Position (0.07256, −0.127499, 0.177248) 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ACE7A-F7D0-8CA0-7C49-5858CC888D42}"/>
              </a:ext>
            </a:extLst>
          </p:cNvPr>
          <p:cNvSpPr txBox="1"/>
          <p:nvPr/>
        </p:nvSpPr>
        <p:spPr>
          <a:xfrm>
            <a:off x="3175000" y="5816600"/>
            <a:ext cx="5842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 b="1">
                <a:solidFill>
                  <a:srgbClr val="27AE60"/>
                </a:solidFill>
                <a:latin typeface="Aptos" panose="020B0004020202020204" pitchFamily="34" charset="0"/>
              </a:rPr>
              <a:t>The removed −30° shoulder roll is no longer present.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27911-6F3D-E148-2F1A-16C75915F7BA}"/>
              </a:ext>
            </a:extLst>
          </p:cNvPr>
          <p:cNvSpPr txBox="1"/>
          <p:nvPr/>
        </p:nvSpPr>
        <p:spPr>
          <a:xfrm>
            <a:off x="787400" y="1651000"/>
            <a:ext cx="10604500" cy="26161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700" b="1">
                <a:solidFill>
                  <a:srgbClr val="E45756"/>
                </a:solidFill>
                <a:latin typeface="Aptos" panose="020B0004020202020204" pitchFamily="34" charset="0"/>
              </a:rPr>
              <a:t>A persistent fixed offset here cannot be repaired by waiting, smoothing, the prior or 600-second healing.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72B8F9-8AB6-B196-A065-FF8879869625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main_3d.tscn: mannequin child transform • AvatarRig.global_transform = filtered pose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1512ED-3867-226D-0349-A7B993E36BFA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4090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9BE2A-28FB-57C8-6C11-714D8AEB3AE3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8369FD-E601-E7EF-2DB1-27EA410B1D92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What the experiment must decide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127BDA-A35A-1753-E96D-0221C965EABE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F18FC-0458-CC7E-DCDB-D9B2078DF245}"/>
              </a:ext>
            </a:extLst>
          </p:cNvPr>
          <p:cNvSpPr txBox="1"/>
          <p:nvPr/>
        </p:nvSpPr>
        <p:spPr>
          <a:xfrm>
            <a:off x="533400" y="1524000"/>
            <a:ext cx="10985500" cy="52322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The grid contains the current values; being present in a grid does not mean the experiment has selected them as best.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D87C04-0B02-B899-AB1E-A9EAB31BECD1}"/>
              </a:ext>
            </a:extLst>
          </p:cNvPr>
          <p:cNvSpPr/>
          <p:nvPr/>
        </p:nvSpPr>
        <p:spPr>
          <a:xfrm>
            <a:off x="635000" y="2324100"/>
            <a:ext cx="3175000" cy="5080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Parameter group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DD280B-442D-7794-1F7D-4773082D563D}"/>
              </a:ext>
            </a:extLst>
          </p:cNvPr>
          <p:cNvSpPr/>
          <p:nvPr/>
        </p:nvSpPr>
        <p:spPr>
          <a:xfrm>
            <a:off x="4000500" y="2324100"/>
            <a:ext cx="3302000" cy="5080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Examples in grid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7DB92D-A8FE-962F-673A-3802D6877362}"/>
              </a:ext>
            </a:extLst>
          </p:cNvPr>
          <p:cNvSpPr/>
          <p:nvPr/>
        </p:nvSpPr>
        <p:spPr>
          <a:xfrm>
            <a:off x="7493000" y="2324100"/>
            <a:ext cx="2222500" cy="5080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Current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EC3D16-2457-824C-08D8-91009F8E3CDB}"/>
              </a:ext>
            </a:extLst>
          </p:cNvPr>
          <p:cNvSpPr/>
          <p:nvPr/>
        </p:nvSpPr>
        <p:spPr>
          <a:xfrm>
            <a:off x="9906000" y="2324100"/>
            <a:ext cx="1651000" cy="5080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Status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8CB1CA-F212-9F5F-AE96-831351B1D8DA}"/>
              </a:ext>
            </a:extLst>
          </p:cNvPr>
          <p:cNvSpPr/>
          <p:nvPr/>
        </p:nvSpPr>
        <p:spPr>
          <a:xfrm>
            <a:off x="635000" y="2882900"/>
            <a:ext cx="3175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Startup convergence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3B66D5-BD24-CF94-D8A9-B12EEF64AB6A}"/>
              </a:ext>
            </a:extLst>
          </p:cNvPr>
          <p:cNvSpPr/>
          <p:nvPr/>
        </p:nvSpPr>
        <p:spPr>
          <a:xfrm>
            <a:off x="4000500" y="2882900"/>
            <a:ext cx="3302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2.0 mm × 0.50° included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A9CBA-6621-FC79-9BEE-FAE2BA0A15E3}"/>
              </a:ext>
            </a:extLst>
          </p:cNvPr>
          <p:cNvSpPr/>
          <p:nvPr/>
        </p:nvSpPr>
        <p:spPr>
          <a:xfrm>
            <a:off x="7493000" y="2882900"/>
            <a:ext cx="22225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2 mm / 0.5°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0428FC-06D3-5CE3-5830-CF085B99D465}"/>
              </a:ext>
            </a:extLst>
          </p:cNvPr>
          <p:cNvSpPr/>
          <p:nvPr/>
        </p:nvSpPr>
        <p:spPr>
          <a:xfrm>
            <a:off x="9906000" y="2882900"/>
            <a:ext cx="1651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 b="1">
                <a:solidFill>
                  <a:srgbClr val="16324F"/>
                </a:solidFill>
                <a:latin typeface="Aptos" panose="020B0004020202020204" pitchFamily="34" charset="0"/>
              </a:rPr>
              <a:t>Provisional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07C97E-6769-8CC7-9D6D-48C46584DAFB}"/>
              </a:ext>
            </a:extLst>
          </p:cNvPr>
          <p:cNvSpPr/>
          <p:nvPr/>
        </p:nvSpPr>
        <p:spPr>
          <a:xfrm>
            <a:off x="635000" y="3594100"/>
            <a:ext cx="3175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Display filter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DCDC1F-7661-62BD-CE89-4D1218F0FF16}"/>
              </a:ext>
            </a:extLst>
          </p:cNvPr>
          <p:cNvSpPr/>
          <p:nvPr/>
        </p:nvSpPr>
        <p:spPr>
          <a:xfrm>
            <a:off x="4000500" y="3594100"/>
            <a:ext cx="3302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window, dead zone, smoothing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CA739D-EE3B-6E0F-2FAF-E7FB54C83868}"/>
              </a:ext>
            </a:extLst>
          </p:cNvPr>
          <p:cNvSpPr/>
          <p:nvPr/>
        </p:nvSpPr>
        <p:spPr>
          <a:xfrm>
            <a:off x="7493000" y="3594100"/>
            <a:ext cx="22225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7 / 6 mm / 0.8 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0D4D79-55F2-2C4D-6EA9-B95CCE7BD3B3}"/>
              </a:ext>
            </a:extLst>
          </p:cNvPr>
          <p:cNvSpPr/>
          <p:nvPr/>
        </p:nvSpPr>
        <p:spPr>
          <a:xfrm>
            <a:off x="9906000" y="3594100"/>
            <a:ext cx="1651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 b="1">
                <a:solidFill>
                  <a:srgbClr val="16324F"/>
                </a:solidFill>
                <a:latin typeface="Aptos" panose="020B0004020202020204" pitchFamily="34" charset="0"/>
              </a:rPr>
              <a:t>Provisional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8544E62-2CB0-C061-D0CB-C1CA17700923}"/>
              </a:ext>
            </a:extLst>
          </p:cNvPr>
          <p:cNvSpPr/>
          <p:nvPr/>
        </p:nvSpPr>
        <p:spPr>
          <a:xfrm>
            <a:off x="635000" y="4305300"/>
            <a:ext cx="3175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Prior and re-anchor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A851ABA-887C-CCDB-6533-49D7E55F737E}"/>
              </a:ext>
            </a:extLst>
          </p:cNvPr>
          <p:cNvSpPr/>
          <p:nvPr/>
        </p:nvSpPr>
        <p:spPr>
          <a:xfrm>
            <a:off x="4000500" y="4305300"/>
            <a:ext cx="3302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prior 2–30 s • floor 0–40 mm / 0–8°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E21384B-2752-721C-3818-8A67101FB023}"/>
              </a:ext>
            </a:extLst>
          </p:cNvPr>
          <p:cNvSpPr/>
          <p:nvPr/>
        </p:nvSpPr>
        <p:spPr>
          <a:xfrm>
            <a:off x="7493000" y="4305300"/>
            <a:ext cx="22225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8 s • 20 mm / 6°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09E24B-73C0-CE65-88A1-786B5411139E}"/>
              </a:ext>
            </a:extLst>
          </p:cNvPr>
          <p:cNvSpPr/>
          <p:nvPr/>
        </p:nvSpPr>
        <p:spPr>
          <a:xfrm>
            <a:off x="9906000" y="4305300"/>
            <a:ext cx="1651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 b="1">
                <a:solidFill>
                  <a:srgbClr val="16324F"/>
                </a:solidFill>
                <a:latin typeface="Aptos" panose="020B0004020202020204" pitchFamily="34" charset="0"/>
              </a:rPr>
              <a:t>Provisional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1DBCED-D5A3-5D3E-3526-45AAFA261FC7}"/>
              </a:ext>
            </a:extLst>
          </p:cNvPr>
          <p:cNvSpPr/>
          <p:nvPr/>
        </p:nvSpPr>
        <p:spPr>
          <a:xfrm>
            <a:off x="635000" y="5016500"/>
            <a:ext cx="3175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Fusion strategy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9A794BF-A1A0-4982-C989-E3FE9A09F4AA}"/>
              </a:ext>
            </a:extLst>
          </p:cNvPr>
          <p:cNvSpPr/>
          <p:nvPr/>
        </p:nvSpPr>
        <p:spPr>
          <a:xfrm>
            <a:off x="4000500" y="5016500"/>
            <a:ext cx="3302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mean / robust / agreement mean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4F4DD70-3406-57B1-DB00-A1CB1CF4BED2}"/>
              </a:ext>
            </a:extLst>
          </p:cNvPr>
          <p:cNvSpPr/>
          <p:nvPr/>
        </p:nvSpPr>
        <p:spPr>
          <a:xfrm>
            <a:off x="7493000" y="5016500"/>
            <a:ext cx="22225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>
                <a:solidFill>
                  <a:srgbClr val="16324F"/>
                </a:solidFill>
                <a:latin typeface="Aptos" panose="020B0004020202020204" pitchFamily="34" charset="0"/>
              </a:rPr>
              <a:t>mean for all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CE8E6DF-E796-4D46-3A49-0A12DACD7786}"/>
              </a:ext>
            </a:extLst>
          </p:cNvPr>
          <p:cNvSpPr/>
          <p:nvPr/>
        </p:nvSpPr>
        <p:spPr>
          <a:xfrm>
            <a:off x="9906000" y="5016500"/>
            <a:ext cx="1651000" cy="635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200" b="1">
                <a:solidFill>
                  <a:srgbClr val="E45756"/>
                </a:solidFill>
                <a:latin typeface="Aptos" panose="020B0004020202020204" pitchFamily="34" charset="0"/>
              </a:rPr>
              <a:t>Not yet compared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2B63EEB-39D5-F852-B53C-CD6D5E97CD28}"/>
              </a:ext>
            </a:extLst>
          </p:cNvPr>
          <p:cNvSpPr/>
          <p:nvPr/>
        </p:nvSpPr>
        <p:spPr>
          <a:xfrm>
            <a:off x="1333500" y="5880100"/>
            <a:ext cx="9525000" cy="5334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Required evidence: labelled stationary recording + known movement recording + error plots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B0B41F-B1E5-238B-A772-41C0ED296A3A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tune_filter.py • current values must not be called experimentally validated yet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F1BA9B-8A60-4976-553C-08164231063D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91043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F04A3D-D8BC-7131-82B0-A20EB12EDCEE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BDC22-B33F-453D-ED06-EA33428799D9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How this prototype supports NaReT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C9AF47-380F-A55D-CBCB-F972E20301D8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91D762-3538-ADB5-2AA7-78B4C3FB6D9A}"/>
              </a:ext>
            </a:extLst>
          </p:cNvPr>
          <p:cNvSpPr/>
          <p:nvPr/>
        </p:nvSpPr>
        <p:spPr>
          <a:xfrm>
            <a:off x="698500" y="1803400"/>
            <a:ext cx="3111500" cy="6096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NARET REQUIREMENT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8EC804-0246-A93E-3F31-DD47DB043EA6}"/>
              </a:ext>
            </a:extLst>
          </p:cNvPr>
          <p:cNvSpPr/>
          <p:nvPr/>
        </p:nvSpPr>
        <p:spPr>
          <a:xfrm>
            <a:off x="698500" y="2590800"/>
            <a:ext cx="3111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German–Polish AI/XR learning</a:t>
            </a:r>
            <a:b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through realistic resuscitation scenarios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799568-5010-96C5-C966-D3BF059D02D6}"/>
              </a:ext>
            </a:extLst>
          </p:cNvPr>
          <p:cNvCxnSpPr/>
          <p:nvPr/>
        </p:nvCxnSpPr>
        <p:spPr>
          <a:xfrm>
            <a:off x="3810000" y="3340100"/>
            <a:ext cx="9144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703AA0-2540-0EA9-8045-81CBB0A80885}"/>
              </a:ext>
            </a:extLst>
          </p:cNvPr>
          <p:cNvSpPr/>
          <p:nvPr/>
        </p:nvSpPr>
        <p:spPr>
          <a:xfrm>
            <a:off x="4749800" y="1803400"/>
            <a:ext cx="2692400" cy="6096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QUEST PROTOTYPE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B8A1B0-2A2C-8F9D-4381-F1740EAF01F0}"/>
              </a:ext>
            </a:extLst>
          </p:cNvPr>
          <p:cNvSpPr/>
          <p:nvPr/>
        </p:nvSpPr>
        <p:spPr>
          <a:xfrm>
            <a:off x="4749800" y="2590800"/>
            <a:ext cx="26924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Place and stabilize the virtual patient</a:t>
            </a:r>
            <a:b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on the real CPR mannequin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682CCE-9901-F909-0079-24D4DC18A04D}"/>
              </a:ext>
            </a:extLst>
          </p:cNvPr>
          <p:cNvCxnSpPr/>
          <p:nvPr/>
        </p:nvCxnSpPr>
        <p:spPr>
          <a:xfrm>
            <a:off x="7442200" y="3340100"/>
            <a:ext cx="9144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959713-B093-E5E6-5FD7-22593CE6AAFF}"/>
              </a:ext>
            </a:extLst>
          </p:cNvPr>
          <p:cNvSpPr/>
          <p:nvPr/>
        </p:nvSpPr>
        <p:spPr>
          <a:xfrm>
            <a:off x="8382000" y="1803400"/>
            <a:ext cx="3111500" cy="6096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TECHNICAL METHOD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E78C4F-7AAB-2DE9-8BF3-2A0D62F4611F}"/>
              </a:ext>
            </a:extLst>
          </p:cNvPr>
          <p:cNvSpPr/>
          <p:nvPr/>
        </p:nvSpPr>
        <p:spPr>
          <a:xfrm>
            <a:off x="8382000" y="2590800"/>
            <a:ext cx="3111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ArUco markers, calibration,</a:t>
            </a:r>
            <a:b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700" b="1">
                <a:solidFill>
                  <a:srgbClr val="16324F"/>
                </a:solidFill>
                <a:latin typeface="Aptos" panose="020B0004020202020204" pitchFamily="34" charset="0"/>
              </a:rPr>
              <a:t>pose fusion and filtering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904841-7870-6962-E0CF-82C1A6E928E0}"/>
              </a:ext>
            </a:extLst>
          </p:cNvPr>
          <p:cNvSpPr/>
          <p:nvPr/>
        </p:nvSpPr>
        <p:spPr>
          <a:xfrm>
            <a:off x="1193800" y="4762500"/>
            <a:ext cx="9804400" cy="787400"/>
          </a:xfrm>
          <a:prstGeom prst="roundRect">
            <a:avLst/>
          </a:prstGeom>
          <a:solidFill>
            <a:srgbClr val="FFF2E1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202C37"/>
                </a:solidFill>
                <a:latin typeface="Aptos" panose="020B0004020202020204" pitchFamily="34" charset="0"/>
              </a:rPr>
              <a:t>Important: NaReT requires a reliable XR learning experience. It does not prescribe ArUco markers or a particular barcode size.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26E1BA-D9B8-CAAA-09C3-5EE081D6E680}"/>
              </a:ext>
            </a:extLst>
          </p:cNvPr>
          <p:cNvSpPr txBox="1"/>
          <p:nvPr/>
        </p:nvSpPr>
        <p:spPr>
          <a:xfrm>
            <a:off x="1295400" y="5816600"/>
            <a:ext cx="9588500" cy="26161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700" b="1">
                <a:solidFill>
                  <a:srgbClr val="102A43"/>
                </a:solidFill>
                <a:latin typeface="Aptos" panose="020B0004020202020204" pitchFamily="34" charset="0"/>
              </a:rPr>
              <a:t>Project method: concept → prototype → testing → evaluation → iterative improvement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107F28-0A85-B8EE-F02B-81F184791F06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Sources: NaReT JEMS A1.5 • About the project / O projekcie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648CAC-39FC-8738-2488-ACD723D8E5C3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075484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9F5EBC-9111-976F-7D04-35ED5FFB0395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64902-746C-4BF7-8D5D-080BCD1BEB5A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What to do next — in the correct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650C60-CB38-B1DD-DB77-DE01421009B7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8DFB1A-DA11-09ED-0956-D94283764C09}"/>
              </a:ext>
            </a:extLst>
          </p:cNvPr>
          <p:cNvSpPr/>
          <p:nvPr/>
        </p:nvSpPr>
        <p:spPr>
          <a:xfrm>
            <a:off x="838200" y="1790700"/>
            <a:ext cx="660400" cy="660400"/>
          </a:xfrm>
          <a:prstGeom prst="ellipse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77336-6E5E-9A6C-22B4-72C05E24CD4B}"/>
              </a:ext>
            </a:extLst>
          </p:cNvPr>
          <p:cNvSpPr txBox="1"/>
          <p:nvPr/>
        </p:nvSpPr>
        <p:spPr>
          <a:xfrm>
            <a:off x="1727200" y="17018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102A43"/>
                </a:solidFill>
                <a:latin typeface="Aptos" panose="020B0004020202020204" pitchFamily="34" charset="0"/>
              </a:rPr>
              <a:t>SAVE BASELINE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40707-F94E-0569-B554-AC75E2793050}"/>
              </a:ext>
            </a:extLst>
          </p:cNvPr>
          <p:cNvSpPr txBox="1"/>
          <p:nvPr/>
        </p:nvSpPr>
        <p:spPr>
          <a:xfrm>
            <a:off x="4635500" y="1701800"/>
            <a:ext cx="6604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Clean the working tree; commit and push the current 10 cm working version.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6F5E6B-36F7-836E-ECB6-21F93180F13F}"/>
              </a:ext>
            </a:extLst>
          </p:cNvPr>
          <p:cNvCxnSpPr/>
          <p:nvPr/>
        </p:nvCxnSpPr>
        <p:spPr>
          <a:xfrm>
            <a:off x="1168400" y="2451100"/>
            <a:ext cx="0" cy="27940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14F36A5-82CF-F1FB-5525-0E018C0B177B}"/>
              </a:ext>
            </a:extLst>
          </p:cNvPr>
          <p:cNvSpPr/>
          <p:nvPr/>
        </p:nvSpPr>
        <p:spPr>
          <a:xfrm>
            <a:off x="838200" y="2908300"/>
            <a:ext cx="660400" cy="660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26B066-2340-4B83-1371-BA89B530F539}"/>
              </a:ext>
            </a:extLst>
          </p:cNvPr>
          <p:cNvSpPr txBox="1"/>
          <p:nvPr/>
        </p:nvSpPr>
        <p:spPr>
          <a:xfrm>
            <a:off x="1727200" y="28194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1976D2"/>
                </a:solidFill>
                <a:latin typeface="Aptos" panose="020B0004020202020204" pitchFamily="34" charset="0"/>
              </a:rPr>
              <a:t>TEST SMALL MARKERS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8353BA-34D4-7D39-5A66-917788684F43}"/>
              </a:ext>
            </a:extLst>
          </p:cNvPr>
          <p:cNvSpPr txBox="1"/>
          <p:nvPr/>
        </p:nvSpPr>
        <p:spPr>
          <a:xfrm>
            <a:off x="4635500" y="2819400"/>
            <a:ext cx="6604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Keep IDs 0/1/2 and DICT_4X4_50; compare 10, 7.5 and 5 cm.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911C4C-DBEC-8D2B-7E02-07E9060E2432}"/>
              </a:ext>
            </a:extLst>
          </p:cNvPr>
          <p:cNvCxnSpPr/>
          <p:nvPr/>
        </p:nvCxnSpPr>
        <p:spPr>
          <a:xfrm>
            <a:off x="1168400" y="3568700"/>
            <a:ext cx="0" cy="27940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5E300A9-93AC-4697-8358-C925E7786337}"/>
              </a:ext>
            </a:extLst>
          </p:cNvPr>
          <p:cNvSpPr/>
          <p:nvPr/>
        </p:nvSpPr>
        <p:spPr>
          <a:xfrm>
            <a:off x="838200" y="4025900"/>
            <a:ext cx="660400" cy="660400"/>
          </a:xfrm>
          <a:prstGeom prst="ellipse">
            <a:avLst/>
          </a:prstGeom>
          <a:solidFill>
            <a:srgbClr val="7152AD"/>
          </a:solidFill>
          <a:ln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83B6FA-FE9A-5647-2BA4-6DF9226559BC}"/>
              </a:ext>
            </a:extLst>
          </p:cNvPr>
          <p:cNvSpPr txBox="1"/>
          <p:nvPr/>
        </p:nvSpPr>
        <p:spPr>
          <a:xfrm>
            <a:off x="1727200" y="39370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7152AD"/>
                </a:solidFill>
                <a:latin typeface="Aptos" panose="020B0004020202020204" pitchFamily="34" charset="0"/>
              </a:rPr>
              <a:t>FINALIZE TRACKING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B34C0-C876-E7D7-7937-F073E486BABA}"/>
              </a:ext>
            </a:extLst>
          </p:cNvPr>
          <p:cNvSpPr txBox="1"/>
          <p:nvPr/>
        </p:nvSpPr>
        <p:spPr>
          <a:xfrm>
            <a:off x="4635500" y="3937000"/>
            <a:ext cx="6604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Choose size, recalibrate, tune the filter and produce one clean APK.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440C29-0555-47F7-B652-1334ECC0B9CF}"/>
              </a:ext>
            </a:extLst>
          </p:cNvPr>
          <p:cNvCxnSpPr/>
          <p:nvPr/>
        </p:nvCxnSpPr>
        <p:spPr>
          <a:xfrm>
            <a:off x="1168400" y="4686300"/>
            <a:ext cx="0" cy="27940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6A7F07F-7064-A949-E7A0-4EEB34BEA962}"/>
              </a:ext>
            </a:extLst>
          </p:cNvPr>
          <p:cNvSpPr/>
          <p:nvPr/>
        </p:nvSpPr>
        <p:spPr>
          <a:xfrm>
            <a:off x="838200" y="5143500"/>
            <a:ext cx="660400" cy="6604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36D3F-0109-C493-1884-550EA11E4882}"/>
              </a:ext>
            </a:extLst>
          </p:cNvPr>
          <p:cNvSpPr txBox="1"/>
          <p:nvPr/>
        </p:nvSpPr>
        <p:spPr>
          <a:xfrm>
            <a:off x="1727200" y="5054600"/>
            <a:ext cx="28575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27AE60"/>
                </a:solidFill>
                <a:latin typeface="Aptos" panose="020B0004020202020204" pitchFamily="34" charset="0"/>
              </a:rPr>
              <a:t>VALIDATE CPR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0B2793-11F8-40D5-A8D3-297E7AE17874}"/>
              </a:ext>
            </a:extLst>
          </p:cNvPr>
          <p:cNvSpPr txBox="1"/>
          <p:nvPr/>
        </p:nvSpPr>
        <p:spPr>
          <a:xfrm>
            <a:off x="4635500" y="5054600"/>
            <a:ext cx="6604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Run the complete BLS scenario, not only an avatar-visibility test.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FB9424-302E-8643-2992-144EB9452248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The barcode experiment begins only after the current working version is recoverable from GitHub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612DE9-1405-5EB0-053E-3A416B45486F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54767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83B6C-7609-850A-2EA9-D208EF53B98B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6EFB6-94D0-EE68-4CA0-49ADC1D215D4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Small-marker experiment — change one thing at a 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D198AB-0E7F-A489-A2E6-CE34D17C7F62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869749-7024-A0CA-A9C5-91845858AC47}"/>
              </a:ext>
            </a:extLst>
          </p:cNvPr>
          <p:cNvSpPr/>
          <p:nvPr/>
        </p:nvSpPr>
        <p:spPr>
          <a:xfrm>
            <a:off x="952500" y="1841500"/>
            <a:ext cx="2794000" cy="9144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2500" b="1">
                <a:solidFill>
                  <a:srgbClr val="FFFFFF"/>
                </a:solidFill>
                <a:latin typeface="Aptos" panose="020B0004020202020204" pitchFamily="34" charset="0"/>
              </a:rPr>
              <a:t>10 cm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0808F-1779-9AD6-7BF0-6C399F71BF09}"/>
              </a:ext>
            </a:extLst>
          </p:cNvPr>
          <p:cNvSpPr txBox="1"/>
          <p:nvPr/>
        </p:nvSpPr>
        <p:spPr>
          <a:xfrm>
            <a:off x="952500" y="2882900"/>
            <a:ext cx="2794000" cy="20005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300" b="1">
                <a:solidFill>
                  <a:srgbClr val="27AE60"/>
                </a:solidFill>
                <a:latin typeface="Aptos" panose="020B0004020202020204" pitchFamily="34" charset="0"/>
              </a:rPr>
              <a:t>CONTROL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26FFAA-49D1-BFC9-C9B5-1A6EE4EE24D1}"/>
              </a:ext>
            </a:extLst>
          </p:cNvPr>
          <p:cNvSpPr/>
          <p:nvPr/>
        </p:nvSpPr>
        <p:spPr>
          <a:xfrm>
            <a:off x="4686300" y="1841500"/>
            <a:ext cx="2794000" cy="9144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2500" b="1">
                <a:solidFill>
                  <a:srgbClr val="FFFFFF"/>
                </a:solidFill>
                <a:latin typeface="Aptos" panose="020B0004020202020204" pitchFamily="34" charset="0"/>
              </a:rPr>
              <a:t>7.5 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F1282-27C5-BDE0-A72A-A70C796B376B}"/>
              </a:ext>
            </a:extLst>
          </p:cNvPr>
          <p:cNvSpPr txBox="1"/>
          <p:nvPr/>
        </p:nvSpPr>
        <p:spPr>
          <a:xfrm>
            <a:off x="4686300" y="2882900"/>
            <a:ext cx="2794000" cy="20005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300" b="1">
                <a:solidFill>
                  <a:srgbClr val="1976D2"/>
                </a:solidFill>
                <a:latin typeface="Aptos" panose="020B0004020202020204" pitchFamily="34" charset="0"/>
              </a:rPr>
              <a:t>FIRST CANDIDATE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215B2C-8F76-294B-609B-BCEE581B264D}"/>
              </a:ext>
            </a:extLst>
          </p:cNvPr>
          <p:cNvSpPr/>
          <p:nvPr/>
        </p:nvSpPr>
        <p:spPr>
          <a:xfrm>
            <a:off x="8420100" y="1841500"/>
            <a:ext cx="2794000" cy="914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2500" b="1">
                <a:solidFill>
                  <a:srgbClr val="FFFFFF"/>
                </a:solidFill>
                <a:latin typeface="Aptos" panose="020B0004020202020204" pitchFamily="34" charset="0"/>
              </a:rPr>
              <a:t>5 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A61ABF-1147-4B5B-872E-CA9024ECB93E}"/>
              </a:ext>
            </a:extLst>
          </p:cNvPr>
          <p:cNvSpPr txBox="1"/>
          <p:nvPr/>
        </p:nvSpPr>
        <p:spPr>
          <a:xfrm>
            <a:off x="8420100" y="2882900"/>
            <a:ext cx="2794000" cy="20005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300" b="1">
                <a:solidFill>
                  <a:srgbClr val="F59E0B"/>
                </a:solidFill>
                <a:latin typeface="Aptos" panose="020B0004020202020204" pitchFamily="34" charset="0"/>
              </a:rPr>
              <a:t>SMALLEST CANDIDATE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0AE3D7-8A48-A2B6-3A90-5018AB0A3335}"/>
              </a:ext>
            </a:extLst>
          </p:cNvPr>
          <p:cNvSpPr txBox="1"/>
          <p:nvPr/>
        </p:nvSpPr>
        <p:spPr>
          <a:xfrm>
            <a:off x="762000" y="3632200"/>
            <a:ext cx="22860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000" b="1">
                <a:solidFill>
                  <a:srgbClr val="102A43"/>
                </a:solidFill>
                <a:latin typeface="Aptos" panose="020B0004020202020204" pitchFamily="34" charset="0"/>
              </a:rPr>
              <a:t>For every size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4B562C-BD37-2A91-C2BE-1D522288DD61}"/>
              </a:ext>
            </a:extLst>
          </p:cNvPr>
          <p:cNvSpPr/>
          <p:nvPr/>
        </p:nvSpPr>
        <p:spPr>
          <a:xfrm>
            <a:off x="762000" y="4191000"/>
            <a:ext cx="24130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Print exact black-square size</a:t>
            </a:r>
            <a:b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+ clear white border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94BACC-E38B-5A8E-0770-A921654B9080}"/>
              </a:ext>
            </a:extLst>
          </p:cNvPr>
          <p:cNvCxnSpPr/>
          <p:nvPr/>
        </p:nvCxnSpPr>
        <p:spPr>
          <a:xfrm>
            <a:off x="3175000" y="4711700"/>
            <a:ext cx="4064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157BDC-A88F-4005-F07F-E78126DC61DE}"/>
              </a:ext>
            </a:extLst>
          </p:cNvPr>
          <p:cNvSpPr/>
          <p:nvPr/>
        </p:nvSpPr>
        <p:spPr>
          <a:xfrm>
            <a:off x="3606800" y="4191000"/>
            <a:ext cx="24130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Set aruco_patch_size</a:t>
            </a:r>
            <a:b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+ recalibrate mounting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4AD995-AB49-6E4A-34A8-90CE2CF148E0}"/>
              </a:ext>
            </a:extLst>
          </p:cNvPr>
          <p:cNvCxnSpPr/>
          <p:nvPr/>
        </p:nvCxnSpPr>
        <p:spPr>
          <a:xfrm>
            <a:off x="6019800" y="4711700"/>
            <a:ext cx="4064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412F6F-D038-D789-7F1E-28321C73E930}"/>
              </a:ext>
            </a:extLst>
          </p:cNvPr>
          <p:cNvSpPr/>
          <p:nvPr/>
        </p:nvSpPr>
        <p:spPr>
          <a:xfrm>
            <a:off x="6451600" y="4191000"/>
            <a:ext cx="24130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Record labelled</a:t>
            </a:r>
            <a:b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CPR-view tests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EFE6B2-C989-7312-9B69-5D74E3234E01}"/>
              </a:ext>
            </a:extLst>
          </p:cNvPr>
          <p:cNvCxnSpPr/>
          <p:nvPr/>
        </p:nvCxnSpPr>
        <p:spPr>
          <a:xfrm>
            <a:off x="8864600" y="4711700"/>
            <a:ext cx="4064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C01D7A-B455-1AE4-E4A9-5635143E4CDD}"/>
              </a:ext>
            </a:extLst>
          </p:cNvPr>
          <p:cNvSpPr/>
          <p:nvPr/>
        </p:nvSpPr>
        <p:spPr>
          <a:xfrm>
            <a:off x="9296400" y="4191000"/>
            <a:ext cx="21590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Compare reliability</a:t>
            </a:r>
            <a:b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16324F"/>
                </a:solidFill>
                <a:latin typeface="Aptos" panose="020B0004020202020204" pitchFamily="34" charset="0"/>
              </a:rPr>
              <a:t>and alignment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134A50-342B-D9AD-6F2F-1B0BF518F0C8}"/>
              </a:ext>
            </a:extLst>
          </p:cNvPr>
          <p:cNvSpPr txBox="1"/>
          <p:nvPr/>
        </p:nvSpPr>
        <p:spPr>
          <a:xfrm>
            <a:off x="825500" y="5715000"/>
            <a:ext cx="105410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Measure: detection rate • longest loss • position/rotation wobble • alignment error • recovery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AB9FC3-864E-A259-101B-44F75A25A8EF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Keep dictionary, IDs, resolution and filter fixed while marker size changes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4C169C-84D8-8EB6-239D-A0EB6C147191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64718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535F7-9C62-0FD0-808A-651556372E21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E2579-63D5-FF5F-0CEB-ED575C1FB3E2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The complete CPR acceptance 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24874E-E67E-8C1A-F5D3-D2694E559A7F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7704DD-9627-93FF-7722-2479E96D422C}"/>
              </a:ext>
            </a:extLst>
          </p:cNvPr>
          <p:cNvSpPr/>
          <p:nvPr/>
        </p:nvSpPr>
        <p:spPr>
          <a:xfrm>
            <a:off x="571500" y="1968500"/>
            <a:ext cx="609600" cy="6096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C76D12-12A4-452F-5514-DF367C88D133}"/>
              </a:ext>
            </a:extLst>
          </p:cNvPr>
          <p:cNvSpPr/>
          <p:nvPr/>
        </p:nvSpPr>
        <p:spPr>
          <a:xfrm>
            <a:off x="1308100" y="18415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Safety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8AE575-08E3-752F-D8E2-97D0D8BC727E}"/>
              </a:ext>
            </a:extLst>
          </p:cNvPr>
          <p:cNvCxnSpPr/>
          <p:nvPr/>
        </p:nvCxnSpPr>
        <p:spPr>
          <a:xfrm>
            <a:off x="3086100" y="22733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19B79B2-2243-84AF-E4D3-B655FDA6D84A}"/>
              </a:ext>
            </a:extLst>
          </p:cNvPr>
          <p:cNvSpPr/>
          <p:nvPr/>
        </p:nvSpPr>
        <p:spPr>
          <a:xfrm>
            <a:off x="3467100" y="1968500"/>
            <a:ext cx="609600" cy="6096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34E9D1-1ECE-BE0D-790E-FAEC5072A482}"/>
              </a:ext>
            </a:extLst>
          </p:cNvPr>
          <p:cNvSpPr/>
          <p:nvPr/>
        </p:nvSpPr>
        <p:spPr>
          <a:xfrm>
            <a:off x="4203700" y="18415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Response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2426BE-19B7-09AD-C029-D17DFDBFFAF5}"/>
              </a:ext>
            </a:extLst>
          </p:cNvPr>
          <p:cNvCxnSpPr/>
          <p:nvPr/>
        </p:nvCxnSpPr>
        <p:spPr>
          <a:xfrm>
            <a:off x="5981700" y="22733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9361CC4-8460-1D15-870E-43A011D102E3}"/>
              </a:ext>
            </a:extLst>
          </p:cNvPr>
          <p:cNvSpPr/>
          <p:nvPr/>
        </p:nvSpPr>
        <p:spPr>
          <a:xfrm>
            <a:off x="6362700" y="1968500"/>
            <a:ext cx="609600" cy="6096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772684-041C-EB24-DCD9-51452D4733F9}"/>
              </a:ext>
            </a:extLst>
          </p:cNvPr>
          <p:cNvSpPr/>
          <p:nvPr/>
        </p:nvSpPr>
        <p:spPr>
          <a:xfrm>
            <a:off x="7099300" y="18415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Call 112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399AC0-4239-0967-60A0-FF4D5F89361A}"/>
              </a:ext>
            </a:extLst>
          </p:cNvPr>
          <p:cNvCxnSpPr/>
          <p:nvPr/>
        </p:nvCxnSpPr>
        <p:spPr>
          <a:xfrm>
            <a:off x="8877300" y="22733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ACEFCC8-353D-5583-772E-FBC851F79DC0}"/>
              </a:ext>
            </a:extLst>
          </p:cNvPr>
          <p:cNvSpPr/>
          <p:nvPr/>
        </p:nvSpPr>
        <p:spPr>
          <a:xfrm>
            <a:off x="9258300" y="1968500"/>
            <a:ext cx="609600" cy="6096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F208E1-A43F-8760-A6BA-C0AE5E4D7098}"/>
              </a:ext>
            </a:extLst>
          </p:cNvPr>
          <p:cNvSpPr/>
          <p:nvPr/>
        </p:nvSpPr>
        <p:spPr>
          <a:xfrm>
            <a:off x="9994900" y="18415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Breathing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63C3BC-2445-CF56-8BBD-EEEDC90EF80C}"/>
              </a:ext>
            </a:extLst>
          </p:cNvPr>
          <p:cNvSpPr/>
          <p:nvPr/>
        </p:nvSpPr>
        <p:spPr>
          <a:xfrm>
            <a:off x="571500" y="3644900"/>
            <a:ext cx="609600" cy="6096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215FBA7-5AF1-BD01-2D7D-38ED3A8125C4}"/>
              </a:ext>
            </a:extLst>
          </p:cNvPr>
          <p:cNvSpPr/>
          <p:nvPr/>
        </p:nvSpPr>
        <p:spPr>
          <a:xfrm>
            <a:off x="1308100" y="35179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Compress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3437FC-2DF0-C5E8-0476-CBE333227CF4}"/>
              </a:ext>
            </a:extLst>
          </p:cNvPr>
          <p:cNvCxnSpPr/>
          <p:nvPr/>
        </p:nvCxnSpPr>
        <p:spPr>
          <a:xfrm>
            <a:off x="3086100" y="39497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F4EEF9E2-88F8-E792-A6A5-ED911FD02E86}"/>
              </a:ext>
            </a:extLst>
          </p:cNvPr>
          <p:cNvSpPr/>
          <p:nvPr/>
        </p:nvSpPr>
        <p:spPr>
          <a:xfrm>
            <a:off x="3467100" y="3644900"/>
            <a:ext cx="609600" cy="6096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77A2CBC-5591-F12A-3ED4-6EDA25FEA41A}"/>
              </a:ext>
            </a:extLst>
          </p:cNvPr>
          <p:cNvSpPr/>
          <p:nvPr/>
        </p:nvSpPr>
        <p:spPr>
          <a:xfrm>
            <a:off x="4203700" y="35179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AED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D38697-27DA-FBFE-45F1-3E63B826F23D}"/>
              </a:ext>
            </a:extLst>
          </p:cNvPr>
          <p:cNvCxnSpPr/>
          <p:nvPr/>
        </p:nvCxnSpPr>
        <p:spPr>
          <a:xfrm>
            <a:off x="5981700" y="39497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CA9BEC3-532B-BFEA-321F-CDA89C3068C6}"/>
              </a:ext>
            </a:extLst>
          </p:cNvPr>
          <p:cNvSpPr/>
          <p:nvPr/>
        </p:nvSpPr>
        <p:spPr>
          <a:xfrm>
            <a:off x="6362700" y="3644900"/>
            <a:ext cx="609600" cy="6096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B92A85-2382-1FE1-7D11-EF630873D31B}"/>
              </a:ext>
            </a:extLst>
          </p:cNvPr>
          <p:cNvSpPr/>
          <p:nvPr/>
        </p:nvSpPr>
        <p:spPr>
          <a:xfrm>
            <a:off x="7099300" y="35179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Resume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8806B6-458A-4506-ECEE-98FF800E618F}"/>
              </a:ext>
            </a:extLst>
          </p:cNvPr>
          <p:cNvCxnSpPr/>
          <p:nvPr/>
        </p:nvCxnSpPr>
        <p:spPr>
          <a:xfrm>
            <a:off x="8877300" y="3949700"/>
            <a:ext cx="304800" cy="0"/>
          </a:xfrm>
          <a:prstGeom prst="straightConnector1">
            <a:avLst/>
          </a:prstGeom>
          <a:ln w="254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CB4C292-2A57-0375-ACFB-CB1AE952134A}"/>
              </a:ext>
            </a:extLst>
          </p:cNvPr>
          <p:cNvSpPr/>
          <p:nvPr/>
        </p:nvSpPr>
        <p:spPr>
          <a:xfrm>
            <a:off x="9258300" y="3644900"/>
            <a:ext cx="609600" cy="6096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6BAD980-25B3-7E1A-F37E-406BFCAA2C6F}"/>
              </a:ext>
            </a:extLst>
          </p:cNvPr>
          <p:cNvSpPr/>
          <p:nvPr/>
        </p:nvSpPr>
        <p:spPr>
          <a:xfrm>
            <a:off x="9994900" y="3517900"/>
            <a:ext cx="1778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16324F"/>
                </a:solidFill>
                <a:latin typeface="Aptos" panose="020B0004020202020204" pitchFamily="34" charset="0"/>
              </a:rPr>
              <a:t>Handover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ADB8AB8-8269-1C2B-A91A-057131A3D0AD}"/>
              </a:ext>
            </a:extLst>
          </p:cNvPr>
          <p:cNvSpPr/>
          <p:nvPr/>
        </p:nvSpPr>
        <p:spPr>
          <a:xfrm>
            <a:off x="2286000" y="5029200"/>
            <a:ext cx="7620000" cy="6096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Quest tracking must remain usable throughout the sequence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920B1F-B28E-741D-4C5F-FD7A0CE9048C}"/>
              </a:ext>
            </a:extLst>
          </p:cNvPr>
          <p:cNvSpPr txBox="1"/>
          <p:nvPr/>
        </p:nvSpPr>
        <p:spPr>
          <a:xfrm>
            <a:off x="825500" y="5918200"/>
            <a:ext cx="105410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6324F"/>
                </a:solidFill>
                <a:latin typeface="Aptos" panose="020B0004020202020204" pitchFamily="34" charset="0"/>
              </a:rPr>
              <a:t>Acceptance: no random fly-in • correct orientation • acceptable wobble • loss recovery • real mannequin movement retained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A8AB7F-C57E-4A38-3F06-43813EEED092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Scenario 1 // Lernplattform • medical content must be approved by the project medical partners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D7431F-DAED-BB22-5EBE-BC76834C4873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77031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553AF2-3462-DB9F-CEA4-43C4628C75D6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87BFA-A035-3541-37B7-6EC2C595C02A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From technical prototype to NaReT deliverable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76EC4-88FC-DE6A-8898-FD0D5232FF79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F4FB24-6F32-AE1E-A1A1-799AC2DBF0A0}"/>
              </a:ext>
            </a:extLst>
          </p:cNvPr>
          <p:cNvSpPr/>
          <p:nvPr/>
        </p:nvSpPr>
        <p:spPr>
          <a:xfrm>
            <a:off x="635000" y="1828800"/>
            <a:ext cx="3365500" cy="6096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CONTENT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B5BE4A-8FF1-DA0A-6F39-839DA7FD2A60}"/>
              </a:ext>
            </a:extLst>
          </p:cNvPr>
          <p:cNvSpPr/>
          <p:nvPr/>
        </p:nvSpPr>
        <p:spPr>
          <a:xfrm>
            <a:off x="635000" y="2590800"/>
            <a:ext cx="33655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German + Polish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Productive vs receptive phrases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Audio + pronunciation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AED and Situation B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32C68D-2B31-336F-DD43-28B56F6E2A6F}"/>
              </a:ext>
            </a:extLst>
          </p:cNvPr>
          <p:cNvSpPr/>
          <p:nvPr/>
        </p:nvSpPr>
        <p:spPr>
          <a:xfrm>
            <a:off x="4483100" y="1828800"/>
            <a:ext cx="3365500" cy="6096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QUALITY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97795C-4200-4ACC-FF21-D7DB3CB2182B}"/>
              </a:ext>
            </a:extLst>
          </p:cNvPr>
          <p:cNvSpPr/>
          <p:nvPr/>
        </p:nvSpPr>
        <p:spPr>
          <a:xfrm>
            <a:off x="4483100" y="2590800"/>
            <a:ext cx="33655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Usability + accessibility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Phone/tablet/desktop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Privacy decisions</a:t>
            </a:r>
            <a:b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500">
                <a:solidFill>
                  <a:srgbClr val="16324F"/>
                </a:solidFill>
                <a:latin typeface="Aptos" panose="020B0004020202020204" pitchFamily="34" charset="0"/>
              </a:rPr>
              <a:t>Reliable Quest tracking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F0A0FB-9A28-9FFB-D186-33635EB3B040}"/>
              </a:ext>
            </a:extLst>
          </p:cNvPr>
          <p:cNvSpPr/>
          <p:nvPr/>
        </p:nvSpPr>
        <p:spPr>
          <a:xfrm>
            <a:off x="8331200" y="1828800"/>
            <a:ext cx="3365500" cy="6096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6B770D-62E2-D5DB-BCBF-D7E01C674B62}"/>
              </a:ext>
            </a:extLst>
          </p:cNvPr>
          <p:cNvSpPr/>
          <p:nvPr/>
        </p:nvSpPr>
        <p:spPr>
          <a:xfrm>
            <a:off x="8331200" y="2590800"/>
            <a:ext cx="33655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  <a:t>Structured user tests</a:t>
            </a:r>
            <a:b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  <a:t>Quantitative + qualitative evaluation</a:t>
            </a:r>
            <a:b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  <a:t>Iterative corrections</a:t>
            </a:r>
            <a:b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fr-FR" sz="1500">
                <a:solidFill>
                  <a:srgbClr val="16324F"/>
                </a:solidFill>
                <a:latin typeface="Aptos" panose="020B0004020202020204" pitchFamily="34" charset="0"/>
              </a:rPr>
              <a:t>Project documentation</a:t>
            </a:r>
            <a:endParaRPr lang="en-GB" sz="1500">
              <a:solidFill>
                <a:srgbClr val="16324F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1890C8-7390-0E73-A14F-44C9523CB236}"/>
              </a:ext>
            </a:extLst>
          </p:cNvPr>
          <p:cNvSpPr/>
          <p:nvPr/>
        </p:nvSpPr>
        <p:spPr>
          <a:xfrm>
            <a:off x="952500" y="5486400"/>
            <a:ext cx="10287000" cy="7620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Current Drive priorities: platform skeleton • language minigames • privacy • audio/speech • AED scope • Situation B • responsive UI • documentation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CF1FE-183F-06A1-B534-FB45D3359F1E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Source: NaReT Action Items board (read-only GitHub export) • JEMS A1.5 and A1.7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7171BB-B1DE-28F4-8115-A8CFE6167852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0695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1496</Words>
  <Application>Microsoft Office PowerPoint</Application>
  <PresentationFormat>Widescreen</PresentationFormat>
  <Paragraphs>229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Ardra Bauldwin</dc:creator>
  <cp:lastModifiedBy>Ardra Bauldwin</cp:lastModifiedBy>
  <cp:revision>4</cp:revision>
  <dcterms:created xsi:type="dcterms:W3CDTF">2026-08-30T19:16:00Z</dcterms:created>
  <dcterms:modified xsi:type="dcterms:W3CDTF">2026-09-02T15:55:21Z</dcterms:modified>
</cp:coreProperties>
</file>