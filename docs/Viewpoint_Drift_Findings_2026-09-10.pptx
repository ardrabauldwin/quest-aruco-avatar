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0" r:id="rId33"/>
    <p:sldId id="287" r:id="rId30"/>
    <p:sldId id="288" r:id="rId31"/>
    <p:sldId id="289" r:id="rId32"/>
    <p:sldId id="291" r:id="rId34"/>
    <p:sldId id="292" r:id="rId35"/>
    <p:sldId id="293" r:id="rId36"/>
    <p:sldId id="294" r:id="rId37"/>
    <p:sldId id="295"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2387D-5391-9836-DEC5-B00322A0489C}" name="Ardra Bauldwin" initials="AB" userId="Ardra Bauldw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3" autoAdjust="0"/>
    <p:restoredTop sz="94660"/>
  </p:normalViewPr>
  <p:slideViewPr>
    <p:cSldViewPr snapToGrid="0">
      <p:cViewPr varScale="1">
        <p:scale>
          <a:sx n="57" d="100"/>
          <a:sy n="57" d="100"/>
        </p:scale>
        <p:origin x="476"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10.xml"/><Relationship Id="rId6" Type="http://schemas.openxmlformats.org/officeDocument/2006/relationships/slide" Target="slides/slide11.xml"/><Relationship Id="rId7" Type="http://schemas.openxmlformats.org/officeDocument/2006/relationships/slide" Target="slides/slide12.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5.xml"/><Relationship Id="rId21" Type="http://schemas.openxmlformats.org/officeDocument/2006/relationships/slide" Target="slides/slide26.xml"/><Relationship Id="rId22" Type="http://schemas.openxmlformats.org/officeDocument/2006/relationships/slide" Target="slides/slide27.xml"/><Relationship Id="rId23" Type="http://schemas.openxmlformats.org/officeDocument/2006/relationships/slide" Target="slides/slide28.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8/10/relationships/authors" Target="authors.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2.xml"/><Relationship Id="rId34" Type="http://schemas.openxmlformats.org/officeDocument/2006/relationships/slide" Target="slides/slide6.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BD6747-5773-4437-9BF1-CBA61ACE12D7}" type="datetimeFigureOut">
              <a:rPr lang="en-GB" smtClean="0"/>
              <a:t>10/09/2026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B4CE01-53F1-4386-90EE-DF16E13832B7}" type="slidenum">
              <a:rPr lang="en-GB" smtClean="0"/>
              <a:t>‹#›</a:t>
            </a:fld>
            <a:endParaRPr lang="en-GB"/>
          </a:p>
        </p:txBody>
      </p:sp>
    </p:spTree>
    <p:extLst>
      <p:ext uri="{BB962C8B-B14F-4D97-AF65-F5344CB8AC3E}">
        <p14:creationId xmlns:p14="http://schemas.microsoft.com/office/powerpoint/2010/main" val="61119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9B4CE01-53F1-4386-90EE-DF16E13832B7}" type="slidenum">
              <a:rPr lang="en-GB" smtClean="0"/>
              <a:t>17</a:t>
            </a:fld>
            <a:endParaRPr lang="en-GB"/>
          </a:p>
        </p:txBody>
      </p:sp>
    </p:spTree>
    <p:extLst>
      <p:ext uri="{BB962C8B-B14F-4D97-AF65-F5344CB8AC3E}">
        <p14:creationId xmlns:p14="http://schemas.microsoft.com/office/powerpoint/2010/main" val="3420055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1051-EB82-BC66-9376-BD68CF49B3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06E2B62-2154-1563-1299-ADE69D850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FF62962-D102-ED2C-02E4-52AB84C07030}"/>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B45EEF32-80EE-F1EF-8EC6-6712A0D646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679242-BB2B-75D2-A1A4-2894893D776A}"/>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515315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3AC2-15BC-ED83-BD93-1177EA966B1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C423AE-731F-3B77-380E-1D43ABE919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852AF1-40D6-6E36-C5C6-A9282EBEB11A}"/>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E5E3A7D3-0D49-AE78-4D13-EB221F508E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637729-DC8A-6343-05D3-755D0E8F3C76}"/>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2499358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0AB5E-615C-BC51-D7D6-0F49CF7A3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4BED517-E40C-63C9-058C-37337EACFC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B3750C-F85F-ADC9-8924-D27C8FC55622}"/>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C2A1836C-2A2B-3ED9-F466-464EA840D0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C89DF2-365B-CD31-41E1-1D196B227128}"/>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3310005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42EC-7097-9876-E4E7-B6C0F618C9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16932D2-1442-7A8B-2C5D-BF29D69B4E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453AC35-579C-2CA6-09FF-91C0790DB8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E4D2237-C14A-1E6D-20E7-DE57BF542AD3}"/>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6" name="Footer Placeholder 5">
            <a:extLst>
              <a:ext uri="{FF2B5EF4-FFF2-40B4-BE49-F238E27FC236}">
                <a16:creationId xmlns:a16="http://schemas.microsoft.com/office/drawing/2014/main" id="{25C7E138-1F79-6840-DF7E-4544D56D4C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126621-46A1-3BDD-5313-EBE4F1A63DA9}"/>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95408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F8B9-9756-D8B3-EB17-A5C814D5150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022F6C-F4CC-10E9-1CC4-D696A9616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746620-68E5-DD95-9E06-DF5CD031D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54ACB0-04B5-7246-C95D-054D76288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7F4C50-22D7-EAFD-87FB-AA63F4CBD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5FD2B40-9007-3660-047E-9E64EC00B3A2}"/>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8" name="Footer Placeholder 7">
            <a:extLst>
              <a:ext uri="{FF2B5EF4-FFF2-40B4-BE49-F238E27FC236}">
                <a16:creationId xmlns:a16="http://schemas.microsoft.com/office/drawing/2014/main" id="{ED326D71-F83E-3DC0-5096-91A15FDA996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3BD1216-C5E6-8788-62C6-FC616C29EFAF}"/>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721296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1D302-8FC4-6207-84F4-C91F5E6104B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539CE10-BEB3-ECB6-E0B3-0440BD99894A}"/>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4" name="Footer Placeholder 3">
            <a:extLst>
              <a:ext uri="{FF2B5EF4-FFF2-40B4-BE49-F238E27FC236}">
                <a16:creationId xmlns:a16="http://schemas.microsoft.com/office/drawing/2014/main" id="{3BDD44D0-6B1F-0EEC-3A19-890F523CCD3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2AFDF1D-753D-4109-5808-DFF9968DCF28}"/>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4019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947028-BABB-E6BB-F6CA-0AA89F6D1BE1}"/>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3" name="Footer Placeholder 2">
            <a:extLst>
              <a:ext uri="{FF2B5EF4-FFF2-40B4-BE49-F238E27FC236}">
                <a16:creationId xmlns:a16="http://schemas.microsoft.com/office/drawing/2014/main" id="{5BFA16DF-5040-E26D-6C78-A54D5DE7667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A736418-E9A1-FAAF-D46C-B210BAAB451D}"/>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3705569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BED38-64FC-8599-88FA-C047442D3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016EC04-96E8-7C64-3B39-39996A9BA8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F8A16CA-83FE-A8BA-82E8-5C11749CDE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729934-CC76-86A6-A0DC-39AF19DC200A}"/>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6" name="Footer Placeholder 5">
            <a:extLst>
              <a:ext uri="{FF2B5EF4-FFF2-40B4-BE49-F238E27FC236}">
                <a16:creationId xmlns:a16="http://schemas.microsoft.com/office/drawing/2014/main" id="{DB5A7E4F-D47E-F04D-73D9-67920EEAC8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D25228-CE50-CA44-2628-AFE3B5DCB452}"/>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335370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2827C-BA03-3863-FC7B-811E239C5C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49052BA-748D-9CBB-2B40-24768B639C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BE961A1-CD42-BE7E-F368-3AD20AD1F9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50D9EB-CE2C-7149-63F8-86EB081758A4}"/>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6" name="Footer Placeholder 5">
            <a:extLst>
              <a:ext uri="{FF2B5EF4-FFF2-40B4-BE49-F238E27FC236}">
                <a16:creationId xmlns:a16="http://schemas.microsoft.com/office/drawing/2014/main" id="{B5686F9B-08CB-3161-0903-4C1AB48836D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70D986-2D45-9E95-C1EB-672AF06818C0}"/>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25569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9CBB6-E6CF-FB6F-7D6E-988EF0AB8A2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CBAC603-4761-DBAA-5A28-4E34AF66A1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0F0B6D-2F54-E3BD-13C8-77CB67C5187A}"/>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5DBB2F9B-9278-BA21-D11D-CC2971A620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C028C6-3816-0FD7-4E1D-88E0111E1B51}"/>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173818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A1E700-2FB0-5E9E-D952-53E007FA1D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F7EA7E-3997-963A-79B3-FEB01BB2FE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C688D1-0266-872C-4604-E1EB30FE733D}"/>
              </a:ext>
            </a:extLst>
          </p:cNvPr>
          <p:cNvSpPr>
            <a:spLocks noGrp="1"/>
          </p:cNvSpPr>
          <p:nvPr>
            <p:ph type="dt" sz="half" idx="10"/>
          </p:nvPr>
        </p:nvSpPr>
        <p:spPr/>
        <p:txBody>
          <a:body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293390E2-BF9B-F78C-E6A9-1FB6F0812A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FCFCD0-EE39-E39D-FA16-4F2CF1F9C4AA}"/>
              </a:ext>
            </a:extLst>
          </p:cNvPr>
          <p:cNvSpPr>
            <a:spLocks noGrp="1"/>
          </p:cNvSpPr>
          <p:nvPr>
            <p:ph type="sldNum" sz="quarter" idx="12"/>
          </p:nvPr>
        </p:nvSpPr>
        <p:spPr/>
        <p:txBody>
          <a:bodyPr/>
          <a:lstStyle/>
          <a:p>
            <a:fld id="{AE0FDF1A-9DF8-4B23-BD07-A0E3E0DD07A3}" type="slidenum">
              <a:rPr lang="en-GB" smtClean="0"/>
              <a:t>‹#›</a:t>
            </a:fld>
            <a:endParaRPr lang="en-GB"/>
          </a:p>
        </p:txBody>
      </p:sp>
    </p:spTree>
    <p:extLst>
      <p:ext uri="{BB962C8B-B14F-4D97-AF65-F5344CB8AC3E}">
        <p14:creationId xmlns:p14="http://schemas.microsoft.com/office/powerpoint/2010/main" val="194273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1F4E78"/>
          </a:solidFill>
          <a:ln w="12700">
            <a:solidFill>
              <a:srgbClr val="1F4E78"/>
            </a:solidFill>
            <a:prstDash val="solid"/>
          </a:ln>
        </p:spPr>
      </p:sp>
      <p:sp>
        <p:nvSpPr>
          <p:cNvPr id="3" name="Text 1"/>
          <p:cNvSpPr/>
          <p:nvPr/>
        </p:nvSpPr>
        <p:spPr>
          <a:xfrm>
            <a:off x="502920" y="6446520"/>
            <a:ext cx="4572000" cy="182880"/>
          </a:xfrm>
          <a:prstGeom prst="rect">
            <a:avLst/>
          </a:prstGeom>
          <a:noFill/>
          <a:ln/>
        </p:spPr>
        <p:txBody>
          <a:bodyPr wrap="square" lIns="0" tIns="0" rIns="0" bIns="0" rtlCol="0" anchor="ctr"/>
          <a:lstStyle/>
          <a:p>
            <a:pPr marL="0" indent="0">
              <a:buNone/>
            </a:pPr>
            <a:r>
              <a:rPr lang="en-US" sz="900" dirty="0">
                <a:solidFill>
                  <a:srgbClr val="6B7280"/>
                </a:solidFill>
                <a:latin typeface="Arial" pitchFamily="34" charset="0"/>
                <a:ea typeface="Arial" pitchFamily="34" charset="-122"/>
                <a:cs typeface="Arial" pitchFamily="34" charset="-120"/>
              </a:rPr>
              <a:t>NaReT • CCBM discussion</a:t>
            </a:r>
            <a:endParaRPr lang="en-US" sz="90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6420923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3A89E-636A-DADC-2C20-198D1346E1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EC35D2-6CCC-9693-8242-F9586B08AB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177154-5794-477F-5858-0DA2E296C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627236-4C34-48E2-B38E-25D0C5A8811C}" type="datetimeFigureOut">
              <a:rPr lang="en-GB" smtClean="0"/>
              <a:t>10/09/2026</a:t>
            </a:fld>
            <a:endParaRPr lang="en-GB"/>
          </a:p>
        </p:txBody>
      </p:sp>
      <p:sp>
        <p:nvSpPr>
          <p:cNvPr id="5" name="Footer Placeholder 4">
            <a:extLst>
              <a:ext uri="{FF2B5EF4-FFF2-40B4-BE49-F238E27FC236}">
                <a16:creationId xmlns:a16="http://schemas.microsoft.com/office/drawing/2014/main" id="{13E71CD1-A52A-0CA0-5BCB-D18514A59D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CE41483-F432-CC22-E4D3-276E920075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0FDF1A-9DF8-4B23-BD07-A0E3E0DD07A3}" type="slidenum">
              <a:rPr lang="en-GB" smtClean="0"/>
              <a:t>‹#›</a:t>
            </a:fld>
            <a:endParaRPr lang="en-GB"/>
          </a:p>
        </p:txBody>
      </p:sp>
    </p:spTree>
    <p:extLst>
      <p:ext uri="{BB962C8B-B14F-4D97-AF65-F5344CB8AC3E}">
        <p14:creationId xmlns:p14="http://schemas.microsoft.com/office/powerpoint/2010/main" val="260661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3BCC90-E220-B25D-9107-7233CBE92B35}"/>
              </a:ext>
            </a:extLst>
          </p:cNvPr>
          <p:cNvSpPr txBox="1"/>
          <p:nvPr/>
        </p:nvSpPr>
        <p:spPr>
          <a:xfrm>
            <a:off x="685800" y="762000"/>
            <a:ext cx="10795000" cy="246221"/>
          </a:xfrm>
          <a:prstGeom prst="rect">
            <a:avLst/>
          </a:prstGeom>
          <a:noFill/>
        </p:spPr>
        <p:txBody>
          <a:bodyPr vert="horz" lIns="0" tIns="0" rIns="0" bIns="0" rtlCol="0" anchor="t">
            <a:spAutoFit/>
          </a:bodyPr>
          <a:lstStyle/>
          <a:p>
            <a:r>
              <a:rPr lang="en-GB" sz="1600" b="1">
                <a:solidFill>
                  <a:srgbClr val="2CB1BC"/>
                </a:solidFill>
                <a:latin typeface="Aptos" panose="020B0004020202020204" pitchFamily="34" charset="0"/>
              </a:rPr>
              <a:t>QUEST ARUCO AVATAR</a:t>
            </a:r>
          </a:p>
        </p:txBody>
      </p:sp>
      <p:sp>
        <p:nvSpPr>
          <p:cNvPr id="3" name="TextBox 2">
            <a:extLst>
              <a:ext uri="{FF2B5EF4-FFF2-40B4-BE49-F238E27FC236}">
                <a16:creationId xmlns:a16="http://schemas.microsoft.com/office/drawing/2014/main" id="{FFE08930-26C7-F46E-194C-3B67E2EDCBF0}"/>
              </a:ext>
            </a:extLst>
          </p:cNvPr>
          <p:cNvSpPr txBox="1"/>
          <p:nvPr/>
        </p:nvSpPr>
        <p:spPr>
          <a:xfrm>
            <a:off x="685800" y="1422400"/>
            <a:ext cx="9652000" cy="553998"/>
          </a:xfrm>
          <a:prstGeom prst="rect">
            <a:avLst/>
          </a:prstGeom>
          <a:noFill/>
        </p:spPr>
        <p:txBody>
          <a:bodyPr vert="horz" lIns="0" tIns="0" rIns="0" bIns="0" rtlCol="0" anchor="t">
            <a:spAutoFit/>
          </a:bodyPr>
          <a:lstStyle/>
          <a:p>
            <a:r>
              <a:rPr lang="en-GB" sz="3600" b="1">
                <a:solidFill>
                  <a:srgbClr val="FFFFFF"/>
                </a:solidFill>
                <a:latin typeface="Aptos" panose="020B0004020202020204" pitchFamily="34" charset="0"/>
              </a:rPr>
              <a:t>Viewpoint drift: what was tested,_x000B_what was found, and what it assumes</a:t>
            </a:r>
            <a:br>
              <a:rPr lang="en-GB" sz="3600" b="1">
                <a:solidFill>
                  <a:srgbClr val="FFFFFF"/>
                </a:solidFill>
                <a:latin typeface="Aptos" panose="020B0004020202020204" pitchFamily="34" charset="0"/>
              </a:rPr>
            </a:br>
          </a:p>
        </p:txBody>
      </p:sp>
      <p:sp>
        <p:nvSpPr>
          <p:cNvPr id="5" name="Rectangle: Rounded Corners 4">
            <a:extLst>
              <a:ext uri="{FF2B5EF4-FFF2-40B4-BE49-F238E27FC236}">
                <a16:creationId xmlns:a16="http://schemas.microsoft.com/office/drawing/2014/main" id="{9A80CD90-06C4-EC46-8D99-FF5DE6ED1FC5}"/>
              </a:ext>
            </a:extLst>
          </p:cNvPr>
          <p:cNvSpPr/>
          <p:nvPr/>
        </p:nvSpPr>
        <p:spPr>
          <a:xfrm>
            <a:off x="736600" y="4191000"/>
            <a:ext cx="1828800" cy="787400"/>
          </a:xfrm>
          <a:prstGeom prst="roundRect">
            <a:avLst/>
          </a:prstGeom>
          <a:solidFill>
            <a:srgbClr val="1976D2"/>
          </a:solidFill>
          <a:ln w="15875">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CAMERA</a:t>
            </a:r>
          </a:p>
        </p:txBody>
      </p:sp>
      <p:cxnSp>
        <p:nvCxnSpPr>
          <p:cNvPr id="6" name="Straight Arrow Connector 5">
            <a:extLst>
              <a:ext uri="{FF2B5EF4-FFF2-40B4-BE49-F238E27FC236}">
                <a16:creationId xmlns:a16="http://schemas.microsoft.com/office/drawing/2014/main" id="{C0AE8F42-205C-68B5-96A2-FE919CE5C748}"/>
              </a:ext>
            </a:extLst>
          </p:cNvPr>
          <p:cNvCxnSpPr/>
          <p:nvPr/>
        </p:nvCxnSpPr>
        <p:spPr>
          <a:xfrm>
            <a:off x="2565400" y="4584700"/>
            <a:ext cx="330200" cy="0"/>
          </a:xfrm>
          <a:prstGeom prst="straightConnector1">
            <a:avLst/>
          </a:prstGeom>
          <a:ln w="25400">
            <a:solidFill>
              <a:srgbClr val="FFFFFF"/>
            </a:solidFill>
            <a:tailEnd type="arrow"/>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3EB3D4B-6DDB-71AA-DB53-E9DF252E4082}"/>
              </a:ext>
            </a:extLst>
          </p:cNvPr>
          <p:cNvSpPr/>
          <p:nvPr/>
        </p:nvSpPr>
        <p:spPr>
          <a:xfrm>
            <a:off x="2946400" y="4191000"/>
            <a:ext cx="1828800" cy="787400"/>
          </a:xfrm>
          <a:prstGeom prst="roundRect">
            <a:avLst/>
          </a:prstGeom>
          <a:solidFill>
            <a:srgbClr val="2CB1BC"/>
          </a:solidFill>
          <a:ln w="15875">
            <a:solidFill>
              <a:srgbClr val="2CB1BC"/>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MARKERS</a:t>
            </a:r>
          </a:p>
        </p:txBody>
      </p:sp>
      <p:cxnSp>
        <p:nvCxnSpPr>
          <p:cNvPr id="8" name="Straight Arrow Connector 7">
            <a:extLst>
              <a:ext uri="{FF2B5EF4-FFF2-40B4-BE49-F238E27FC236}">
                <a16:creationId xmlns:a16="http://schemas.microsoft.com/office/drawing/2014/main" id="{D964F034-6FA3-29F0-2C7D-C17E2BB62162}"/>
              </a:ext>
            </a:extLst>
          </p:cNvPr>
          <p:cNvCxnSpPr/>
          <p:nvPr/>
        </p:nvCxnSpPr>
        <p:spPr>
          <a:xfrm>
            <a:off x="4775200" y="4584700"/>
            <a:ext cx="330200" cy="0"/>
          </a:xfrm>
          <a:prstGeom prst="straightConnector1">
            <a:avLst/>
          </a:prstGeom>
          <a:ln w="25400">
            <a:solidFill>
              <a:srgbClr val="FFFFFF"/>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B92F8AE2-D91C-E87B-50BE-2572E505D659}"/>
              </a:ext>
            </a:extLst>
          </p:cNvPr>
          <p:cNvSpPr/>
          <p:nvPr/>
        </p:nvSpPr>
        <p:spPr>
          <a:xfrm>
            <a:off x="5156200" y="4191000"/>
            <a:ext cx="1828800" cy="787400"/>
          </a:xfrm>
          <a:prstGeom prst="roundRect">
            <a:avLst/>
          </a:prstGeom>
          <a:solidFill>
            <a:srgbClr val="27AE60"/>
          </a:solidFill>
          <a:ln w="15875">
            <a:solidFill>
              <a:srgbClr val="27AE60"/>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COMMON POSE</a:t>
            </a:r>
          </a:p>
        </p:txBody>
      </p:sp>
      <p:cxnSp>
        <p:nvCxnSpPr>
          <p:cNvPr id="10" name="Straight Arrow Connector 9">
            <a:extLst>
              <a:ext uri="{FF2B5EF4-FFF2-40B4-BE49-F238E27FC236}">
                <a16:creationId xmlns:a16="http://schemas.microsoft.com/office/drawing/2014/main" id="{EF0DAC4B-AAA3-48BD-0D02-67A67483D793}"/>
              </a:ext>
            </a:extLst>
          </p:cNvPr>
          <p:cNvCxnSpPr/>
          <p:nvPr/>
        </p:nvCxnSpPr>
        <p:spPr>
          <a:xfrm>
            <a:off x="6985000" y="4584700"/>
            <a:ext cx="330200" cy="0"/>
          </a:xfrm>
          <a:prstGeom prst="straightConnector1">
            <a:avLst/>
          </a:prstGeom>
          <a:ln w="25400">
            <a:solidFill>
              <a:srgbClr val="FFFFFF"/>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556BC05D-6609-6464-19A1-B6EE05AF9860}"/>
              </a:ext>
            </a:extLst>
          </p:cNvPr>
          <p:cNvSpPr/>
          <p:nvPr/>
        </p:nvSpPr>
        <p:spPr>
          <a:xfrm>
            <a:off x="7366000" y="4191000"/>
            <a:ext cx="1828800" cy="787400"/>
          </a:xfrm>
          <a:prstGeom prst="roundRect">
            <a:avLst/>
          </a:prstGeom>
          <a:solidFill>
            <a:srgbClr val="F59E0B"/>
          </a:solidFill>
          <a:ln w="15875">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FILTER</a:t>
            </a:r>
          </a:p>
        </p:txBody>
      </p:sp>
      <p:cxnSp>
        <p:nvCxnSpPr>
          <p:cNvPr id="12" name="Straight Arrow Connector 11">
            <a:extLst>
              <a:ext uri="{FF2B5EF4-FFF2-40B4-BE49-F238E27FC236}">
                <a16:creationId xmlns:a16="http://schemas.microsoft.com/office/drawing/2014/main" id="{D22E9665-851F-114F-C2FB-E55CDCDCA8F6}"/>
              </a:ext>
            </a:extLst>
          </p:cNvPr>
          <p:cNvCxnSpPr/>
          <p:nvPr/>
        </p:nvCxnSpPr>
        <p:spPr>
          <a:xfrm>
            <a:off x="9194800" y="4584700"/>
            <a:ext cx="330200" cy="0"/>
          </a:xfrm>
          <a:prstGeom prst="straightConnector1">
            <a:avLst/>
          </a:prstGeom>
          <a:ln w="25400">
            <a:solidFill>
              <a:srgbClr val="FFFFFF"/>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F7367833-3941-5C33-4E85-250724EFF2BA}"/>
              </a:ext>
            </a:extLst>
          </p:cNvPr>
          <p:cNvSpPr/>
          <p:nvPr/>
        </p:nvSpPr>
        <p:spPr>
          <a:xfrm>
            <a:off x="9575800" y="4191000"/>
            <a:ext cx="1828800" cy="787400"/>
          </a:xfrm>
          <a:prstGeom prst="roundRect">
            <a:avLst/>
          </a:prstGeom>
          <a:solidFill>
            <a:srgbClr val="7152AD"/>
          </a:solidFill>
          <a:ln w="15875">
            <a:solidFill>
              <a:srgbClr val="7152AD"/>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AVATAR</a:t>
            </a:r>
          </a:p>
        </p:txBody>
      </p:sp>
    </p:spTree>
    <p:extLst>
      <p:ext uri="{BB962C8B-B14F-4D97-AF65-F5344CB8AC3E}">
        <p14:creationId xmlns:p14="http://schemas.microsoft.com/office/powerpoint/2010/main" val="349344788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Why the avatar drifts on side and distant views — what was tested and found</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SYMPTOM — viewed from the front the avatar sits on the mannequin. Step to the left or right, or stand further back, and it no longer lines up. The mannequin never moved, and once the placement locks the avatar's transform is never rewritten — so nothing actually moved. What changed is where the system BELIEVES the anchor is, and that belief depends on where you stand.</a:t>
            </a:r>
          </a:p>
          <a:p>
            <a:pPr>
              <a:spcAft>
                <a:spcPts val="600"/>
              </a:spcAft>
            </a:pPr>
            <a:r>
              <a:rPr sz="1250" b="0">
                <a:solidFill>
                  <a:srgbClr val="16324F"/>
                </a:solidFill>
                <a:latin typeface="Aptos"/>
              </a:rPr>
              <a:t>HOW IT WAS TESTED — the real fusion code (navel_provider.gd) was replayed offline, frame by frame, against labelled recordings in which the mannequin was stationary throughout. Any change between viewpoints is therefore error, not motion. Settings were chosen on three six-viewpoint stationary recordings (2026-09-03) and then scored once on three walked viewpoint recordings (2026-09-09) that were never used to choose anything — so a result that only fits the tuning data is visible as overfitting.</a:t>
            </a:r>
          </a:p>
          <a:p>
            <a:pPr>
              <a:spcAft>
                <a:spcPts val="600"/>
              </a:spcAft>
            </a:pPr>
            <a:r>
              <a:rPr sz="1250" b="0">
                <a:solidFill>
                  <a:srgbClr val="16324F"/>
                </a:solidFill>
                <a:latin typeface="Aptos"/>
              </a:rPr>
              <a:t>THE DECISIVE TEST — the walked recordings confound the two explanations, because "far left" is both far away AND to the side. The stationary recordings separate them: there the user stood still and only turned to look, holding range constant while angle changed.</a:t>
            </a:r>
          </a:p>
          <a:p>
            <a:pPr>
              <a:spcAft>
                <a:spcPts val="600"/>
              </a:spcAft>
            </a:pPr>
            <a:r>
              <a:rPr sz="1250" b="0">
                <a:solidFill>
                  <a:srgbClr val="16324F"/>
                </a:solidFill>
                <a:latin typeface="Aptos"/>
              </a:rPr>
              <a:t>RESULT: ANGLE, NOT DISTANCE — front 1.92 m is the reference. Left view at 1.94 m, only 3 cm farther, drifts 4.30 cm. Right view at 1.85 m, actually CLOSER, drifts 8.90 cm. And the farthest view of all, 2.24 m, has the SMALLEST drift at 3.09 cm. Distance does not predict viewpoint drift. In the walked set both matter: left 6.02 cm at 1.75 m rising to far-left 12.04 cm at 2.16 m — stepping aside costs immediately, going far compounds it.</a:t>
            </a:r>
          </a:p>
          <a:p>
            <a:pPr>
              <a:spcAft>
                <a:spcPts val="600"/>
              </a:spcAft>
            </a:pPr>
            <a:r>
              <a:rPr sz="1250" b="0">
                <a:solidFill>
                  <a:srgbClr val="16324F"/>
                </a:solidFill>
                <a:latin typeface="Aptos"/>
              </a:rPr>
              <a:t>NOISE IS NOT BIAS — this is the crux. Per-frame disagreement between the markers DOES grow strongly with range, from 24 mm under 0.8 m to 127 mm beyond 1.8 m (rho +0.57; viewing angle only +0.24), and 59% of it lies along the camera's view axis. But that is NOISE, and averaging removes it. The viewpoint shift is BIAS: it sits still while you stand still, so no amount of averaging can touch it.</a:t>
            </a:r>
          </a:p>
          <a:p>
            <a:pPr>
              <a:spcAft>
                <a:spcPts val="0"/>
              </a:spcAft>
            </a:pPr>
            <a:r>
              <a:rPr sz="1250" b="0">
                <a:solidFill>
                  <a:srgbClr val="16324F"/>
                </a:solidFill>
                <a:latin typeface="Aptos"/>
              </a:rPr>
              <a:t>WHAT WAS TRIED AND DID NOT WORK — range weighting (w = 1/range^k) measured 6.30 cm at k=0 falling only to 6.17 cm at k=3, about 2%. The 60 mm / 20° agreement gate scored WORSE than a plain average on held-out data (7.84 vs 7.49 cm) and ranked 34th of 168 in a grid search. Medoid, dead zones, smoothing and rest-pull all attack noise, which is why none of them helped.</a:t>
            </a:r>
          </a:p>
          <a:p>
            <a:pPr>
              <a:spcAft>
                <a:spcPts val="0"/>
              </a:spcAft>
            </a:pPr>
            <a:r>
              <a:rPr sz="1250" b="0">
                <a:solidFill>
                  <a:srgbClr val="16324F"/>
                </a:solidFill>
                <a:latin typeface="Aptos"/>
              </a:rPr>
              <a:t>WHY THE LOCK DOES NOT CURE IT — the lock freezes the avatar, so it genuinely cannot drift. But the lock is earned while standing at the FRONT, so it inherits the front viewpoint's bias. Step to the side and the avatar has not moved — the correct answer has.</a:t>
            </a:r>
          </a:p>
          <a:p>
            <a:pPr>
              <a:spcAft>
                <a:spcPts val="0"/>
              </a:spcAft>
            </a:pPr>
            <a:r>
              <a:rPr sz="1250" b="0">
                <a:solidFill>
                  <a:srgbClr val="16324F"/>
                </a:solidFill>
                <a:latin typeface="Aptos"/>
              </a:rPr>
              <a:t>CANDIDATE CAUSES, NOT YET ISOLATED — the three markers disagree by a median of 68.9 mm about where the anchor is, larger than the drift being chased. The stored marker geometry is wrong by 20–40 mm. The markers are 10 cm, small at 2 m. Camera intrinsics, distortion and the camera-to-headset transform are unvalidated. A left/right asymmetry appears in both data sets but with OPPOSITE sign, so it does not support an optics explanation.</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What this cannot tell you: there is no physical ground truth in any of these recordings, so every figure is agreement with that recording's own front reference, not absolute accuracy — front reads 0.00 cm by definition, which is not evidence that front is correct. All of it is offline replay of pre-freeze recordings; none has been measured on the locked build. Next: recalibrate the marker geometry, use markers larger than 10 cm, then re-record and re-measure before touching fusion again.</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tools/side_view_vs_range.py • tools/diagnose_marker_disagreement.py • tools/analyze_subsets_and_freeze.py • tools/tune_marker_agreement.py • results in builds/viewpoint_research/*.json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Testing the fusion rule: does the agreement gate help?</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WHAT A GATE IS — every visible marker carries its own calibration offset, so each one independently predicts the same anchor point. The gate is a pass/fail test applied before averaging: two predictions "agree" only if they lie within 60 mm AND 20° of each other. Only markers that agree are averaged together.</a:t>
            </a:r>
          </a:p>
          <a:p>
            <a:pPr>
              <a:spcAft>
                <a:spcPts val="600"/>
              </a:spcAft>
            </a:pPr>
            <a:r>
              <a:rPr sz="1250" b="0">
                <a:solidFill>
                  <a:srgbClr val="16324F"/>
                </a:solidFill>
                <a:latin typeface="Aptos"/>
              </a:rPr>
              <a:t>THREE BRANCHES per frame, counted on aruco_viewpoint_1788955119: all three agree and are averaged 28.9%  •  only one pair agrees, so the third marker is discarded 34.6%  •  no pair agrees, so the previous frame's answer is reused 22.6%  •  a single marker is visible with nothing to check it against 13.9%.</a:t>
            </a:r>
          </a:p>
          <a:p>
            <a:pPr>
              <a:spcAft>
                <a:spcPts val="600"/>
              </a:spcAft>
            </a:pPr>
            <a:r>
              <a:rPr sz="1250" b="0">
                <a:solidFill>
                  <a:srgbClr val="16324F"/>
                </a:solidFill>
                <a:latin typeface="Aptos"/>
              </a:rPr>
              <a:t>RESULT on recordings the tuning never saw: plain average 7.49 cm, gate at 60 mm / 20° 7.84 cm. The gate is slightly WORSE than having no gate. A 168-point grid search ranked 60/20 at 34th, and the combination that won on the tuning data scored worse on held-out data — so there is no better value to move to either.</a:t>
            </a:r>
          </a:p>
          <a:p>
            <a:pPr>
              <a:spcAft>
                <a:spcPts val="600"/>
              </a:spcAft>
            </a:pPr>
            <a:r>
              <a:rPr sz="1250" b="0">
                <a:solidFill>
                  <a:srgbClr val="16324F"/>
                </a:solidFill>
                <a:latin typeface="Aptos"/>
              </a:rPr>
              <a:t>WHY IT FAILS — agreement is not correctness. At the "right" viewpoint: ID0 alone 12.25 cm, gate 10.52 cm, plain average 2.45 cm. ID0 was badly wrong and the third marker would have corrected it, but the gate found a pair that agreed WITH EACH OTHER, discarded the marker that disagreed, and kept the error.</a:t>
            </a:r>
          </a:p>
          <a:p>
            <a:pPr>
              <a:spcAft>
                <a:spcPts val="600"/>
              </a:spcAft>
            </a:pPr>
            <a:r>
              <a:rPr sz="1250" b="0">
                <a:solidFill>
                  <a:srgbClr val="16324F"/>
                </a:solidFill>
                <a:latin typeface="Aptos"/>
              </a:rPr>
              <a:t>THE GATES WERE NEVER TUNED — 60 mm and 20° were read off the good-pair spread of one Front recording and rounded up; the code comment says exactly that. This grid search was the first time they were tested.</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Scored as consistency: the mannequin never moved, so any shift between viewpoints is error. There is no physical ground truth in these recordings, so this measures agreement with each recording's own front reference, not absolute accuracy.</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tools/tune_marker_agreement.py • tools/compare_id0_vs_fusion.py • builds/viewpoint_research/marker_agreement_grid.json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How many markers to fuse, and when to stop trusting them</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HOW MANY — scored only on frames where all three markers are visible, so every option sees identical frames.  ID0+ID2 5.61 cm tune / 6.11 cm held-out  •  all three 6.41 / 6.52  •  ID0 alone 5.79 / 8.00  •  ID1 alone 9.30 / 8.97. Fusing TWO beats fusing three, and this is the only result of the day that held up on data it was not chosen from.</a:t>
            </a:r>
          </a:p>
          <a:p>
            <a:pPr>
              <a:spcAft>
                <a:spcPts val="600"/>
              </a:spcAft>
            </a:pPr>
            <a:r>
              <a:rPr sz="1250" b="0">
                <a:solidFill>
                  <a:srgbClr val="16324F"/>
                </a:solidFill>
                <a:latin typeface="Aptos"/>
              </a:rPr>
              <a:t>ID1 AND ID2 FAIL DIFFERENTLY — ID1 is biased: a moderate but consistent error, the worst of any marker on its own. ID2 is spiky: the odd one out in 47.9% of frames, with rotation-induced error reaching 187.8 mm at p90, but those errors average out. That is why ID0+ID2 beats ID0+ID1.</a:t>
            </a:r>
          </a:p>
          <a:p>
            <a:pPr>
              <a:spcAft>
                <a:spcPts val="600"/>
              </a:spcAft>
            </a:pPr>
            <a:r>
              <a:rPr sz="1250" b="0">
                <a:solidFill>
                  <a:srgbClr val="16324F"/>
                </a:solidFill>
                <a:latin typeface="Aptos"/>
              </a:rPr>
              <a:t>ID0 IS STRUCTURALLY SAFEST — its calibration offset is exactly zero, so it IS the anchor. It has no lever arm, marker rotation error cannot displace it at all, and it is the odd one out in only 12.0% of frames.</a:t>
            </a:r>
          </a:p>
          <a:p>
            <a:pPr>
              <a:spcAft>
                <a:spcPts val="600"/>
              </a:spcAft>
            </a:pPr>
            <a:r>
              <a:rPr sz="1250" b="0">
                <a:solidFill>
                  <a:srgbClr val="16324F"/>
                </a:solidFill>
                <a:latin typeface="Aptos"/>
              </a:rPr>
              <a:t>WHEN TO STOP TRUSTING A FRAME — residual = the largest gap between the visible predictions. Above about 40 mm, reject the frame and hold the last accepted pose instead of choosing a least-bad candidate. Held-out error improves from 7.49 to 7.17 cm, and a genuine mannequin relocation still survives (retention 1.02).</a:t>
            </a:r>
          </a:p>
          <a:p>
            <a:pPr>
              <a:spcAft>
                <a:spcPts val="600"/>
              </a:spcAft>
            </a:pPr>
            <a:r>
              <a:rPr sz="1250" b="0">
                <a:solidFill>
                  <a:srgbClr val="16324F"/>
                </a:solidFill>
                <a:latin typeface="Aptos"/>
              </a:rPr>
              <a:t>SCALE OF THE PROBLEM — the three markers disagree by a median of 68.9 mm about where the anchor is, which is larger than the 5–8 cm viewpoint drift being chased. The stored marker geometry is also wrong by 20–40 mm (ID0-ID1 19.7, ID0-ID2 30.6, ID1-ID2 40.3) — free accuracy available from a recalibration.</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None of these changes are implemented. The runtime still fuses every visible marker through the 60 mm / 20° gate.</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tools/analyze_subsets_and_freeze.py • tools/diagnose_marker_disagreement.py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Side-view drift is viewing angle, not distance</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THE CONFOUND — in the walked recordings "far left" is both far away AND to the side, so the two cannot be separated. The stationary recordings separate them: there the user stood still and only turned to look, so the side views sit at the same range as front.</a:t>
            </a:r>
          </a:p>
          <a:p>
            <a:pPr>
              <a:spcAft>
                <a:spcPts val="600"/>
              </a:spcAft>
            </a:pPr>
            <a:r>
              <a:rPr sz="1250" b="0">
                <a:solidFill>
                  <a:srgbClr val="16324F"/>
                </a:solidFill>
                <a:latin typeface="Aptos"/>
              </a:rPr>
              <a:t>SAME RANGE, STILL DRIFTS — front 1.92 m is the reference. Left view 1.94 m, only 3 cm farther, drifts 4.30 cm. Right view 1.85 m, actually closer, drifts 8.90 cm. And the farthest view of all at 2.24 m has the SMALLEST drift, 3.09 cm. Distance does not predict viewpoint drift.</a:t>
            </a:r>
          </a:p>
          <a:p>
            <a:pPr>
              <a:spcAft>
                <a:spcPts val="600"/>
              </a:spcAft>
            </a:pPr>
            <a:r>
              <a:rPr sz="1250" b="0">
                <a:solidFill>
                  <a:srgbClr val="16324F"/>
                </a:solidFill>
                <a:latin typeface="Aptos"/>
              </a:rPr>
              <a:t>NOISE VERSUS BIAS — per-frame marker disagreement does grow strongly with range, from 24 mm under 0.8 m to 127 mm past 1.8 m. That is noise, and averaging removes it. The viewpoint shift is bias: it stays put while you stand still, so no amount of averaging touches it.</a:t>
            </a:r>
          </a:p>
          <a:p>
            <a:pPr>
              <a:spcAft>
                <a:spcPts val="600"/>
              </a:spcAft>
            </a:pPr>
            <a:r>
              <a:rPr sz="1250" b="0">
                <a:solidFill>
                  <a:srgbClr val="16324F"/>
                </a:solidFill>
                <a:latin typeface="Aptos"/>
              </a:rPr>
              <a:t>RANGE WEIGHTING DOES NOT HELP — weighting each marker by 1/range^k was measured directly: mean drift 6.30 cm at k=0, falling only to 6.17 cm at k=3, and the right view does not improve at all.</a:t>
            </a:r>
          </a:p>
          <a:p>
            <a:pPr>
              <a:spcAft>
                <a:spcPts val="600"/>
              </a:spcAft>
            </a:pPr>
            <a:r>
              <a:rPr sz="1250" b="0">
                <a:solidFill>
                  <a:srgbClr val="16324F"/>
                </a:solidFill>
                <a:latin typeface="Aptos"/>
              </a:rPr>
              <a:t>NEAR AND FAR BOTH — walked: left 6.02 cm at 1.75 m, far left 12.04 cm at 2.16 m; right 2.10 cm at 1.83 m, far right 10.59 cm at 2.35 m. Stepping to the side costs immediately; going far compounds it.</a:t>
            </a:r>
          </a:p>
          <a:p>
            <a:pPr>
              <a:spcAft>
                <a:spcPts val="0"/>
              </a:spcAft>
            </a:pPr>
            <a:r>
              <a:rPr sz="1250" b="0">
                <a:solidFill>
                  <a:srgbClr val="16324F"/>
                </a:solidFill>
                <a:latin typeface="Aptos"/>
              </a:rPr>
              <a:t>CONSEQUENCE — the lock captures the pose from the front, so it inherits the front bias. Standing to the side, the avatar has not moved but the correct answer has. This is why filtering, medoids, dead zones, smoothing and fusion weighting have all failed to fix it: every one of them attacks noise.</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Cause not yet isolated. A left/right asymmetry appears in both data sets but with opposite sign, so it does not support an intrinsics or extrinsics explanation. Recalibrating the marker geometry and using markers larger than 10 cm are the two changes already measured as justified.</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tools/side_view_vs_range.py • builds/viewpoint_research/side_view_vs_range.json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Assumptions the analysis rests on, and what it cannot show</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STATIONARY MANNEQUIN — every number assumes the mannequin did not move during a recording, so that any change between viewpoints is error. This comes from the phase labels and the operator's report; it was not independently verified. If it did move, part of what is counted as error was real motion.</a:t>
            </a:r>
          </a:p>
          <a:p>
            <a:pPr>
              <a:spcAft>
                <a:spcPts val="600"/>
              </a:spcAft>
            </a:pPr>
            <a:r>
              <a:rPr sz="1250" b="0">
                <a:solidFill>
                  <a:srgbClr val="16324F"/>
                </a:solidFill>
                <a:latin typeface="Aptos"/>
              </a:rPr>
              <a:t>NO GROUND TRUTH — nothing here measures where the anchor physically is. Every figure is agreement with that recording's OWN front median. Front reads 0.00 cm by construction, which is not evidence that front is correct: all viewpoints could be wrong together and this method would not reveal it.</a:t>
            </a:r>
          </a:p>
          <a:p>
            <a:pPr>
              <a:spcAft>
                <a:spcPts val="600"/>
              </a:spcAft>
            </a:pPr>
            <a:r>
              <a:rPr sz="1250" b="0">
                <a:solidFill>
                  <a:srgbClr val="16324F"/>
                </a:solidFill>
                <a:latin typeface="Aptos"/>
              </a:rPr>
              <a:t>CALIBRATION — the offsets used are project/default_navel_calibration.cfg. Checked against the headset's user://navel_calibration_20260905.cfg, which takes precedence at runtime: byte-identical, so the replay used the geometry the device actually uses.</a:t>
            </a:r>
          </a:p>
          <a:p>
            <a:pPr>
              <a:spcAft>
                <a:spcPts val="600"/>
              </a:spcAft>
            </a:pPr>
            <a:r>
              <a:rPr sz="1250" b="0">
                <a:solidFill>
                  <a:srgbClr val="16324F"/>
                </a:solidFill>
                <a:latin typeface="Aptos"/>
              </a:rPr>
              <a:t>REPLAY FIDELITY — the Python re-implementation of _fuse and _floor_lock reproduces the previously published metrics.json for the plain-mean build: left 5.81 vs 5.79, right 2.35 vs 2.41, far-left 13.63 vs 13.71 cm. far-front and far-right agree less well (9.84 vs 8.92, 15.30 vs 11.46), most likely different missing-row handling — treat those two as less certain.</a:t>
            </a:r>
          </a:p>
          <a:p>
            <a:pPr>
              <a:spcAft>
                <a:spcPts val="600"/>
              </a:spcAft>
            </a:pPr>
            <a:r>
              <a:rPr sz="1250" b="0">
                <a:solidFill>
                  <a:srgbClr val="16324F"/>
                </a:solidFill>
                <a:latin typeface="Aptos"/>
              </a:rPr>
              <a:t>PRE-FREEZE DATA ONLY — every recording analysed predates the placement lock. Nothing here is measured on the locked build. The two sessions recorded from it carry only a "front" label, so no viewpoint comparison is possible from them.</a:t>
            </a:r>
          </a:p>
          <a:p>
            <a:pPr>
              <a:spcAft>
                <a:spcPts val="0"/>
              </a:spcAft>
            </a:pPr>
            <a:r>
              <a:rPr sz="1250" b="0">
                <a:solidFill>
                  <a:srgbClr val="16324F"/>
                </a:solidFill>
                <a:latin typeface="Aptos"/>
              </a:rPr>
              <a:t>SAMPLE SIZE — 3 stationary recordings to choose settings, 3 walked recordings held out for validation, 3 moving recordings as the movement guard. That is thin. A result that survives the held-out set deserves more trust than one that does not; neither is proof.</a:t>
            </a:r>
          </a:p>
          <a:p>
            <a:pPr>
              <a:spcAft>
                <a:spcPts val="0"/>
              </a:spcAft>
            </a:pPr>
            <a:r>
              <a:rPr sz="1250" b="0">
                <a:solidFill>
                  <a:srgbClr val="16324F"/>
                </a:solidFill>
                <a:latin typeface="Aptos"/>
              </a:rPr>
              <a:t>WINDOWING — the first second of every phase is discarded and a phase needs at least 5 remaining samples. Frames showing fewer than two markers cannot be cross-checked at all, and that is 13.9% of frames.</a:t>
            </a:r>
          </a:p>
          <a:p>
            <a:pPr>
              <a:spcAft>
                <a:spcPts val="0"/>
              </a:spcAft>
            </a:pPr>
            <a:r>
              <a:rPr sz="1250" b="0">
                <a:solidFill>
                  <a:srgbClr val="16324F"/>
                </a:solidFill>
                <a:latin typeface="Aptos"/>
              </a:rPr>
              <a:t>INTRINSICS — the radial test uses the hardcoded values from main_3d.gd (fx 438.5, fy 439.2, cx 322.7, cy 321.1 after the 0.5 downscale), the same ones the runtime uses. Marker CENTRE radius is used as a proxy, although distortion actually acts on the corners.</a:t>
            </a:r>
          </a:p>
          <a:p>
            <a:pPr>
              <a:spcAft>
                <a:spcPts val="0"/>
              </a:spcAft>
            </a:pPr>
            <a:r>
              <a:rPr sz="1250" b="0">
                <a:solidFill>
                  <a:srgbClr val="16324F"/>
                </a:solidFill>
                <a:latin typeface="Aptos"/>
              </a:rPr>
              <a:t>NO CODE WAS CHANGED — all of this is offline replay against recorded CSVs. The runtime still applies the 60 mm / 20° gate, still fuses every visible marker, and has no freeze rule. Nothing recommended here has been implemented.</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The single biggest limitation is the absence of ground truth. Consistency between viewpoints can be measured without it, but accuracy cannot. Physical measurement of the anchor position, or an independent tracker, is what would turn these into accuracy claims.</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Assumptions verified where possible: calibration compared against the device copy; replay validated against builds/viewpoint_research/metrics.json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Everything that was tried — including what failed</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HELD UP ON HELD-OUT DATA — subset comparison across all seven combinations of the three markers, scored only on frames where all three are visible: ID0+ID2 beats all three (6.11 vs 6.52 cm).  •  Separating viewing angle from range using the stationary recordings: angle, not distance.  •  Rejecting a frame when the markers disagree by more than about 40 mm and holding the last pose: 7.49 to 7.17 cm, modest but real.</a:t>
            </a:r>
          </a:p>
          <a:p>
            <a:pPr>
              <a:spcAft>
                <a:spcPts val="600"/>
              </a:spcAft>
            </a:pPr>
            <a:r>
              <a:rPr sz="1250" b="0">
                <a:solidFill>
                  <a:srgbClr val="16324F"/>
                </a:solidFill>
                <a:latin typeface="Aptos"/>
              </a:rPr>
              <a:t>DID NOT WORK — a 168-point grid search over the agreement gates: the winner (250 mm / 12°) scored WORSE on held-out data than the setting it replaced, and the gate itself loses to a plain average (7.84 vs 7.49 cm).  •  Range weighting w = 1/range^k for k = 0 to 3: 6.30 to 6.17 cm, about 2%.  •  Using ID0 alone with no fusion: worse than fusing on both mean and worst case, and ID0 is only visible in 70% of frames.</a:t>
            </a:r>
          </a:p>
          <a:p>
            <a:pPr>
              <a:spcAft>
                <a:spcPts val="600"/>
              </a:spcAft>
            </a:pPr>
            <a:r>
              <a:rPr sz="1250" b="0">
                <a:solidFill>
                  <a:srgbClr val="16324F"/>
                </a:solidFill>
                <a:latin typeface="Aptos"/>
              </a:rPr>
              <a:t>DIAGNOSTICS RUN — branch-frequency count of _fuse (28.9 / 34.6 / 22.6 / 13.9%).  •  Odd-one-out attribution per marker (ID0 12.0%, ID1 40.1%, ID2 47.9%).  •  Calibration geometry check comparing observed marker-to-marker pose against the stored offsets: 20–40 mm systematic bias.  •  Rotation-share decomposition through each marker's lever arm.  •  Depth versus lateral split in the camera frame: 59% along the view axis.  •  Range and obliquity correlation: +0.57 and +0.24.  •  Radial image distance against residual: −0.14 raw, +0.31 once range is held constant.</a:t>
            </a:r>
          </a:p>
          <a:p>
            <a:pPr>
              <a:spcAft>
                <a:spcPts val="600"/>
              </a:spcAft>
            </a:pPr>
            <a:r>
              <a:rPr sz="1250" b="0">
                <a:solidFill>
                  <a:srgbClr val="16324F"/>
                </a:solidFill>
                <a:latin typeface="Aptos"/>
              </a:rPr>
              <a:t>RAISED AND THEN WITHDRAWN — rotation error acting through the lever arm: refuted, because ID0's offset is exactly zero so rotation cannot displace it, and the stationary test that EXCLUDES rotation still drifts.  •  "Place and lock from close range": refuted, because at equal range the side views still drift and the farthest view drifts least.  •  Uncorrected lens distortion: corrected, the active pipeline does apply distortion coefficients; the zeroed vectors are in unused picture/webcam code paths.  •  A left/right asymmetry as an optics clue: withdrawn, the asymmetry has opposite sign in the two data sets.</a:t>
            </a:r>
          </a:p>
          <a:p>
            <a:pPr>
              <a:spcAft>
                <a:spcPts val="600"/>
              </a:spcAft>
            </a:pPr>
            <a:r>
              <a:rPr sz="1250" b="0">
                <a:solidFill>
                  <a:srgbClr val="16324F"/>
                </a:solidFill>
                <a:latin typeface="Aptos"/>
              </a:rPr>
              <a:t>STILL OPEN — the device's own intrinsics and distortion are read from ACAMERA_LENS_INTRINSIC_CALIBRATION and ACAMERA_LENS_DISTORTION, then discarded: the per-camera selection is commented out and a rescale from 1280×1280 to the working resolution is unfinished. Whether using them changes anything is untested.</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Reported in the order the work happened, failures included, because a method that was tried and rejected is part of the evidence. Four hypotheses were raised and then withdrawn when the data or the code contradicted them.</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tools/compare_id0_vs_fusion.py • tune_marker_agreement.py • analyze_subsets_and_freeze.py • diagnose_marker_disagreement.py • side_view_vs_range.py • test_distortion_hypothesis.py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r>
              <a:rPr sz="1000" b="1">
                <a:solidFill>
                  <a:srgbClr val="5C7084"/>
                </a:solidFill>
                <a:latin typeface="Aptos"/>
              </a:rPr>
              <a:t>DRIFT FIX — 22 SEPTEMBER 2026</a:t>
            </a:r>
          </a:p>
        </p:txBody>
      </p:sp>
      <p:sp>
        <p:nvSpPr>
          <p:cNvPr id="3" name="TextBox 2"/>
          <p:cNvSpPr txBox="1"/>
          <p:nvPr/>
        </p:nvSpPr>
        <p:spPr>
          <a:xfrm>
            <a:off x="530352" y="530352"/>
            <a:ext cx="10981944" cy="502920"/>
          </a:xfrm>
          <a:prstGeom prst="rect">
            <a:avLst/>
          </a:prstGeom>
          <a:noFill/>
        </p:spPr>
        <p:txBody>
          <a:bodyPr wrap="square">
            <a:spAutoFit/>
          </a:bodyPr>
          <a:lstStyle/>
          <a:p>
            <a:r>
              <a:rPr sz="2400" b="1">
                <a:solidFill>
                  <a:srgbClr val="102A43"/>
                </a:solidFill>
                <a:latin typeface="Aptos"/>
              </a:rPr>
              <a:t>The drift was a range error: found from the recordings, fixed by one factor</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10881360" cy="3566160"/>
          </a:xfrm>
          <a:prstGeom prst="rect">
            <a:avLst/>
          </a:prstGeom>
          <a:noFill/>
        </p:spPr>
        <p:txBody>
          <a:bodyPr wrap="square">
            <a:spAutoFit/>
          </a:bodyPr>
          <a:lstStyle/>
          <a:p>
            <a:pPr>
              <a:spcAft>
                <a:spcPts val="600"/>
              </a:spcAft>
            </a:pPr>
            <a:r>
              <a:rPr sz="1250" b="1">
                <a:solidFill>
                  <a:srgbClr val="16324F"/>
                </a:solidFill>
                <a:latin typeface="Aptos"/>
              </a:rPr>
              <a:t>OBSERVATION — </a:t>
            </a:r>
            <a:r>
              <a:rPr sz="1250" b="0">
                <a:solidFill>
                  <a:srgbClr val="16324F"/>
                </a:solidFill>
                <a:latin typeface="Aptos"/>
              </a:rPr>
              <a:t>correct from the front, slid sideways from the sides, moved away from the viewer at distance.</a:t>
            </a:r>
          </a:p>
          <a:p>
            <a:pPr>
              <a:spcAft>
                <a:spcPts val="600"/>
              </a:spcAft>
            </a:pPr>
            <a:r>
              <a:rPr sz="1250" b="1">
                <a:solidFill>
                  <a:srgbClr val="16324F"/>
                </a:solidFill>
                <a:latin typeface="Aptos"/>
              </a:rPr>
              <a:t>ASSUMPTION — </a:t>
            </a:r>
            <a:r>
              <a:rPr sz="1250" b="0">
                <a:solidFill>
                  <a:srgbClr val="16324F"/>
                </a:solidFill>
                <a:latin typeface="Aptos"/>
              </a:rPr>
              <a:t>the mannequin does not move during a recording, so one marker must land on one spot in the room from every viewpoint.</a:t>
            </a:r>
          </a:p>
          <a:p>
            <a:pPr>
              <a:spcAft>
                <a:spcPts val="600"/>
              </a:spcAft>
            </a:pPr>
            <a:r>
              <a:rPr sz="1250" b="1">
                <a:solidFill>
                  <a:srgbClr val="16324F"/>
                </a:solidFill>
                <a:latin typeface="Aptos"/>
              </a:rPr>
              <a:t>DATA — </a:t>
            </a:r>
            <a:r>
              <a:rPr sz="1250" b="0">
                <a:solidFill>
                  <a:srgbClr val="16324F"/>
                </a:solidFill>
                <a:latin typeface="Aptos"/>
              </a:rPr>
              <a:t>7 recorded walks (3 and 9 September), 3 markers each = 21 independent fits.</a:t>
            </a:r>
          </a:p>
          <a:p>
            <a:pPr>
              <a:spcAft>
                <a:spcPts val="600"/>
              </a:spcAft>
            </a:pPr>
            <a:r>
              <a:rPr sz="1250" b="1">
                <a:solidFill>
                  <a:srgbClr val="16324F"/>
                </a:solidFill>
                <a:latin typeface="Aptos"/>
              </a:rPr>
              <a:t>METHOD — </a:t>
            </a:r>
            <a:r>
              <a:rPr sz="1250" b="0">
                <a:solidFill>
                  <a:srgbClr val="16324F"/>
                </a:solidFill>
                <a:latin typeface="Aptos"/>
              </a:rPr>
              <a:t>per view: position in room = head position + s × (marker offset from camera). Unknowns: the true spot X and one scale s. Least squares over all views; X is the mean, s has a closed form. No external reference value is needed.</a:t>
            </a:r>
          </a:p>
          <a:p>
            <a:pPr>
              <a:spcAft>
                <a:spcPts val="600"/>
              </a:spcAft>
            </a:pPr>
            <a:r>
              <a:rPr sz="1250" b="1">
                <a:solidFill>
                  <a:srgbClr val="16324F"/>
                </a:solidFill>
                <a:latin typeface="Aptos"/>
              </a:rPr>
              <a:t>RESULT — </a:t>
            </a:r>
            <a:r>
              <a:rPr sz="1250" b="0">
                <a:solidFill>
                  <a:srgbClr val="16324F"/>
                </a:solidFill>
                <a:latin typeface="Aptos"/>
              </a:rPr>
              <a:t>s = 0.937 in every session (common marker 0.932–0.940; all 21 fits average 0.937). Every distance was measured ~6.7 % too long. Error along the line of sight, lateral ~1 cm → range, not lens distortion.</a:t>
            </a:r>
          </a:p>
          <a:p>
            <a:pPr>
              <a:spcAft>
                <a:spcPts val="600"/>
              </a:spcAft>
            </a:pPr>
            <a:r>
              <a:rPr sz="1250" b="1">
                <a:solidFill>
                  <a:srgbClr val="16324F"/>
                </a:solidFill>
                <a:latin typeface="Aptos"/>
              </a:rPr>
              <a:t>FIX — </a:t>
            </a:r>
            <a:r>
              <a:rPr sz="1250" b="0">
                <a:solidFill>
                  <a:srgbClr val="16324F"/>
                </a:solidFill>
                <a:latin typeface="Aptos"/>
              </a:rPr>
              <a:t>camera focal length × 0.937 (877.1 → 821.8, 878.3 → 823.0). One number, applies to all markers, independent of marker placement.</a:t>
            </a:r>
          </a:p>
          <a:p>
            <a:pPr>
              <a:spcAft>
                <a:spcPts val="600"/>
              </a:spcAft>
            </a:pPr>
            <a:r>
              <a:rPr sz="1250" b="1">
                <a:solidFill>
                  <a:srgbClr val="16324F"/>
                </a:solidFill>
                <a:latin typeface="Aptos"/>
              </a:rPr>
              <a:t>VERIFIED — </a:t>
            </a:r>
            <a:r>
              <a:rPr sz="1250" b="0">
                <a:solidFill>
                  <a:srgbClr val="16324F"/>
                </a:solidFill>
                <a:latin typeface="Aptos"/>
              </a:rPr>
              <a:t>two new recordings (15 September) fit s = 1.000, 0.990, 1.005. Side-view error 6–12 cm → ~3 cm.</a:t>
            </a:r>
          </a:p>
        </p:txBody>
      </p:sp>
      <p:sp>
        <p:nvSpPr>
          <p:cNvPr id="6" name="Rectangle 5"/>
          <p:cNvSpPr/>
          <p:nvPr/>
        </p:nvSpPr>
        <p:spPr>
          <a:xfrm>
            <a:off x="822960" y="5212080"/>
            <a:ext cx="10515600" cy="1051560"/>
          </a:xfrm>
          <a:prstGeom prst="rect">
            <a:avLst/>
          </a:prstGeom>
          <a:solidFill>
            <a:srgbClr val="E4E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50" b="0">
                <a:solidFill>
                  <a:srgbClr val="16324F"/>
                </a:solidFill>
                <a:latin typeface="Aptos"/>
              </a:rPr>
              <a:t>What the data cannot decide: a focal-length error and a headset tracking-scale error produce the same picture in the app. A tripod tape test at 1 m and 2 m would separate them. Only matters if raw marker distances are used for something else.</a:t>
            </a:r>
          </a:p>
        </p:txBody>
      </p:sp>
      <p:sp>
        <p:nvSpPr>
          <p:cNvPr id="7" name="TextBox 6"/>
          <p:cNvSpPr txBox="1"/>
          <p:nvPr/>
        </p:nvSpPr>
        <p:spPr>
          <a:xfrm>
            <a:off x="530352" y="6473952"/>
            <a:ext cx="9784080" cy="182880"/>
          </a:xfrm>
          <a:prstGeom prst="rect">
            <a:avLst/>
          </a:prstGeom>
          <a:noFill/>
        </p:spPr>
        <p:txBody>
          <a:bodyPr wrap="square">
            <a:spAutoFit/>
          </a:bodyPr>
          <a:lstStyle/>
          <a:p>
            <a:r>
              <a:rPr sz="800" b="0">
                <a:solidFill>
                  <a:srgbClr val="5C7084"/>
                </a:solidFill>
                <a:latin typeface="Aptos"/>
              </a:rPr>
              <a:t>tools/depth_scale_fit.py — recordings aruco_stationary_17884* (3 Sep), aruco_viewpoint_17889* (9 Sep), aruco_viewpoint_17894* (15 Sep, verification)</a:t>
            </a:r>
          </a:p>
        </p:txBody>
      </p:sp>
      <p:sp>
        <p:nvSpPr>
          <p:cNvPr id="8" name="TextBox 7"/>
          <p:cNvSpPr txBox="1"/>
          <p:nvPr/>
        </p:nvSpPr>
        <p:spPr>
          <a:xfrm>
            <a:off x="11073384" y="6437376"/>
            <a:ext cx="585216" cy="182880"/>
          </a:xfrm>
          <a:prstGeom prst="rect">
            <a:avLst/>
          </a:prstGeom>
          <a:noFill/>
        </p:spPr>
        <p:txBody>
          <a:bodyPr wrap="square">
            <a:spAutoFit/>
          </a:bodyPr>
          <a:lstStyle/>
          <a:p>
            <a:pPr algn="r"/>
            <a:r>
              <a:rPr sz="800" b="0">
                <a:solidFill>
                  <a:srgbClr val="5C7084"/>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r>
              <a:rPr sz="1000" b="1">
                <a:solidFill>
                  <a:srgbClr val="5C7084"/>
                </a:solidFill>
                <a:latin typeface="Aptos"/>
              </a:rPr>
              <a:t>DRIFT FIX — 22 SEPTEMBER 2026</a:t>
            </a:r>
          </a:p>
        </p:txBody>
      </p:sp>
      <p:sp>
        <p:nvSpPr>
          <p:cNvPr id="3" name="TextBox 2"/>
          <p:cNvSpPr txBox="1"/>
          <p:nvPr/>
        </p:nvSpPr>
        <p:spPr>
          <a:xfrm>
            <a:off x="530352" y="530352"/>
            <a:ext cx="10981944" cy="502920"/>
          </a:xfrm>
          <a:prstGeom prst="rect">
            <a:avLst/>
          </a:prstGeom>
          <a:noFill/>
        </p:spPr>
        <p:txBody>
          <a:bodyPr wrap="square">
            <a:spAutoFit/>
          </a:bodyPr>
          <a:lstStyle/>
          <a:p>
            <a:r>
              <a:rPr sz="2400" b="1">
                <a:solidFill>
                  <a:srgbClr val="102A43"/>
                </a:solidFill>
                <a:latin typeface="Aptos"/>
              </a:rPr>
              <a:t>What remained after the scale fix, and what was done about it</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10881360" cy="3566160"/>
          </a:xfrm>
          <a:prstGeom prst="rect">
            <a:avLst/>
          </a:prstGeom>
          <a:noFill/>
        </p:spPr>
        <p:txBody>
          <a:bodyPr wrap="square">
            <a:spAutoFit/>
          </a:bodyPr>
          <a:lstStyle/>
          <a:p>
            <a:pPr>
              <a:spcAft>
                <a:spcPts val="600"/>
              </a:spcAft>
            </a:pPr>
            <a:r>
              <a:rPr sz="1250" b="1">
                <a:solidFill>
                  <a:srgbClr val="16324F"/>
                </a:solidFill>
                <a:latin typeface="Aptos"/>
              </a:rPr>
              <a:t>RESIDUAL RANGE — </a:t>
            </a:r>
            <a:r>
              <a:rPr sz="1250" b="0">
                <a:solidFill>
                  <a:srgbClr val="16324F"/>
                </a:solidFill>
                <a:latin typeface="Aptos"/>
              </a:rPr>
              <a:t>beyond 1.2 m the distance still read too long, by 6.4 % of the extra distance (both sessions, common and navel agree). Corrected per marker before placement; common and navel within 1 cm out to 2.2 m.</a:t>
            </a:r>
          </a:p>
          <a:p>
            <a:pPr>
              <a:spcAft>
                <a:spcPts val="600"/>
              </a:spcAft>
            </a:pPr>
            <a:r>
              <a:rPr sz="1250" b="1">
                <a:solidFill>
                  <a:srgbClr val="16324F"/>
                </a:solidFill>
                <a:latin typeface="Aptos"/>
              </a:rPr>
              <a:t>MIRROR POSES — </a:t>
            </a:r>
            <a:r>
              <a:rPr sz="1250" b="0">
                <a:solidFill>
                  <a:srgbClr val="16324F"/>
                </a:solidFill>
                <a:latin typeface="Aptos"/>
              </a:rPr>
              <a:t>from the side the detector sometimes returns the flipped solution of a flat marker: 30–40° turned, 12–14 cm off (33 % of left-view samples for the common marker, 86 % of right-view samples for the chest). Rejected when the marker face points &gt; 45° from up; its last good pose stands in for up to 1 s. Removed the turning and the jumps.</a:t>
            </a:r>
          </a:p>
          <a:p>
            <a:pPr>
              <a:spcAft>
                <a:spcPts val="600"/>
              </a:spcAft>
            </a:pPr>
            <a:r>
              <a:rPr sz="1250" b="1">
                <a:solidFill>
                  <a:srgbClr val="16324F"/>
                </a:solidFill>
                <a:latin typeface="Aptos"/>
              </a:rPr>
              <a:t>RE-ANCHOR — </a:t>
            </a:r>
            <a:r>
              <a:rPr sz="1250" b="0">
                <a:solidFill>
                  <a:srgbClr val="16324F"/>
                </a:solidFill>
                <a:latin typeface="Aptos"/>
              </a:rPr>
              <a:t>thresholds raised to 8 cm / 8° so viewpoint bias is not mistaken for the mannequin being moved.</a:t>
            </a:r>
          </a:p>
          <a:p>
            <a:pPr>
              <a:spcAft>
                <a:spcPts val="600"/>
              </a:spcAft>
            </a:pPr>
            <a:r>
              <a:rPr sz="1250" b="1">
                <a:solidFill>
                  <a:srgbClr val="16324F"/>
                </a:solidFill>
                <a:latin typeface="Aptos"/>
              </a:rPr>
              <a:t>OPEN — </a:t>
            </a:r>
            <a:r>
              <a:rPr sz="1250" b="0">
                <a:solidFill>
                  <a:srgbClr val="16324F"/>
                </a:solidFill>
                <a:latin typeface="Aptos"/>
              </a:rPr>
              <a:t>beyond 2 m the chest marker keeps a steeper error the model does not cover. Next accuracy step: one pose from all 12 marker corners in the detector (C++ side).</a:t>
            </a:r>
          </a:p>
          <a:p>
            <a:pPr>
              <a:spcAft>
                <a:spcPts val="600"/>
              </a:spcAft>
            </a:pPr>
            <a:r>
              <a:rPr sz="1250" b="1">
                <a:solidFill>
                  <a:srgbClr val="16324F"/>
                </a:solidFill>
                <a:latin typeface="Aptos"/>
              </a:rPr>
              <a:t>NOT THE APP — </a:t>
            </a:r>
            <a:r>
              <a:rPr sz="1250" b="0">
                <a:solidFill>
                  <a:srgbClr val="16324F"/>
                </a:solidFill>
                <a:latin typeface="Aptos"/>
              </a:rPr>
              <a:t>the headset has been tracking in low-light mode, relocalising ~once a minute; the per-frame trace shows the avatar steady to &lt; 0.5 mm in the app's world while the user saw shaking.</a:t>
            </a:r>
          </a:p>
        </p:txBody>
      </p:sp>
      <p:sp>
        <p:nvSpPr>
          <p:cNvPr id="6" name="Rectangle 5"/>
          <p:cNvSpPr/>
          <p:nvPr/>
        </p:nvSpPr>
        <p:spPr>
          <a:xfrm>
            <a:off x="822960" y="5212080"/>
            <a:ext cx="10515600" cy="1051560"/>
          </a:xfrm>
          <a:prstGeom prst="rect">
            <a:avLst/>
          </a:prstGeom>
          <a:solidFill>
            <a:srgbClr val="E4E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50" b="0">
                <a:solidFill>
                  <a:srgbClr val="16324F"/>
                </a:solidFill>
                <a:latin typeface="Aptos"/>
              </a:rPr>
              <a:t>Tried in replay and not shipped (&lt; 1 cm gain or worse): weighting the common marker higher, a 10 cm outlier rule, a fresh calibration from the new recordings, a rigid-body consistency check between markers.</a:t>
            </a:r>
          </a:p>
        </p:txBody>
      </p:sp>
      <p:sp>
        <p:nvSpPr>
          <p:cNvPr id="7" name="TextBox 6"/>
          <p:cNvSpPr txBox="1"/>
          <p:nvPr/>
        </p:nvSpPr>
        <p:spPr>
          <a:xfrm>
            <a:off x="530352" y="6473952"/>
            <a:ext cx="9784080" cy="182880"/>
          </a:xfrm>
          <a:prstGeom prst="rect">
            <a:avLst/>
          </a:prstGeom>
          <a:noFill/>
        </p:spPr>
        <p:txBody>
          <a:bodyPr wrap="square">
            <a:spAutoFit/>
          </a:bodyPr>
          <a:lstStyle/>
          <a:p>
            <a:r>
              <a:rPr sz="800" b="0">
                <a:solidFill>
                  <a:srgbClr val="5C7084"/>
                </a:solidFill>
                <a:latin typeface="Aptos"/>
              </a:rPr>
              <a:t>tools/viewpoint_phase_summary.py — tools/replay_summary.py — tests/replay_recording.gd — device log: adb logcat | grep endTransition[worldTracking]</a:t>
            </a:r>
          </a:p>
        </p:txBody>
      </p:sp>
      <p:sp>
        <p:nvSpPr>
          <p:cNvPr id="8" name="TextBox 7"/>
          <p:cNvSpPr txBox="1"/>
          <p:nvPr/>
        </p:nvSpPr>
        <p:spPr>
          <a:xfrm>
            <a:off x="11073384" y="6437376"/>
            <a:ext cx="585216" cy="182880"/>
          </a:xfrm>
          <a:prstGeom prst="rect">
            <a:avLst/>
          </a:prstGeom>
          <a:noFill/>
        </p:spPr>
        <p:txBody>
          <a:bodyPr wrap="square">
            <a:spAutoFit/>
          </a:bodyPr>
          <a:lstStyle/>
          <a:p>
            <a:pPr algn="r"/>
            <a:r>
              <a:rPr sz="800" b="0">
                <a:solidFill>
                  <a:srgbClr val="5C7084"/>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r>
              <a:rPr sz="1000" b="1">
                <a:solidFill>
                  <a:srgbClr val="5C7084"/>
                </a:solidFill>
                <a:latin typeface="Aptos"/>
              </a:rPr>
              <a:t>DRIFT FIX — 22 SEPTEMBER 2026</a:t>
            </a:r>
          </a:p>
        </p:txBody>
      </p:sp>
      <p:sp>
        <p:nvSpPr>
          <p:cNvPr id="3" name="TextBox 2"/>
          <p:cNvSpPr txBox="1"/>
          <p:nvPr/>
        </p:nvSpPr>
        <p:spPr>
          <a:xfrm>
            <a:off x="530352" y="530352"/>
            <a:ext cx="10981944" cy="502920"/>
          </a:xfrm>
          <a:prstGeom prst="rect">
            <a:avLst/>
          </a:prstGeom>
          <a:noFill/>
        </p:spPr>
        <p:txBody>
          <a:bodyPr wrap="square">
            <a:spAutoFit/>
          </a:bodyPr>
          <a:lstStyle/>
          <a:p>
            <a:r>
              <a:rPr sz="2400" b="1">
                <a:solidFill>
                  <a:srgbClr val="102A43"/>
                </a:solidFill>
                <a:latin typeface="Aptos"/>
              </a:rPr>
              <a:t>Why the mirror-pose test is needed even though the floor lock discards tilt</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10881360" cy="3703320"/>
          </a:xfrm>
          <a:prstGeom prst="rect">
            <a:avLst/>
          </a:prstGeom>
          <a:noFill/>
        </p:spPr>
        <p:txBody>
          <a:bodyPr wrap="square">
            <a:spAutoFit/>
          </a:bodyPr>
          <a:lstStyle/>
          <a:p>
            <a:pPr>
              <a:spcAft>
                <a:spcPts val="500"/>
              </a:spcAft>
            </a:pPr>
            <a:r>
              <a:rPr sz="1200" b="1">
                <a:solidFill>
                  <a:srgbClr val="16324F"/>
                </a:solidFill>
                <a:latin typeface="Aptos"/>
              </a:rPr>
              <a:t>THE QUESTION — </a:t>
            </a:r>
            <a:r>
              <a:rPr sz="1200" b="0">
                <a:solidFill>
                  <a:srgbClr val="16324F"/>
                </a:solidFill>
                <a:latin typeface="Aptos"/>
              </a:rPr>
              <a:t>the floor lock already forces the avatar flat, so why not floor-lock first and skip the mirror test?</a:t>
            </a:r>
          </a:p>
          <a:p>
            <a:pPr>
              <a:spcAft>
                <a:spcPts val="500"/>
              </a:spcAft>
            </a:pPr>
            <a:r>
              <a:rPr sz="1200" b="1">
                <a:solidFill>
                  <a:srgbClr val="16324F"/>
                </a:solidFill>
                <a:latin typeface="Aptos"/>
              </a:rPr>
              <a:t>WHAT THE FLOOR LOCK DOES — </a:t>
            </a:r>
            <a:r>
              <a:rPr sz="1200" b="0">
                <a:solidFill>
                  <a:srgbClr val="16324F"/>
                </a:solidFill>
                <a:latin typeface="Aptos"/>
              </a:rPr>
              <a:t>reads one thing from the marker, its along-body axis, flattens it onto the floor and keeps that as the heading; overwrites the face direction with the room's down; copies the position through untouched. It never inspects the sample, so it cannot reject one.</a:t>
            </a:r>
          </a:p>
          <a:p>
            <a:pPr>
              <a:spcAft>
                <a:spcPts val="500"/>
              </a:spcAft>
            </a:pPr>
            <a:r>
              <a:rPr sz="1200" b="1">
                <a:solidFill>
                  <a:srgbClr val="16324F"/>
                </a:solidFill>
                <a:latin typeface="Aptos"/>
              </a:rPr>
              <a:t>WHAT A MIRRORED SAMPLE IS WRONG ABOUT — </a:t>
            </a:r>
            <a:r>
              <a:rPr sz="1200" b="0">
                <a:solidFill>
                  <a:srgbClr val="16324F"/>
                </a:solidFill>
                <a:latin typeface="Aptos"/>
              </a:rPr>
              <a:t>three things at once: face pointing sideways (85–95° from up instead of 5–25°), heading turned 30–40° on the floor, position shifted 12–14 cm. From the side the picture fits both candidates, so the detector's pick is a coin toss.</a:t>
            </a:r>
          </a:p>
          <a:p>
            <a:pPr>
              <a:spcAft>
                <a:spcPts val="500"/>
              </a:spcAft>
            </a:pPr>
            <a:r>
              <a:rPr sz="1200" b="1">
                <a:solidFill>
                  <a:srgbClr val="16324F"/>
                </a:solidFill>
                <a:latin typeface="Aptos"/>
              </a:rPr>
              <a:t>MIRRORED SAMPLE THROUGH THE FLOOR LOCK — </a:t>
            </a:r>
            <a:r>
              <a:rPr sz="1200" b="0">
                <a:solidFill>
                  <a:srgbClr val="16324F"/>
                </a:solidFill>
                <a:latin typeface="Aptos"/>
              </a:rPr>
              <a:t>turned heading flattened and taken as truth; shifted position copied through; sideways face overwritten and gone. Output: a clean, flat, confident, wrong pose. Fused with the good ones, the avatar's feet swing ~60 cm for a 35° turn, pivoting about the chest marker.</a:t>
            </a:r>
          </a:p>
          <a:p>
            <a:pPr>
              <a:spcAft>
                <a:spcPts val="500"/>
              </a:spcAft>
            </a:pPr>
            <a:r>
              <a:rPr sz="1200" b="1">
                <a:solidFill>
                  <a:srgbClr val="16324F"/>
                </a:solidFill>
                <a:latin typeface="Aptos"/>
              </a:rPr>
              <a:t>MIRRORED SAMPLE THROUGH THE TEST — </a:t>
            </a:r>
            <a:r>
              <a:rPr sz="1200" b="0">
                <a:solidFill>
                  <a:srgbClr val="16324F"/>
                </a:solidFill>
                <a:latin typeface="Aptos"/>
              </a:rPr>
              <a:t>the test reads the face direction, the one thing the floor lock throws away. Sideways → the whole sample is dropped, wrong heading and wrong position with it; the marker's last good pose stands in for up to 1 s. Only surviving samples are fused and then floor-locked.</a:t>
            </a:r>
          </a:p>
          <a:p>
            <a:pPr>
              <a:spcAft>
                <a:spcPts val="500"/>
              </a:spcAft>
            </a:pPr>
            <a:r>
              <a:rPr sz="1200" b="1">
                <a:solidFill>
                  <a:srgbClr val="16324F"/>
                </a:solidFill>
                <a:latin typeface="Aptos"/>
              </a:rPr>
              <a:t>FLOOR LOCK EARLIER — </a:t>
            </a:r>
            <a:r>
              <a:rPr sz="1200" b="0">
                <a:solidFill>
                  <a:srgbClr val="16324F"/>
                </a:solidFill>
                <a:latin typeface="Aptos"/>
              </a:rPr>
              <a:t>every sample would reach the test already flattened, face direction = down, angle 0°: the test would pass everything, including the mirrors. Same as having no test.</a:t>
            </a:r>
          </a:p>
        </p:txBody>
      </p:sp>
      <p:sp>
        <p:nvSpPr>
          <p:cNvPr id="6" name="Rectangle 5"/>
          <p:cNvSpPr/>
          <p:nvPr/>
        </p:nvSpPr>
        <p:spPr>
          <a:xfrm>
            <a:off x="822960" y="5285232"/>
            <a:ext cx="10515600" cy="1005840"/>
          </a:xfrm>
          <a:prstGeom prst="rect">
            <a:avLst/>
          </a:prstGeom>
          <a:solidFill>
            <a:srgbClr val="E4E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150" b="0">
                <a:solidFill>
                  <a:srgbClr val="16324F"/>
                </a:solidFill>
                <a:latin typeface="Aptos"/>
              </a:rPr>
              <a:t>Rule: the face direction must be read before it is discarded. The order is not the point; the check could live inside the floor lock, but it would be the same test. The two angles are different: the 45° threshold is on tilt (face vs up), the 30–40° is the heading error that goes away with the rejected sample and is never measured at run time. Removing the mirror at the source (choose the candidate facing up, or fix each marker's known tilt in the solve) needs the corners, which only the C++ detector has.</a:t>
            </a:r>
          </a:p>
        </p:txBody>
      </p:sp>
      <p:sp>
        <p:nvSpPr>
          <p:cNvPr id="7" name="TextBox 6"/>
          <p:cNvSpPr txBox="1"/>
          <p:nvPr/>
        </p:nvSpPr>
        <p:spPr>
          <a:xfrm>
            <a:off x="530352" y="6473952"/>
            <a:ext cx="9784080" cy="182880"/>
          </a:xfrm>
          <a:prstGeom prst="rect">
            <a:avLst/>
          </a:prstGeom>
          <a:noFill/>
        </p:spPr>
        <p:txBody>
          <a:bodyPr wrap="square">
            <a:spAutoFit/>
          </a:bodyPr>
          <a:lstStyle/>
          <a:p>
            <a:r>
              <a:rPr sz="800" b="0">
                <a:solidFill>
                  <a:srgbClr val="5C7084"/>
                </a:solidFill>
                <a:latin typeface="Aptos"/>
              </a:rPr>
              <a:t>navel_provider.gd: _is_flipped (before fusion) — _floor_lock (after fusion); tools/viewpoint_phase_summary.py for the 30–40° / 12–14 cm figures</a:t>
            </a:r>
          </a:p>
        </p:txBody>
      </p:sp>
      <p:sp>
        <p:nvSpPr>
          <p:cNvPr id="8" name="TextBox 7"/>
          <p:cNvSpPr txBox="1"/>
          <p:nvPr/>
        </p:nvSpPr>
        <p:spPr>
          <a:xfrm>
            <a:off x="11073384" y="6437376"/>
            <a:ext cx="585216" cy="182880"/>
          </a:xfrm>
          <a:prstGeom prst="rect">
            <a:avLst/>
          </a:prstGeom>
          <a:noFill/>
        </p:spPr>
        <p:txBody>
          <a:bodyPr wrap="square">
            <a:spAutoFit/>
          </a:bodyPr>
          <a:lstStyle/>
          <a:p>
            <a:pPr algn="r"/>
            <a:r>
              <a:rPr sz="800" b="0">
                <a:solidFill>
                  <a:srgbClr val="5C7084"/>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56032"/>
            <a:ext cx="7616952" cy="274320"/>
          </a:xfrm>
          <a:prstGeom prst="rect">
            <a:avLst/>
          </a:prstGeom>
          <a:noFill/>
        </p:spPr>
        <p:txBody>
          <a:bodyPr wrap="square">
            <a:spAutoFit/>
          </a:bodyPr>
          <a:lstStyle/>
          <a:p>
            <a:r>
              <a:rPr sz="1000" b="1">
                <a:solidFill>
                  <a:srgbClr val="5C7084"/>
                </a:solidFill>
                <a:latin typeface="Aptos"/>
              </a:rPr>
              <a:t>DRIFT FIX — 22 SEPTEMBER 2026</a:t>
            </a:r>
          </a:p>
        </p:txBody>
      </p:sp>
      <p:sp>
        <p:nvSpPr>
          <p:cNvPr id="3" name="TextBox 2"/>
          <p:cNvSpPr txBox="1"/>
          <p:nvPr/>
        </p:nvSpPr>
        <p:spPr>
          <a:xfrm>
            <a:off x="530352" y="530352"/>
            <a:ext cx="10981944" cy="502920"/>
          </a:xfrm>
          <a:prstGeom prst="rect">
            <a:avLst/>
          </a:prstGeom>
          <a:noFill/>
        </p:spPr>
        <p:txBody>
          <a:bodyPr wrap="square">
            <a:spAutoFit/>
          </a:bodyPr>
          <a:lstStyle/>
          <a:p>
            <a:r>
              <a:rPr sz="2400" b="1">
                <a:solidFill>
                  <a:srgbClr val="102A43"/>
                </a:solidFill>
                <a:latin typeface="Aptos"/>
              </a:rPr>
              <a:t>Re-anchor threshold 8 cm / 8°: why it is tied to the viewpoint error, and how it was set</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10881360" cy="3703320"/>
          </a:xfrm>
          <a:prstGeom prst="rect">
            <a:avLst/>
          </a:prstGeom>
          <a:noFill/>
        </p:spPr>
        <p:txBody>
          <a:bodyPr wrap="square">
            <a:spAutoFit/>
          </a:bodyPr>
          <a:lstStyle/>
          <a:p>
            <a:pPr>
              <a:spcAft>
                <a:spcPts val="400"/>
              </a:spcAft>
            </a:pPr>
            <a:r>
              <a:rPr sz="1150" b="1">
                <a:solidFill>
                  <a:srgbClr val="16324F"/>
                </a:solidFill>
                <a:latin typeface="Aptos"/>
              </a:rPr>
              <a:t>WHAT RE-ANCHOR WATCHES FOR — </a:t>
            </a:r>
            <a:r>
              <a:rPr sz="1150" b="0">
                <a:solidFill>
                  <a:srgbClr val="16324F"/>
                </a:solidFill>
                <a:latin typeface="Aptos"/>
              </a:rPr>
              <a:t>the filter holds a rest pose and re-anchors when the incoming measurement settles at a new spot and stays there, steady, over several detections. That pattern is its definition of "the mannequin was moved".</a:t>
            </a:r>
          </a:p>
          <a:p>
            <a:pPr>
              <a:spcAft>
                <a:spcPts val="400"/>
              </a:spcAft>
            </a:pPr>
            <a:r>
              <a:rPr sz="1150" b="1">
                <a:solidFill>
                  <a:srgbClr val="16324F"/>
                </a:solidFill>
                <a:latin typeface="Aptos"/>
              </a:rPr>
              <a:t>WHY THE VIEWPOINT ERROR MATTERS — </a:t>
            </a:r>
            <a:r>
              <a:rPr sz="1150" b="0">
                <a:solidFill>
                  <a:srgbClr val="16324F"/>
                </a:solidFill>
                <a:latin typeface="Aptos"/>
              </a:rPr>
              <a:t>the filter never sees the mannequin, only the detector's numbers. Walk to the side and stop: the markers read ~5 cm off, steadily, for as long as you stand there. A stable measurement somewhere else: exactly the pattern above. A real move and a viewpoint error are indistinguishable to it.</a:t>
            </a:r>
          </a:p>
          <a:p>
            <a:pPr>
              <a:spcAft>
                <a:spcPts val="400"/>
              </a:spcAft>
            </a:pPr>
            <a:r>
              <a:rPr sz="1150" b="1">
                <a:solidFill>
                  <a:srgbClr val="16324F"/>
                </a:solidFill>
                <a:latin typeface="Aptos"/>
              </a:rPr>
              <a:t>SO THE THRESHOLD IS A SIZE TEST — </a:t>
            </a:r>
            <a:r>
              <a:rPr sz="1150" b="0">
                <a:solidFill>
                  <a:srgbClr val="16324F"/>
                </a:solidFill>
                <a:latin typeface="Aptos"/>
              </a:rPr>
              <a:t>it must sit above the largest false alarm the test can receive, and the viewpoint error is that false alarm. Below it, walking round the mannequin re-anchors it: on the headset (15 Sep, floors 4 cm / 3°) the avatar crept toward the far viewer and turned a few degrees "at times", and jumped back on returning to the front.</a:t>
            </a:r>
          </a:p>
          <a:p>
            <a:pPr>
              <a:spcAft>
                <a:spcPts val="400"/>
              </a:spcAft>
            </a:pPr>
            <a:r>
              <a:rPr sz="1150" b="1">
                <a:solidFill>
                  <a:srgbClr val="16324F"/>
                </a:solidFill>
                <a:latin typeface="Aptos"/>
              </a:rPr>
              <a:t>HOW 8 / 8 WAS SET — </a:t>
            </a:r>
            <a:r>
              <a:rPr sz="1150" b="0">
                <a:solidFill>
                  <a:srgbClr val="16324F"/>
                </a:solidFill>
                <a:latin typeface="Aptos"/>
              </a:rPr>
              <a:t>bracketed, not fitted. Lower bound: residual viewpoint bias after the fx fix, ~4–6 cm and a few degrees (15 Sep recordings). Upper bound: real moves in the recorded tests, 105–300 mm and tens of degrees. 8 cm / 8° is ~1.5–2× the bias and well under the smallest real move; no data separates 8 from 7 or 10.</a:t>
            </a:r>
          </a:p>
          <a:p>
            <a:pPr>
              <a:spcAft>
                <a:spcPts val="400"/>
              </a:spcAft>
            </a:pPr>
            <a:r>
              <a:rPr sz="1150" b="1">
                <a:solidFill>
                  <a:srgbClr val="16324F"/>
                </a:solidFill>
                <a:latin typeface="Aptos"/>
              </a:rPr>
              <a:t>WHAT IT COSTS — </a:t>
            </a:r>
            <a:r>
              <a:rPr sz="1150" b="0">
                <a:solidFill>
                  <a:srgbClr val="16324F"/>
                </a:solidFill>
                <a:latin typeface="Aptos"/>
              </a:rPr>
              <a:t>a real move under 8 cm / 8° is not followed: the avatar stays put, off by that amount, until the mannequin moves further or is re-placed by nudge.</a:t>
            </a:r>
          </a:p>
          <a:p>
            <a:pPr>
              <a:spcAft>
                <a:spcPts val="400"/>
              </a:spcAft>
            </a:pPr>
            <a:r>
              <a:rPr sz="1150" b="1">
                <a:solidFill>
                  <a:srgbClr val="16324F"/>
                </a:solidFill>
                <a:latin typeface="Aptos"/>
              </a:rPr>
              <a:t>HOW TO LOWER IT — </a:t>
            </a:r>
            <a:r>
              <a:rPr sz="1150" b="0">
                <a:solidFill>
                  <a:srgbClr val="16324F"/>
                </a:solidFill>
                <a:latin typeface="Aptos"/>
              </a:rPr>
              <a:t>give the filter the cause, not just the size: the marker error changes only while the head moves, the mannequin at any time. Viewer-motion gate (built 16 Sep, in replay OK, reverted with the CPR rollback): hold while the head moves; once still 0.5 s, average 5 readings; ≤ 6 cm / 6° is bias and is subtracted, more is a move and is followed; &gt; 15 cm / 15° on 3 detections is followed at once; no small-move verdict beyond 1.8 m. Floor could then drop to 3–4 cm.</a:t>
            </a:r>
          </a:p>
        </p:txBody>
      </p:sp>
      <p:sp>
        <p:nvSpPr>
          <p:cNvPr id="6" name="Rectangle 5"/>
          <p:cNvSpPr/>
          <p:nvPr/>
        </p:nvSpPr>
        <p:spPr>
          <a:xfrm>
            <a:off x="822960" y="5440680"/>
            <a:ext cx="10515600" cy="841248"/>
          </a:xfrm>
          <a:prstGeom prst="rect">
            <a:avLst/>
          </a:prstGeom>
          <a:solidFill>
            <a:srgbClr val="E4EAF1"/>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150" b="0">
                <a:solidFill>
                  <a:srgbClr val="16324F"/>
                </a:solidFill>
                <a:latin typeface="Aptos"/>
              </a:rPr>
              <a:t>Not a fix: enlarging the avatar to hide a few centimetres. The CPR hand target on the chest needs centimetre placement, and +5 % already looked too wide on video. The range correction has since cut the far-view bias to ~3–4 cm, so the floor could come down a little even without the gate; no evidence yet that it needs to.</a:t>
            </a:r>
          </a:p>
        </p:txBody>
      </p:sp>
      <p:sp>
        <p:nvSpPr>
          <p:cNvPr id="7" name="TextBox 6"/>
          <p:cNvSpPr txBox="1"/>
          <p:nvPr/>
        </p:nvSpPr>
        <p:spPr>
          <a:xfrm>
            <a:off x="530352" y="6473952"/>
            <a:ext cx="9784080" cy="182880"/>
          </a:xfrm>
          <a:prstGeom prst="rect">
            <a:avLst/>
          </a:prstGeom>
          <a:noFill/>
        </p:spPr>
        <p:txBody>
          <a:bodyPr wrap="square">
            <a:spAutoFit/>
          </a:bodyPr>
          <a:lstStyle/>
          <a:p>
            <a:r>
              <a:rPr sz="800" b="0">
                <a:solidFill>
                  <a:srgbClr val="5C7084"/>
                </a:solidFill>
                <a:latin typeface="Aptos"/>
              </a:rPr>
              <a:t>avatar_rig_navel.gd: REANCHOR_MIN_POSITION_M / REANCHOR_MIN_ROTATION_DEG (commit a3efe0d); viewer gate: commit 105af97 (_gate_measurement)</a:t>
            </a:r>
          </a:p>
        </p:txBody>
      </p:sp>
      <p:sp>
        <p:nvSpPr>
          <p:cNvPr id="8" name="TextBox 7"/>
          <p:cNvSpPr txBox="1"/>
          <p:nvPr/>
        </p:nvSpPr>
        <p:spPr>
          <a:xfrm>
            <a:off x="11073384" y="6437376"/>
            <a:ext cx="585216" cy="182880"/>
          </a:xfrm>
          <a:prstGeom prst="rect">
            <a:avLst/>
          </a:prstGeom>
          <a:noFill/>
        </p:spPr>
        <p:txBody>
          <a:bodyPr wrap="square">
            <a:spAutoFit/>
          </a:bodyPr>
          <a:lstStyle/>
          <a:p>
            <a:pPr algn="r"/>
            <a:r>
              <a:rPr sz="800" b="0">
                <a:solidFill>
                  <a:srgbClr val="5C7084"/>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73B186-6E98-F946-09C5-0CFE83D440BC}"/>
              </a:ext>
            </a:extLst>
          </p:cNvPr>
          <p:cNvSpPr txBox="1"/>
          <p:nvPr/>
        </p:nvSpPr>
        <p:spPr>
          <a:xfrm>
            <a:off x="533400" y="279400"/>
            <a:ext cx="7620000" cy="153888"/>
          </a:xfrm>
          <a:prstGeom prst="rect">
            <a:avLst/>
          </a:prstGeom>
          <a:noFill/>
        </p:spPr>
        <p:txBody>
          <a:bodyPr vert="horz" lIns="0" tIns="0" rIns="0" bIns="0" rtlCol="0" anchor="t">
            <a:spAutoFit/>
          </a:bodyPr>
          <a:lstStyle/>
          <a:p>
            <a:r>
              <a:rPr lang="en-GB" sz="1000" b="1">
                <a:solidFill>
                  <a:srgbClr val="1976D2"/>
                </a:solidFill>
                <a:latin typeface="Aptos" panose="020B0004020202020204" pitchFamily="34" charset="0"/>
              </a:rPr>
              <a:t>CURRENT QUEST RUNTIME</a:t>
            </a:r>
          </a:p>
        </p:txBody>
      </p:sp>
      <p:sp>
        <p:nvSpPr>
          <p:cNvPr id="3" name="TextBox 2">
            <a:extLst>
              <a:ext uri="{FF2B5EF4-FFF2-40B4-BE49-F238E27FC236}">
                <a16:creationId xmlns:a16="http://schemas.microsoft.com/office/drawing/2014/main" id="{A31162E2-0FB2-1FBE-A50E-8A83F7A92AC4}"/>
              </a:ext>
            </a:extLst>
          </p:cNvPr>
          <p:cNvSpPr txBox="1"/>
          <p:nvPr/>
        </p:nvSpPr>
        <p:spPr>
          <a:xfrm>
            <a:off x="533400" y="609600"/>
            <a:ext cx="10985500" cy="430887"/>
          </a:xfrm>
          <a:prstGeom prst="rect">
            <a:avLst/>
          </a:prstGeom>
          <a:noFill/>
        </p:spPr>
        <p:txBody>
          <a:bodyPr vert="horz" lIns="0" tIns="0" rIns="0" bIns="0" rtlCol="0" anchor="t">
            <a:spAutoFit/>
          </a:bodyPr>
          <a:lstStyle/>
          <a:p>
            <a:r>
              <a:rPr lang="en-GB" sz="2800" b="1">
                <a:solidFill>
                  <a:srgbClr val="102A43"/>
                </a:solidFill>
                <a:latin typeface="Aptos" panose="020B0004020202020204" pitchFamily="34" charset="0"/>
              </a:rPr>
              <a:t>Why the five-pose medoid rejects jumps</a:t>
            </a:r>
          </a:p>
        </p:txBody>
      </p:sp>
      <p:sp>
        <p:nvSpPr>
          <p:cNvPr id="4" name="Rectangle 3">
            <a:extLst>
              <a:ext uri="{FF2B5EF4-FFF2-40B4-BE49-F238E27FC236}">
                <a16:creationId xmlns:a16="http://schemas.microsoft.com/office/drawing/2014/main" id="{0F5C7367-8695-DE0D-F08C-EBBD248A4287}"/>
              </a:ext>
            </a:extLst>
          </p:cNvPr>
          <p:cNvSpPr/>
          <p:nvPr/>
        </p:nvSpPr>
        <p:spPr>
          <a:xfrm>
            <a:off x="533400" y="1282700"/>
            <a:ext cx="11125200" cy="38100"/>
          </a:xfrm>
          <a:prstGeom prst="rect">
            <a:avLst/>
          </a:prstGeom>
          <a:solidFill>
            <a:srgbClr val="2CB1B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52CED3C3-571B-0967-2C22-45587EDDDC7A}"/>
              </a:ext>
            </a:extLst>
          </p:cNvPr>
          <p:cNvSpPr/>
          <p:nvPr/>
        </p:nvSpPr>
        <p:spPr>
          <a:xfrm>
            <a:off x="1625600" y="2921000"/>
            <a:ext cx="685800" cy="685800"/>
          </a:xfrm>
          <a:prstGeom prst="ellipse">
            <a:avLst/>
          </a:prstGeom>
          <a:solidFill>
            <a:srgbClr val="1976D2"/>
          </a:solidFill>
          <a:ln>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M1</a:t>
            </a:r>
          </a:p>
        </p:txBody>
      </p:sp>
      <p:sp>
        <p:nvSpPr>
          <p:cNvPr id="6" name="Oval 5">
            <a:extLst>
              <a:ext uri="{FF2B5EF4-FFF2-40B4-BE49-F238E27FC236}">
                <a16:creationId xmlns:a16="http://schemas.microsoft.com/office/drawing/2014/main" id="{89B25F4B-C44C-4D0F-91BE-CE0E36DF0017}"/>
              </a:ext>
            </a:extLst>
          </p:cNvPr>
          <p:cNvSpPr/>
          <p:nvPr/>
        </p:nvSpPr>
        <p:spPr>
          <a:xfrm>
            <a:off x="2108200" y="2768600"/>
            <a:ext cx="685800" cy="685800"/>
          </a:xfrm>
          <a:prstGeom prst="ellipse">
            <a:avLst/>
          </a:prstGeom>
          <a:solidFill>
            <a:srgbClr val="1976D2"/>
          </a:solidFill>
          <a:ln>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M2</a:t>
            </a:r>
          </a:p>
        </p:txBody>
      </p:sp>
      <p:sp>
        <p:nvSpPr>
          <p:cNvPr id="7" name="Oval 6">
            <a:extLst>
              <a:ext uri="{FF2B5EF4-FFF2-40B4-BE49-F238E27FC236}">
                <a16:creationId xmlns:a16="http://schemas.microsoft.com/office/drawing/2014/main" id="{3AF4238F-D889-039E-C1F2-755FC91FE156}"/>
              </a:ext>
            </a:extLst>
          </p:cNvPr>
          <p:cNvSpPr/>
          <p:nvPr/>
        </p:nvSpPr>
        <p:spPr>
          <a:xfrm>
            <a:off x="2463800" y="3200400"/>
            <a:ext cx="685800" cy="685800"/>
          </a:xfrm>
          <a:prstGeom prst="ellipse">
            <a:avLst/>
          </a:prstGeom>
          <a:solidFill>
            <a:srgbClr val="1976D2"/>
          </a:solidFill>
          <a:ln>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M3</a:t>
            </a:r>
          </a:p>
        </p:txBody>
      </p:sp>
      <p:sp>
        <p:nvSpPr>
          <p:cNvPr id="8" name="Oval 7">
            <a:extLst>
              <a:ext uri="{FF2B5EF4-FFF2-40B4-BE49-F238E27FC236}">
                <a16:creationId xmlns:a16="http://schemas.microsoft.com/office/drawing/2014/main" id="{F355DC32-97B8-708B-9E39-84FBA79768AC}"/>
              </a:ext>
            </a:extLst>
          </p:cNvPr>
          <p:cNvSpPr/>
          <p:nvPr/>
        </p:nvSpPr>
        <p:spPr>
          <a:xfrm>
            <a:off x="2946400" y="2844800"/>
            <a:ext cx="685800" cy="685800"/>
          </a:xfrm>
          <a:prstGeom prst="ellipse">
            <a:avLst/>
          </a:prstGeom>
          <a:solidFill>
            <a:srgbClr val="27AE60"/>
          </a:solidFill>
          <a:ln>
            <a:solidFill>
              <a:srgbClr val="27AE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chosen</a:t>
            </a:r>
          </a:p>
        </p:txBody>
      </p:sp>
      <p:sp>
        <p:nvSpPr>
          <p:cNvPr id="9" name="Oval 8">
            <a:extLst>
              <a:ext uri="{FF2B5EF4-FFF2-40B4-BE49-F238E27FC236}">
                <a16:creationId xmlns:a16="http://schemas.microsoft.com/office/drawing/2014/main" id="{BE496920-106A-66FE-65A1-0A2A604F6A78}"/>
              </a:ext>
            </a:extLst>
          </p:cNvPr>
          <p:cNvSpPr/>
          <p:nvPr/>
        </p:nvSpPr>
        <p:spPr>
          <a:xfrm>
            <a:off x="3276600" y="3327400"/>
            <a:ext cx="685800" cy="685800"/>
          </a:xfrm>
          <a:prstGeom prst="ellipse">
            <a:avLst/>
          </a:prstGeom>
          <a:solidFill>
            <a:srgbClr val="1976D2"/>
          </a:solidFill>
          <a:ln>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M5</a:t>
            </a:r>
          </a:p>
        </p:txBody>
      </p:sp>
      <p:sp>
        <p:nvSpPr>
          <p:cNvPr id="10" name="Oval 9">
            <a:extLst>
              <a:ext uri="{FF2B5EF4-FFF2-40B4-BE49-F238E27FC236}">
                <a16:creationId xmlns:a16="http://schemas.microsoft.com/office/drawing/2014/main" id="{50827838-9909-AA41-C723-E1CB37606074}"/>
              </a:ext>
            </a:extLst>
          </p:cNvPr>
          <p:cNvSpPr/>
          <p:nvPr/>
        </p:nvSpPr>
        <p:spPr>
          <a:xfrm>
            <a:off x="3632200" y="2984500"/>
            <a:ext cx="685800" cy="685800"/>
          </a:xfrm>
          <a:prstGeom prst="ellipse">
            <a:avLst/>
          </a:prstGeom>
          <a:solidFill>
            <a:srgbClr val="1976D2"/>
          </a:solidFill>
          <a:ln>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M6</a:t>
            </a:r>
          </a:p>
        </p:txBody>
      </p:sp>
      <p:sp>
        <p:nvSpPr>
          <p:cNvPr id="11" name="Oval 10">
            <a:extLst>
              <a:ext uri="{FF2B5EF4-FFF2-40B4-BE49-F238E27FC236}">
                <a16:creationId xmlns:a16="http://schemas.microsoft.com/office/drawing/2014/main" id="{F9A280E8-E0F2-E02D-E7C9-61E2F99F8390}"/>
              </a:ext>
            </a:extLst>
          </p:cNvPr>
          <p:cNvSpPr/>
          <p:nvPr/>
        </p:nvSpPr>
        <p:spPr>
          <a:xfrm>
            <a:off x="5334000" y="2133600"/>
            <a:ext cx="685800" cy="685800"/>
          </a:xfrm>
          <a:prstGeom prst="ellipse">
            <a:avLst/>
          </a:prstGeom>
          <a:solidFill>
            <a:srgbClr val="E45756"/>
          </a:solidFill>
          <a:ln>
            <a:solidFill>
              <a:srgbClr val="E457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a:solidFill>
                  <a:srgbClr val="FFFFFF"/>
                </a:solidFill>
                <a:latin typeface="Aptos" panose="020B0004020202020204" pitchFamily="34" charset="0"/>
              </a:rPr>
              <a:t>bad</a:t>
            </a:r>
          </a:p>
        </p:txBody>
      </p:sp>
      <p:sp>
        <p:nvSpPr>
          <p:cNvPr id="12" name="TextBox 11">
            <a:extLst>
              <a:ext uri="{FF2B5EF4-FFF2-40B4-BE49-F238E27FC236}">
                <a16:creationId xmlns:a16="http://schemas.microsoft.com/office/drawing/2014/main" id="{AF907692-0BAA-A207-E034-7C2AE8C89F95}"/>
              </a:ext>
            </a:extLst>
          </p:cNvPr>
          <p:cNvSpPr txBox="1"/>
          <p:nvPr/>
        </p:nvSpPr>
        <p:spPr>
          <a:xfrm>
            <a:off x="889000" y="4368800"/>
            <a:ext cx="5461000" cy="784830"/>
          </a:xfrm>
          <a:prstGeom prst="rect">
            <a:avLst/>
          </a:prstGeom>
          <a:noFill/>
        </p:spPr>
        <p:txBody>
          <a:bodyPr vert="horz" lIns="0" tIns="0" rIns="0" bIns="0" rtlCol="0" anchor="t">
            <a:spAutoFit/>
          </a:bodyPr>
          <a:lstStyle/>
          <a:p>
            <a:r>
              <a:rPr lang="en-GB" sz="1700">
                <a:solidFill>
                  <a:srgbClr val="16324F"/>
                </a:solidFill>
                <a:latin typeface="Aptos" panose="020B0004020202020204" pitchFamily="34" charset="0"/>
              </a:rPr>
              <a:t>Six measurements agree; one is far away. The medoid chooses the actual measured pose with the smallest total distance to all others.</a:t>
            </a:r>
          </a:p>
        </p:txBody>
      </p:sp>
      <p:sp>
        <p:nvSpPr>
          <p:cNvPr id="13" name="Rectangle: Rounded Corners 12">
            <a:extLst>
              <a:ext uri="{FF2B5EF4-FFF2-40B4-BE49-F238E27FC236}">
                <a16:creationId xmlns:a16="http://schemas.microsoft.com/office/drawing/2014/main" id="{5B80F855-23BC-2677-557E-BC1E91970717}"/>
              </a:ext>
            </a:extLst>
          </p:cNvPr>
          <p:cNvSpPr/>
          <p:nvPr/>
        </p:nvSpPr>
        <p:spPr>
          <a:xfrm>
            <a:off x="7239000" y="2336800"/>
            <a:ext cx="3937000" cy="1016000"/>
          </a:xfrm>
          <a:prstGeom prst="roundRect">
            <a:avLst/>
          </a:prstGeom>
          <a:solidFill>
            <a:srgbClr val="E8F0F8"/>
          </a:solidFill>
          <a:ln w="15875">
            <a:solidFill>
              <a:srgbClr val="C8D6E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b="1">
                <a:solidFill>
                  <a:srgbClr val="16324F"/>
                </a:solidFill>
                <a:latin typeface="Aptos" panose="020B0004020202020204" pitchFamily="34" charset="0"/>
              </a:rPr>
              <a:t>score = position distance</a:t>
            </a:r>
            <a:br>
              <a:rPr lang="en-GB" b="1">
                <a:solidFill>
                  <a:srgbClr val="16324F"/>
                </a:solidFill>
                <a:latin typeface="Aptos" panose="020B0004020202020204" pitchFamily="34" charset="0"/>
              </a:rPr>
            </a:br>
            <a:r>
              <a:rPr lang="en-GB" b="1">
                <a:solidFill>
                  <a:srgbClr val="16324F"/>
                </a:solidFill>
                <a:latin typeface="Aptos" panose="020B0004020202020204" pitchFamily="34" charset="0"/>
              </a:rPr>
              <a:t>+ radius × rotation angle</a:t>
            </a:r>
          </a:p>
        </p:txBody>
      </p:sp>
      <p:sp>
        <p:nvSpPr>
          <p:cNvPr id="14" name="TextBox 13">
            <a:extLst>
              <a:ext uri="{FF2B5EF4-FFF2-40B4-BE49-F238E27FC236}">
                <a16:creationId xmlns:a16="http://schemas.microsoft.com/office/drawing/2014/main" id="{C2C72CFA-626F-E84A-31C1-AFCC830211EC}"/>
              </a:ext>
            </a:extLst>
          </p:cNvPr>
          <p:cNvSpPr txBox="1"/>
          <p:nvPr/>
        </p:nvSpPr>
        <p:spPr>
          <a:xfrm>
            <a:off x="7289800" y="3733800"/>
            <a:ext cx="3835400" cy="984885"/>
          </a:xfrm>
          <a:prstGeom prst="rect">
            <a:avLst/>
          </a:prstGeom>
          <a:noFill/>
        </p:spPr>
        <p:txBody>
          <a:bodyPr vert="horz" lIns="0" tIns="0" rIns="0" bIns="0" rtlCol="0" anchor="t">
            <a:spAutoFit/>
          </a:bodyPr>
          <a:lstStyle/>
          <a:p>
            <a:r>
              <a:rPr lang="en-GB" sz="1600">
                <a:solidFill>
                  <a:srgbClr val="16324F"/>
                </a:solidFill>
                <a:latin typeface="Aptos" panose="020B0004020202020204" pitchFamily="34" charset="0"/>
              </a:rPr>
              <a:t>Selected radius = 0.20 m</a:t>
            </a:r>
            <a:br>
              <a:rPr lang="en-GB" sz="1600">
                <a:solidFill>
                  <a:srgbClr val="16324F"/>
                </a:solidFill>
                <a:latin typeface="Aptos" panose="020B0004020202020204" pitchFamily="34" charset="0"/>
              </a:rPr>
            </a:br>
            <a:br>
              <a:rPr lang="en-GB" sz="1600">
                <a:solidFill>
                  <a:srgbClr val="16324F"/>
                </a:solidFill>
                <a:latin typeface="Aptos" panose="020B0004020202020204" pitchFamily="34" charset="0"/>
              </a:rPr>
            </a:br>
            <a:r>
              <a:rPr lang="en-GB" sz="1600">
                <a:solidFill>
                  <a:srgbClr val="16324F"/>
                </a:solidFill>
                <a:latin typeface="Aptos" panose="020B0004020202020204" pitchFamily="34" charset="0"/>
              </a:rPr>
              <a:t>At this radius, 1° rotation contributes approximately the same score as 3.5 mm of position error.</a:t>
            </a:r>
          </a:p>
        </p:txBody>
      </p:sp>
      <p:sp>
        <p:nvSpPr>
          <p:cNvPr id="15" name="TextBox 14">
            <a:extLst>
              <a:ext uri="{FF2B5EF4-FFF2-40B4-BE49-F238E27FC236}">
                <a16:creationId xmlns:a16="http://schemas.microsoft.com/office/drawing/2014/main" id="{8E09C7E3-0D75-A9C7-2AD3-9D08E60279FA}"/>
              </a:ext>
            </a:extLst>
          </p:cNvPr>
          <p:cNvSpPr txBox="1"/>
          <p:nvPr/>
        </p:nvSpPr>
        <p:spPr>
          <a:xfrm>
            <a:off x="533400" y="6489700"/>
            <a:ext cx="9779000" cy="123111"/>
          </a:xfrm>
          <a:prstGeom prst="rect">
            <a:avLst/>
          </a:prstGeom>
          <a:noFill/>
        </p:spPr>
        <p:txBody>
          <a:bodyPr vert="horz" lIns="0" tIns="0" rIns="0" bIns="0" rtlCol="0" anchor="t">
            <a:spAutoFit/>
          </a:bodyPr>
          <a:lstStyle/>
          <a:p>
            <a:r>
              <a:rPr lang="en-GB" sz="800">
                <a:solidFill>
                  <a:srgbClr val="5C7084"/>
                </a:solidFill>
                <a:latin typeface="Aptos" panose="020B0004020202020204" pitchFamily="34" charset="0"/>
              </a:rPr>
              <a:t>simple_pose_stabilizer.gd::_medoid • 0.20 m selected on the 2026-09-04 session replays</a:t>
            </a:r>
          </a:p>
        </p:txBody>
      </p:sp>
      <p:sp>
        <p:nvSpPr>
          <p:cNvPr id="16" name="TextBox 15">
            <a:extLst>
              <a:ext uri="{FF2B5EF4-FFF2-40B4-BE49-F238E27FC236}">
                <a16:creationId xmlns:a16="http://schemas.microsoft.com/office/drawing/2014/main" id="{C3477F62-5E25-70E3-C7FE-DCDDA863ACF4}"/>
              </a:ext>
            </a:extLst>
          </p:cNvPr>
          <p:cNvSpPr txBox="1"/>
          <p:nvPr/>
        </p:nvSpPr>
        <p:spPr>
          <a:xfrm>
            <a:off x="11074400" y="6438900"/>
            <a:ext cx="584200" cy="138499"/>
          </a:xfrm>
          <a:prstGeom prst="rect">
            <a:avLst/>
          </a:prstGeom>
          <a:noFill/>
        </p:spPr>
        <p:txBody>
          <a:bodyPr vert="horz" lIns="0" tIns="0" rIns="0" bIns="0" rtlCol="0" anchor="t">
            <a:spAutoFit/>
          </a:bodyPr>
          <a:lstStyle/>
          <a:p>
            <a:pPr algn="r"/>
            <a:r>
              <a:rPr lang="en-GB" sz="900" b="1">
                <a:solidFill>
                  <a:srgbClr val="5C7084"/>
                </a:solidFill>
                <a:latin typeface="Aptos" panose="020B0004020202020204" pitchFamily="34" charset="0"/>
              </a:rPr>
              <a:t>7</a:t>
            </a:r>
          </a:p>
        </p:txBody>
      </p:sp>
    </p:spTree>
    <p:extLst>
      <p:ext uri="{BB962C8B-B14F-4D97-AF65-F5344CB8AC3E}">
        <p14:creationId xmlns:p14="http://schemas.microsoft.com/office/powerpoint/2010/main" val="121369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87993F-040A-A454-A058-B1D283D25F28}"/>
              </a:ext>
            </a:extLst>
          </p:cNvPr>
          <p:cNvSpPr txBox="1"/>
          <p:nvPr/>
        </p:nvSpPr>
        <p:spPr>
          <a:xfrm>
            <a:off x="533400" y="279400"/>
            <a:ext cx="7620000" cy="153888"/>
          </a:xfrm>
          <a:prstGeom prst="rect">
            <a:avLst/>
          </a:prstGeom>
          <a:noFill/>
        </p:spPr>
        <p:txBody>
          <a:bodyPr vert="horz" lIns="0" tIns="0" rIns="0" bIns="0" rtlCol="0" anchor="t">
            <a:spAutoFit/>
          </a:bodyPr>
          <a:lstStyle/>
          <a:p>
            <a:r>
              <a:rPr lang="en-GB" sz="1000" b="1">
                <a:solidFill>
                  <a:srgbClr val="1976D2"/>
                </a:solidFill>
                <a:latin typeface="Aptos" panose="020B0004020202020204" pitchFamily="34" charset="0"/>
              </a:rPr>
              <a:t>CURRENT QUEST RUNTIME</a:t>
            </a:r>
          </a:p>
        </p:txBody>
      </p:sp>
      <p:sp>
        <p:nvSpPr>
          <p:cNvPr id="3" name="TextBox 2">
            <a:extLst>
              <a:ext uri="{FF2B5EF4-FFF2-40B4-BE49-F238E27FC236}">
                <a16:creationId xmlns:a16="http://schemas.microsoft.com/office/drawing/2014/main" id="{4721FF72-86EF-A82E-76D0-DDD43DE09120}"/>
              </a:ext>
            </a:extLst>
          </p:cNvPr>
          <p:cNvSpPr txBox="1"/>
          <p:nvPr/>
        </p:nvSpPr>
        <p:spPr>
          <a:xfrm>
            <a:off x="533400" y="609600"/>
            <a:ext cx="10985500" cy="430887"/>
          </a:xfrm>
          <a:prstGeom prst="rect">
            <a:avLst/>
          </a:prstGeom>
          <a:noFill/>
        </p:spPr>
        <p:txBody>
          <a:bodyPr vert="horz" lIns="0" tIns="0" rIns="0" bIns="0" rtlCol="0" anchor="t">
            <a:spAutoFit/>
          </a:bodyPr>
          <a:lstStyle/>
          <a:p>
            <a:r>
              <a:rPr lang="en-GB" sz="2800" b="1">
                <a:solidFill>
                  <a:srgbClr val="102A43"/>
                </a:solidFill>
                <a:latin typeface="Aptos" panose="020B0004020202020204" pitchFamily="34" charset="0"/>
              </a:rPr>
              <a:t>Dead zone, smoothing and prior do different jobs</a:t>
            </a:r>
          </a:p>
        </p:txBody>
      </p:sp>
      <p:sp>
        <p:nvSpPr>
          <p:cNvPr id="4" name="Rectangle 3">
            <a:extLst>
              <a:ext uri="{FF2B5EF4-FFF2-40B4-BE49-F238E27FC236}">
                <a16:creationId xmlns:a16="http://schemas.microsoft.com/office/drawing/2014/main" id="{85C8173D-0242-C098-0DD3-F6490F8B16F9}"/>
              </a:ext>
            </a:extLst>
          </p:cNvPr>
          <p:cNvSpPr/>
          <p:nvPr/>
        </p:nvSpPr>
        <p:spPr>
          <a:xfrm>
            <a:off x="533400" y="1282700"/>
            <a:ext cx="11125200" cy="38100"/>
          </a:xfrm>
          <a:prstGeom prst="rect">
            <a:avLst/>
          </a:prstGeom>
          <a:solidFill>
            <a:srgbClr val="2CB1B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2E5A1F73-9F4A-81AB-0E10-3EDFF70F98FD}"/>
              </a:ext>
            </a:extLst>
          </p:cNvPr>
          <p:cNvSpPr/>
          <p:nvPr/>
        </p:nvSpPr>
        <p:spPr>
          <a:xfrm>
            <a:off x="685800" y="1905000"/>
            <a:ext cx="3352800" cy="609600"/>
          </a:xfrm>
          <a:prstGeom prst="roundRect">
            <a:avLst/>
          </a:prstGeom>
          <a:solidFill>
            <a:srgbClr val="27AE60"/>
          </a:solidFill>
          <a:ln w="15875">
            <a:solidFill>
              <a:srgbClr val="27AE60"/>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700" b="1">
                <a:solidFill>
                  <a:srgbClr val="FFFFFF"/>
                </a:solidFill>
                <a:latin typeface="Aptos" panose="020B0004020202020204" pitchFamily="34" charset="0"/>
              </a:rPr>
              <a:t>DEAD ZONE</a:t>
            </a:r>
          </a:p>
        </p:txBody>
      </p:sp>
      <p:sp>
        <p:nvSpPr>
          <p:cNvPr id="6" name="Rectangle: Rounded Corners 5">
            <a:extLst>
              <a:ext uri="{FF2B5EF4-FFF2-40B4-BE49-F238E27FC236}">
                <a16:creationId xmlns:a16="http://schemas.microsoft.com/office/drawing/2014/main" id="{4AC5CA15-A1C9-A753-6B6F-139421BCF663}"/>
              </a:ext>
            </a:extLst>
          </p:cNvPr>
          <p:cNvSpPr/>
          <p:nvPr/>
        </p:nvSpPr>
        <p:spPr>
          <a:xfrm>
            <a:off x="685800" y="2667000"/>
            <a:ext cx="3352800" cy="2413000"/>
          </a:xfrm>
          <a:prstGeom prst="roundRect">
            <a:avLst/>
          </a:prstGeom>
          <a:solidFill>
            <a:srgbClr val="FFFFFF"/>
          </a:solidFill>
          <a:ln w="15875">
            <a:solidFill>
              <a:srgbClr val="C8D6E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a:solidFill>
                  <a:srgbClr val="16324F"/>
                </a:solidFill>
                <a:latin typeface="Aptos" panose="020B0004020202020204" pitchFamily="34" charset="0"/>
              </a:rPr>
              <a:t>≤20 mm position</a:t>
            </a:r>
            <a:br>
              <a:rPr lang="en-GB" sz="1600">
                <a:solidFill>
                  <a:srgbClr val="16324F"/>
                </a:solidFill>
                <a:latin typeface="Aptos" panose="020B0004020202020204" pitchFamily="34" charset="0"/>
              </a:rPr>
            </a:br>
            <a:r>
              <a:rPr lang="en-GB" sz="1600">
                <a:solidFill>
                  <a:srgbClr val="16324F"/>
                </a:solidFill>
                <a:latin typeface="Aptos" panose="020B0004020202020204" pitchFamily="34" charset="0"/>
              </a:rPr>
              <a:t>≤0.3° rotation</a:t>
            </a:r>
            <a:br>
              <a:rPr lang="en-GB" sz="1600">
                <a:solidFill>
                  <a:srgbClr val="16324F"/>
                </a:solidFill>
                <a:latin typeface="Aptos" panose="020B0004020202020204" pitchFamily="34" charset="0"/>
              </a:rPr>
            </a:br>
            <a:br>
              <a:rPr lang="en-GB" sz="1600">
                <a:solidFill>
                  <a:srgbClr val="16324F"/>
                </a:solidFill>
                <a:latin typeface="Aptos" panose="020B0004020202020204" pitchFamily="34" charset="0"/>
              </a:rPr>
            </a:br>
            <a:r>
              <a:rPr lang="en-GB" sz="1600">
                <a:solidFill>
                  <a:srgbClr val="16324F"/>
                </a:solidFill>
                <a:latin typeface="Aptos" panose="020B0004020202020204" pitchFamily="34" charset="0"/>
              </a:rPr>
              <a:t>Hold the corresponding output channel.</a:t>
            </a:r>
          </a:p>
        </p:txBody>
      </p:sp>
      <p:sp>
        <p:nvSpPr>
          <p:cNvPr id="7" name="Rectangle: Rounded Corners 6">
            <a:extLst>
              <a:ext uri="{FF2B5EF4-FFF2-40B4-BE49-F238E27FC236}">
                <a16:creationId xmlns:a16="http://schemas.microsoft.com/office/drawing/2014/main" id="{BFAEA867-AE5A-D9A3-6CA6-F751A94EAADA}"/>
              </a:ext>
            </a:extLst>
          </p:cNvPr>
          <p:cNvSpPr/>
          <p:nvPr/>
        </p:nvSpPr>
        <p:spPr>
          <a:xfrm>
            <a:off x="4521200" y="1905000"/>
            <a:ext cx="3352800" cy="609600"/>
          </a:xfrm>
          <a:prstGeom prst="roundRect">
            <a:avLst/>
          </a:prstGeom>
          <a:solidFill>
            <a:srgbClr val="F59E0B"/>
          </a:solidFill>
          <a:ln w="15875">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700" b="1">
                <a:solidFill>
                  <a:srgbClr val="FFFFFF"/>
                </a:solidFill>
                <a:latin typeface="Aptos" panose="020B0004020202020204" pitchFamily="34" charset="0"/>
              </a:rPr>
              <a:t>SMOOTHING</a:t>
            </a:r>
          </a:p>
        </p:txBody>
      </p:sp>
      <p:sp>
        <p:nvSpPr>
          <p:cNvPr id="8" name="Rectangle: Rounded Corners 7">
            <a:extLst>
              <a:ext uri="{FF2B5EF4-FFF2-40B4-BE49-F238E27FC236}">
                <a16:creationId xmlns:a16="http://schemas.microsoft.com/office/drawing/2014/main" id="{BB41254D-56EA-64FC-A931-71123F8C2C3D}"/>
              </a:ext>
            </a:extLst>
          </p:cNvPr>
          <p:cNvSpPr/>
          <p:nvPr/>
        </p:nvSpPr>
        <p:spPr>
          <a:xfrm>
            <a:off x="4521200" y="2667000"/>
            <a:ext cx="3352800" cy="2413000"/>
          </a:xfrm>
          <a:prstGeom prst="roundRect">
            <a:avLst/>
          </a:prstGeom>
          <a:solidFill>
            <a:srgbClr val="FFFFFF"/>
          </a:solidFill>
          <a:ln w="15875">
            <a:solidFill>
              <a:srgbClr val="C8D6E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l-GR" sz="1600" dirty="0">
                <a:solidFill>
                  <a:srgbClr val="16324F"/>
                </a:solidFill>
                <a:latin typeface="Aptos" panose="020B0004020202020204" pitchFamily="34" charset="0"/>
              </a:rPr>
              <a:t>τ = 1.2 s</a:t>
            </a:r>
            <a:br>
              <a:rPr lang="el-GR" sz="1600" dirty="0">
                <a:solidFill>
                  <a:srgbClr val="16324F"/>
                </a:solidFill>
                <a:latin typeface="Aptos" panose="020B0004020202020204" pitchFamily="34" charset="0"/>
              </a:rPr>
            </a:br>
            <a:br>
              <a:rPr lang="el-GR" sz="1600" dirty="0">
                <a:solidFill>
                  <a:srgbClr val="16324F"/>
                </a:solidFill>
                <a:latin typeface="Aptos" panose="020B0004020202020204" pitchFamily="34" charset="0"/>
              </a:rPr>
            </a:br>
            <a:r>
              <a:rPr lang="el-GR" sz="1600" dirty="0">
                <a:solidFill>
                  <a:srgbClr val="16324F"/>
                </a:solidFill>
                <a:latin typeface="Aptos" panose="020B0004020202020204" pitchFamily="34" charset="0"/>
              </a:rPr>
              <a:t>63% after 1.2 s</a:t>
            </a:r>
            <a:br>
              <a:rPr lang="el-GR" sz="1600" dirty="0">
                <a:solidFill>
                  <a:srgbClr val="16324F"/>
                </a:solidFill>
                <a:latin typeface="Aptos" panose="020B0004020202020204" pitchFamily="34" charset="0"/>
              </a:rPr>
            </a:br>
            <a:r>
              <a:rPr lang="el-GR" sz="1600" dirty="0">
                <a:solidFill>
                  <a:srgbClr val="16324F"/>
                </a:solidFill>
                <a:latin typeface="Aptos" panose="020B0004020202020204" pitchFamily="34" charset="0"/>
              </a:rPr>
              <a:t>95% after 3.6 s</a:t>
            </a:r>
            <a:endParaRPr lang="en-GB" sz="1600" dirty="0">
              <a:solidFill>
                <a:srgbClr val="16324F"/>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83814F49-CE0D-4C92-685B-8AAA81BAFFB0}"/>
              </a:ext>
            </a:extLst>
          </p:cNvPr>
          <p:cNvSpPr/>
          <p:nvPr/>
        </p:nvSpPr>
        <p:spPr>
          <a:xfrm>
            <a:off x="8356600" y="1905000"/>
            <a:ext cx="3352800" cy="609600"/>
          </a:xfrm>
          <a:prstGeom prst="roundRect">
            <a:avLst/>
          </a:prstGeom>
          <a:solidFill>
            <a:srgbClr val="7152AD"/>
          </a:solidFill>
          <a:ln w="15875">
            <a:solidFill>
              <a:srgbClr val="7152AD"/>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700" b="1">
                <a:solidFill>
                  <a:srgbClr val="FFFFFF"/>
                </a:solidFill>
                <a:latin typeface="Aptos" panose="020B0004020202020204" pitchFamily="34" charset="0"/>
              </a:rPr>
              <a:t>REST PRIOR</a:t>
            </a:r>
          </a:p>
        </p:txBody>
      </p:sp>
      <p:sp>
        <p:nvSpPr>
          <p:cNvPr id="10" name="Rectangle: Rounded Corners 9">
            <a:extLst>
              <a:ext uri="{FF2B5EF4-FFF2-40B4-BE49-F238E27FC236}">
                <a16:creationId xmlns:a16="http://schemas.microsoft.com/office/drawing/2014/main" id="{540E244A-838A-63F7-B609-B21520CB1FFE}"/>
              </a:ext>
            </a:extLst>
          </p:cNvPr>
          <p:cNvSpPr/>
          <p:nvPr/>
        </p:nvSpPr>
        <p:spPr>
          <a:xfrm>
            <a:off x="8356600" y="2667000"/>
            <a:ext cx="3352800" cy="2413000"/>
          </a:xfrm>
          <a:prstGeom prst="roundRect">
            <a:avLst/>
          </a:prstGeom>
          <a:solidFill>
            <a:srgbClr val="FFFFFF"/>
          </a:solidFill>
          <a:ln w="15875">
            <a:solidFill>
              <a:srgbClr val="C8D6E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dirty="0">
                <a:solidFill>
                  <a:srgbClr val="16324F"/>
                </a:solidFill>
                <a:latin typeface="Aptos" panose="020B0004020202020204" pitchFamily="34" charset="0"/>
              </a:rPr>
              <a:t>τ = 2 s</a:t>
            </a:r>
            <a:br>
              <a:rPr lang="en-GB" sz="1600" dirty="0">
                <a:solidFill>
                  <a:srgbClr val="16324F"/>
                </a:solidFill>
                <a:latin typeface="Aptos" panose="020B0004020202020204" pitchFamily="34" charset="0"/>
              </a:rPr>
            </a:br>
            <a:br>
              <a:rPr lang="en-GB" sz="1600" dirty="0">
                <a:solidFill>
                  <a:srgbClr val="16324F"/>
                </a:solidFill>
                <a:latin typeface="Aptos" panose="020B0004020202020204" pitchFamily="34" charset="0"/>
              </a:rPr>
            </a:br>
            <a:r>
              <a:rPr lang="en-GB" sz="1600" dirty="0">
                <a:solidFill>
                  <a:srgbClr val="16324F"/>
                </a:solidFill>
                <a:latin typeface="Aptos" panose="020B0004020202020204" pitchFamily="34" charset="0"/>
              </a:rPr>
              <a:t>Always active; after a re-anchor the landing rule closes onto the new rest at smoothing speed.</a:t>
            </a:r>
          </a:p>
        </p:txBody>
      </p:sp>
      <p:sp>
        <p:nvSpPr>
          <p:cNvPr id="11" name="TextBox 10">
            <a:extLst>
              <a:ext uri="{FF2B5EF4-FFF2-40B4-BE49-F238E27FC236}">
                <a16:creationId xmlns:a16="http://schemas.microsoft.com/office/drawing/2014/main" id="{D0832624-3A60-354B-ABD7-81E4B18CC7C2}"/>
              </a:ext>
            </a:extLst>
          </p:cNvPr>
          <p:cNvSpPr txBox="1"/>
          <p:nvPr/>
        </p:nvSpPr>
        <p:spPr>
          <a:xfrm>
            <a:off x="1041400" y="5562600"/>
            <a:ext cx="10096500" cy="461665"/>
          </a:xfrm>
          <a:prstGeom prst="rect">
            <a:avLst/>
          </a:prstGeom>
          <a:noFill/>
        </p:spPr>
        <p:txBody>
          <a:bodyPr vert="horz" lIns="0" tIns="0" rIns="0" bIns="0" rtlCol="0" anchor="t">
            <a:spAutoFit/>
          </a:bodyPr>
          <a:lstStyle/>
          <a:p>
            <a:pPr algn="ctr"/>
            <a:r>
              <a:rPr lang="en-GB" sz="1500" b="1" dirty="0">
                <a:solidFill>
                  <a:srgbClr val="FF0000"/>
                </a:solidFill>
                <a:latin typeface="Aptos" panose="020B0004020202020204" pitchFamily="34" charset="0"/>
              </a:rPr>
              <a:t>A stable endpoint beyond 40 mm or 3° re-anchors the remembered rest itself, so the prior pulls toward the new location instead of dragging a relocated mannequin backwards.</a:t>
            </a:r>
          </a:p>
        </p:txBody>
      </p:sp>
      <p:sp>
        <p:nvSpPr>
          <p:cNvPr id="12" name="TextBox 11">
            <a:extLst>
              <a:ext uri="{FF2B5EF4-FFF2-40B4-BE49-F238E27FC236}">
                <a16:creationId xmlns:a16="http://schemas.microsoft.com/office/drawing/2014/main" id="{3F107BBB-E80B-652B-7AEE-14385C7617C5}"/>
              </a:ext>
            </a:extLst>
          </p:cNvPr>
          <p:cNvSpPr txBox="1"/>
          <p:nvPr/>
        </p:nvSpPr>
        <p:spPr>
          <a:xfrm>
            <a:off x="533400" y="6489700"/>
            <a:ext cx="9779000" cy="123111"/>
          </a:xfrm>
          <a:prstGeom prst="rect">
            <a:avLst/>
          </a:prstGeom>
          <a:noFill/>
        </p:spPr>
        <p:txBody>
          <a:bodyPr vert="horz" lIns="0" tIns="0" rIns="0" bIns="0" rtlCol="0" anchor="t">
            <a:spAutoFit/>
          </a:bodyPr>
          <a:lstStyle/>
          <a:p>
            <a:r>
              <a:rPr lang="en-GB" sz="800">
                <a:solidFill>
                  <a:srgbClr val="5C7084"/>
                </a:solidFill>
                <a:latin typeface="Aptos" panose="020B0004020202020204" pitchFamily="34" charset="0"/>
              </a:rPr>
              <a:t>Filtering order: medoid → dead zones → smoothing → weak rest pull • rest re-anchors at stable endpoints</a:t>
            </a:r>
          </a:p>
        </p:txBody>
      </p:sp>
      <p:sp>
        <p:nvSpPr>
          <p:cNvPr id="13" name="TextBox 12">
            <a:extLst>
              <a:ext uri="{FF2B5EF4-FFF2-40B4-BE49-F238E27FC236}">
                <a16:creationId xmlns:a16="http://schemas.microsoft.com/office/drawing/2014/main" id="{05F357DB-36A7-A136-9C42-066B1E8C48B0}"/>
              </a:ext>
            </a:extLst>
          </p:cNvPr>
          <p:cNvSpPr txBox="1"/>
          <p:nvPr/>
        </p:nvSpPr>
        <p:spPr>
          <a:xfrm>
            <a:off x="11074400" y="6438900"/>
            <a:ext cx="584200" cy="138499"/>
          </a:xfrm>
          <a:prstGeom prst="rect">
            <a:avLst/>
          </a:prstGeom>
          <a:noFill/>
        </p:spPr>
        <p:txBody>
          <a:bodyPr vert="horz" lIns="0" tIns="0" rIns="0" bIns="0" rtlCol="0" anchor="t">
            <a:spAutoFit/>
          </a:bodyPr>
          <a:lstStyle/>
          <a:p>
            <a:pPr algn="r"/>
            <a:r>
              <a:rPr lang="en-GB" sz="900" b="1">
                <a:solidFill>
                  <a:srgbClr val="5C7084"/>
                </a:solidFill>
                <a:latin typeface="Aptos" panose="020B0004020202020204" pitchFamily="34" charset="0"/>
              </a:rPr>
              <a:t>8</a:t>
            </a:r>
          </a:p>
        </p:txBody>
      </p:sp>
    </p:spTree>
    <p:extLst>
      <p:ext uri="{BB962C8B-B14F-4D97-AF65-F5344CB8AC3E}">
        <p14:creationId xmlns:p14="http://schemas.microsoft.com/office/powerpoint/2010/main" val="571453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3F3197-B43C-9050-370F-EC2FB8730C26}"/>
              </a:ext>
            </a:extLst>
          </p:cNvPr>
          <p:cNvSpPr txBox="1"/>
          <p:nvPr/>
        </p:nvSpPr>
        <p:spPr>
          <a:xfrm>
            <a:off x="533400" y="279400"/>
            <a:ext cx="7620000" cy="153888"/>
          </a:xfrm>
          <a:prstGeom prst="rect">
            <a:avLst/>
          </a:prstGeom>
          <a:noFill/>
        </p:spPr>
        <p:txBody>
          <a:bodyPr vert="horz" lIns="0" tIns="0" rIns="0" bIns="0" rtlCol="0" anchor="t">
            <a:spAutoFit/>
          </a:bodyPr>
          <a:lstStyle/>
          <a:p>
            <a:r>
              <a:rPr lang="en-GB" sz="1000" b="1">
                <a:solidFill>
                  <a:srgbClr val="1976D2"/>
                </a:solidFill>
                <a:latin typeface="Aptos" panose="020B0004020202020204" pitchFamily="34" charset="0"/>
              </a:rPr>
              <a:t>CURRENT QUEST RUNTIME</a:t>
            </a:r>
          </a:p>
        </p:txBody>
      </p:sp>
      <p:sp>
        <p:nvSpPr>
          <p:cNvPr id="3" name="TextBox 2">
            <a:extLst>
              <a:ext uri="{FF2B5EF4-FFF2-40B4-BE49-F238E27FC236}">
                <a16:creationId xmlns:a16="http://schemas.microsoft.com/office/drawing/2014/main" id="{5322B705-F396-57C9-92A7-2B940AB8FA89}"/>
              </a:ext>
            </a:extLst>
          </p:cNvPr>
          <p:cNvSpPr txBox="1"/>
          <p:nvPr/>
        </p:nvSpPr>
        <p:spPr>
          <a:xfrm>
            <a:off x="533400" y="609600"/>
            <a:ext cx="10985500" cy="430887"/>
          </a:xfrm>
          <a:prstGeom prst="rect">
            <a:avLst/>
          </a:prstGeom>
          <a:noFill/>
        </p:spPr>
        <p:txBody>
          <a:bodyPr vert="horz" lIns="0" tIns="0" rIns="0" bIns="0" rtlCol="0" anchor="t">
            <a:spAutoFit/>
          </a:bodyPr>
          <a:lstStyle/>
          <a:p>
            <a:r>
              <a:rPr lang="en-GB" sz="2800" b="1">
                <a:solidFill>
                  <a:srgbClr val="102A43"/>
                </a:solidFill>
                <a:latin typeface="Aptos" panose="020B0004020202020204" pitchFamily="34" charset="0"/>
              </a:rPr>
              <a:t>Two poses exist: displayed pose and remembered rest</a:t>
            </a:r>
          </a:p>
        </p:txBody>
      </p:sp>
      <p:sp>
        <p:nvSpPr>
          <p:cNvPr id="4" name="Rectangle 3">
            <a:extLst>
              <a:ext uri="{FF2B5EF4-FFF2-40B4-BE49-F238E27FC236}">
                <a16:creationId xmlns:a16="http://schemas.microsoft.com/office/drawing/2014/main" id="{3E9518F3-EEB2-91C2-FE08-7E9567BFD344}"/>
              </a:ext>
            </a:extLst>
          </p:cNvPr>
          <p:cNvSpPr/>
          <p:nvPr/>
        </p:nvSpPr>
        <p:spPr>
          <a:xfrm>
            <a:off x="533400" y="1282700"/>
            <a:ext cx="11125200" cy="38100"/>
          </a:xfrm>
          <a:prstGeom prst="rect">
            <a:avLst/>
          </a:prstGeom>
          <a:solidFill>
            <a:srgbClr val="2CB1B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446D1A6F-C870-3C21-1539-3DF227C11786}"/>
              </a:ext>
            </a:extLst>
          </p:cNvPr>
          <p:cNvSpPr/>
          <p:nvPr/>
        </p:nvSpPr>
        <p:spPr>
          <a:xfrm>
            <a:off x="889000" y="2286000"/>
            <a:ext cx="2667000" cy="1041400"/>
          </a:xfrm>
          <a:prstGeom prst="roundRect">
            <a:avLst/>
          </a:prstGeom>
          <a:solidFill>
            <a:srgbClr val="2CB1BC"/>
          </a:solidFill>
          <a:ln w="15875">
            <a:solidFill>
              <a:srgbClr val="2CB1BC"/>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b="1">
                <a:solidFill>
                  <a:srgbClr val="FFFFFF"/>
                </a:solidFill>
                <a:latin typeface="Aptos" panose="020B0004020202020204" pitchFamily="34" charset="0"/>
              </a:rPr>
              <a:t>Measurement-only</a:t>
            </a:r>
            <a:br>
              <a:rPr lang="en-GB" b="1">
                <a:solidFill>
                  <a:srgbClr val="FFFFFF"/>
                </a:solidFill>
                <a:latin typeface="Aptos" panose="020B0004020202020204" pitchFamily="34" charset="0"/>
              </a:rPr>
            </a:br>
            <a:r>
              <a:rPr lang="en-GB" b="1">
                <a:solidFill>
                  <a:srgbClr val="FFFFFF"/>
                </a:solidFill>
                <a:latin typeface="Aptos" panose="020B0004020202020204" pitchFamily="34" charset="0"/>
              </a:rPr>
              <a:t>5-pose medoid</a:t>
            </a:r>
          </a:p>
        </p:txBody>
      </p:sp>
      <p:cxnSp>
        <p:nvCxnSpPr>
          <p:cNvPr id="6" name="Straight Arrow Connector 5">
            <a:extLst>
              <a:ext uri="{FF2B5EF4-FFF2-40B4-BE49-F238E27FC236}">
                <a16:creationId xmlns:a16="http://schemas.microsoft.com/office/drawing/2014/main" id="{E258E616-5652-FC47-BC59-01A2A01DFAB2}"/>
              </a:ext>
            </a:extLst>
          </p:cNvPr>
          <p:cNvCxnSpPr/>
          <p:nvPr/>
        </p:nvCxnSpPr>
        <p:spPr>
          <a:xfrm>
            <a:off x="3556000" y="2806700"/>
            <a:ext cx="1587500" cy="0"/>
          </a:xfrm>
          <a:prstGeom prst="straightConnector1">
            <a:avLst/>
          </a:prstGeom>
          <a:ln w="3810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56A41035-730F-DB6B-7C24-9359325E0992}"/>
              </a:ext>
            </a:extLst>
          </p:cNvPr>
          <p:cNvSpPr/>
          <p:nvPr/>
        </p:nvSpPr>
        <p:spPr>
          <a:xfrm>
            <a:off x="5168900" y="2286000"/>
            <a:ext cx="2159000" cy="1041400"/>
          </a:xfrm>
          <a:prstGeom prst="roundRect">
            <a:avLst/>
          </a:prstGeom>
          <a:solidFill>
            <a:srgbClr val="F59E0B"/>
          </a:solidFill>
          <a:ln w="15875">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b="1">
                <a:solidFill>
                  <a:srgbClr val="FFFFFF"/>
                </a:solidFill>
                <a:latin typeface="Aptos" panose="020B0004020202020204" pitchFamily="34" charset="0"/>
              </a:rPr>
              <a:t>3-target window</a:t>
            </a:r>
            <a:br>
              <a:rPr lang="en-GB" b="1">
                <a:solidFill>
                  <a:srgbClr val="FFFFFF"/>
                </a:solidFill>
                <a:latin typeface="Aptos" panose="020B0004020202020204" pitchFamily="34" charset="0"/>
              </a:rPr>
            </a:br>
            <a:r>
              <a:rPr lang="en-GB" b="1">
                <a:solidFill>
                  <a:srgbClr val="FFFFFF"/>
                </a:solidFill>
                <a:latin typeface="Aptos" panose="020B0004020202020204" pitchFamily="34" charset="0"/>
              </a:rPr>
              <a:t>stationary?</a:t>
            </a:r>
          </a:p>
        </p:txBody>
      </p:sp>
      <p:cxnSp>
        <p:nvCxnSpPr>
          <p:cNvPr id="8" name="Straight Arrow Connector 7">
            <a:extLst>
              <a:ext uri="{FF2B5EF4-FFF2-40B4-BE49-F238E27FC236}">
                <a16:creationId xmlns:a16="http://schemas.microsoft.com/office/drawing/2014/main" id="{26AC42E6-7562-FD76-F112-3597F687FEEA}"/>
              </a:ext>
            </a:extLst>
          </p:cNvPr>
          <p:cNvCxnSpPr/>
          <p:nvPr/>
        </p:nvCxnSpPr>
        <p:spPr>
          <a:xfrm>
            <a:off x="7327900" y="2806700"/>
            <a:ext cx="1562100" cy="0"/>
          </a:xfrm>
          <a:prstGeom prst="straightConnector1">
            <a:avLst/>
          </a:prstGeom>
          <a:ln w="3810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22489CB1-A3CD-1B43-1F82-93D3CC9CE83E}"/>
              </a:ext>
            </a:extLst>
          </p:cNvPr>
          <p:cNvSpPr/>
          <p:nvPr/>
        </p:nvSpPr>
        <p:spPr>
          <a:xfrm>
            <a:off x="8915400" y="2286000"/>
            <a:ext cx="2413000" cy="1041400"/>
          </a:xfrm>
          <a:prstGeom prst="roundRect">
            <a:avLst/>
          </a:prstGeom>
          <a:solidFill>
            <a:srgbClr val="7152AD"/>
          </a:solidFill>
          <a:ln w="15875">
            <a:solidFill>
              <a:srgbClr val="7152AD"/>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b="1">
                <a:solidFill>
                  <a:srgbClr val="FFFFFF"/>
                </a:solidFill>
                <a:latin typeface="Aptos" panose="020B0004020202020204" pitchFamily="34" charset="0"/>
              </a:rPr>
              <a:t>Remembered rest</a:t>
            </a:r>
            <a:br>
              <a:rPr lang="en-GB" b="1">
                <a:solidFill>
                  <a:srgbClr val="FFFFFF"/>
                </a:solidFill>
                <a:latin typeface="Aptos" panose="020B0004020202020204" pitchFamily="34" charset="0"/>
              </a:rPr>
            </a:br>
            <a:r>
              <a:rPr lang="en-GB" b="1">
                <a:solidFill>
                  <a:srgbClr val="FFFFFF"/>
                </a:solidFill>
                <a:latin typeface="Aptos" panose="020B0004020202020204" pitchFamily="34" charset="0"/>
              </a:rPr>
              <a:t>re-anchors (jumps)</a:t>
            </a:r>
          </a:p>
        </p:txBody>
      </p:sp>
      <p:sp>
        <p:nvSpPr>
          <p:cNvPr id="10" name="TextBox 9">
            <a:extLst>
              <a:ext uri="{FF2B5EF4-FFF2-40B4-BE49-F238E27FC236}">
                <a16:creationId xmlns:a16="http://schemas.microsoft.com/office/drawing/2014/main" id="{01C61614-DC4F-00EF-7AD2-A2865E15D8D9}"/>
              </a:ext>
            </a:extLst>
          </p:cNvPr>
          <p:cNvSpPr txBox="1"/>
          <p:nvPr/>
        </p:nvSpPr>
        <p:spPr>
          <a:xfrm>
            <a:off x="3644900" y="3835400"/>
            <a:ext cx="4953000" cy="323165"/>
          </a:xfrm>
          <a:prstGeom prst="rect">
            <a:avLst/>
          </a:prstGeom>
          <a:noFill/>
        </p:spPr>
        <p:txBody>
          <a:bodyPr vert="horz" lIns="0" tIns="0" rIns="0" bIns="0" rtlCol="0" anchor="t">
            <a:spAutoFit/>
          </a:bodyPr>
          <a:lstStyle/>
          <a:p>
            <a:pPr algn="ctr"/>
            <a:r>
              <a:rPr lang="en-GB" sz="2100" b="1">
                <a:solidFill>
                  <a:srgbClr val="102A43"/>
                </a:solidFill>
                <a:latin typeface="Aptos" panose="020B0004020202020204" pitchFamily="34" charset="0"/>
              </a:rPr>
              <a:t>Re-anchor floor: 40 mm / 3°</a:t>
            </a:r>
          </a:p>
        </p:txBody>
      </p:sp>
      <p:sp>
        <p:nvSpPr>
          <p:cNvPr id="11" name="TextBox 10">
            <a:extLst>
              <a:ext uri="{FF2B5EF4-FFF2-40B4-BE49-F238E27FC236}">
                <a16:creationId xmlns:a16="http://schemas.microsoft.com/office/drawing/2014/main" id="{B65E76DA-EA11-B1B3-32DF-1C3F71BD22DB}"/>
              </a:ext>
            </a:extLst>
          </p:cNvPr>
          <p:cNvSpPr txBox="1"/>
          <p:nvPr/>
        </p:nvSpPr>
        <p:spPr>
          <a:xfrm>
            <a:off x="1524000" y="4508500"/>
            <a:ext cx="9144000" cy="492443"/>
          </a:xfrm>
          <a:prstGeom prst="rect">
            <a:avLst/>
          </a:prstGeom>
          <a:noFill/>
        </p:spPr>
        <p:txBody>
          <a:bodyPr vert="horz" lIns="0" tIns="0" rIns="0" bIns="0" rtlCol="0" anchor="t">
            <a:spAutoFit/>
          </a:bodyPr>
          <a:lstStyle/>
          <a:p>
            <a:pPr algn="ctr"/>
            <a:r>
              <a:rPr lang="en-GB" sz="1600">
                <a:solidFill>
                  <a:srgbClr val="16324F"/>
                </a:solidFill>
                <a:latin typeface="Aptos" panose="020B0004020202020204" pitchFamily="34" charset="0"/>
              </a:rPr>
              <a:t>Rest never learns from a single raw pose and never from the displayed pose, because that output already contains smoothing and prior feedback. It adopts the measurement-only medoid target once the complete 3-target window is stationary (≤1.5 mm / ≤1.0°) and clearly displaced from the old rest. Position and rotation re-anchor independently. Since the placement lock, this can only update the candidate rest while a placement is being found — it can never move an already locked avatar.</a:t>
            </a:r>
          </a:p>
        </p:txBody>
      </p:sp>
      <p:sp>
        <p:nvSpPr>
          <p:cNvPr id="12" name="Rectangle: Rounded Corners 11">
            <a:extLst>
              <a:ext uri="{FF2B5EF4-FFF2-40B4-BE49-F238E27FC236}">
                <a16:creationId xmlns:a16="http://schemas.microsoft.com/office/drawing/2014/main" id="{6300B656-A5FB-E63D-A452-03696C12B513}"/>
              </a:ext>
            </a:extLst>
          </p:cNvPr>
          <p:cNvSpPr/>
          <p:nvPr/>
        </p:nvSpPr>
        <p:spPr>
          <a:xfrm>
            <a:off x="2159000" y="5588000"/>
            <a:ext cx="7874000" cy="558800"/>
          </a:xfrm>
          <a:prstGeom prst="roundRect">
            <a:avLst/>
          </a:prstGeom>
          <a:solidFill>
            <a:srgbClr val="FFF2E1"/>
          </a:solidFill>
          <a:ln w="15875">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400" b="1">
                <a:solidFill>
                  <a:srgbClr val="202C37"/>
                </a:solidFill>
                <a:latin typeface="Aptos" panose="020B0004020202020204" pitchFamily="34" charset="0"/>
              </a:rPr>
              <a:t>LIMIT: the newest stationary test exposed stable viewpoint errors up to 114 mm. The re-anchor floor cannot reject a large, stable wrong pose. The agreement gate has now been measured and does not help (7.84 vs 7.49 cm held-out). The placement lock stops drift from being displayed, but cannot correct a pose that was captured with viewpoint bias. Neither has been measured on the locked build.</a:t>
            </a:r>
          </a:p>
        </p:txBody>
      </p:sp>
      <p:sp>
        <p:nvSpPr>
          <p:cNvPr id="13" name="TextBox 12">
            <a:extLst>
              <a:ext uri="{FF2B5EF4-FFF2-40B4-BE49-F238E27FC236}">
                <a16:creationId xmlns:a16="http://schemas.microsoft.com/office/drawing/2014/main" id="{6A2C584A-1C8E-DF67-A871-33A15A4844FC}"/>
              </a:ext>
            </a:extLst>
          </p:cNvPr>
          <p:cNvSpPr txBox="1"/>
          <p:nvPr/>
        </p:nvSpPr>
        <p:spPr>
          <a:xfrm>
            <a:off x="533400" y="6489700"/>
            <a:ext cx="9779000" cy="123111"/>
          </a:xfrm>
          <a:prstGeom prst="rect">
            <a:avLst/>
          </a:prstGeom>
          <a:noFill/>
        </p:spPr>
        <p:txBody>
          <a:bodyPr vert="horz" lIns="0" tIns="0" rIns="0" bIns="0" rtlCol="0" anchor="t">
            <a:spAutoFit/>
          </a:bodyPr>
          <a:lstStyle/>
          <a:p>
            <a:r>
              <a:rPr lang="en-GB" sz="800">
                <a:solidFill>
                  <a:srgbClr val="5C7084"/>
                </a:solidFill>
                <a:latin typeface="Aptos" panose="020B0004020202020204" pitchFamily="34" charset="0"/>
              </a:rPr>
              <a:t>navel_provider.gd::reanchor_rest_from_stable_target • simple_pose_stabilizer.gd::_update_stable_endpoint_state</a:t>
            </a:r>
          </a:p>
        </p:txBody>
      </p:sp>
      <p:sp>
        <p:nvSpPr>
          <p:cNvPr id="14" name="TextBox 13">
            <a:extLst>
              <a:ext uri="{FF2B5EF4-FFF2-40B4-BE49-F238E27FC236}">
                <a16:creationId xmlns:a16="http://schemas.microsoft.com/office/drawing/2014/main" id="{26D8EF47-88B8-F8D6-FAA9-0434F8C65F63}"/>
              </a:ext>
            </a:extLst>
          </p:cNvPr>
          <p:cNvSpPr txBox="1"/>
          <p:nvPr/>
        </p:nvSpPr>
        <p:spPr>
          <a:xfrm>
            <a:off x="11074400" y="6438900"/>
            <a:ext cx="584200" cy="138499"/>
          </a:xfrm>
          <a:prstGeom prst="rect">
            <a:avLst/>
          </a:prstGeom>
          <a:noFill/>
        </p:spPr>
        <p:txBody>
          <a:bodyPr vert="horz" lIns="0" tIns="0" rIns="0" bIns="0" rtlCol="0" anchor="t">
            <a:spAutoFit/>
          </a:bodyPr>
          <a:lstStyle/>
          <a:p>
            <a:pPr algn="r"/>
            <a:r>
              <a:rPr lang="en-GB" sz="900" b="1">
                <a:solidFill>
                  <a:srgbClr val="5C7084"/>
                </a:solidFill>
                <a:latin typeface="Aptos" panose="020B0004020202020204" pitchFamily="34" charset="0"/>
              </a:rPr>
              <a:t>9</a:t>
            </a:r>
          </a:p>
        </p:txBody>
      </p:sp>
    </p:spTree>
    <p:extLst>
      <p:ext uri="{BB962C8B-B14F-4D97-AF65-F5344CB8AC3E}">
        <p14:creationId xmlns:p14="http://schemas.microsoft.com/office/powerpoint/2010/main" val="2065856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17183-2DFD-B1F5-25D8-FDEC0954B0AA}"/>
              </a:ext>
            </a:extLst>
          </p:cNvPr>
          <p:cNvSpPr txBox="1"/>
          <p:nvPr/>
        </p:nvSpPr>
        <p:spPr>
          <a:xfrm>
            <a:off x="533400" y="279400"/>
            <a:ext cx="7620000" cy="153888"/>
          </a:xfrm>
          <a:prstGeom prst="rect">
            <a:avLst/>
          </a:prstGeom>
          <a:noFill/>
        </p:spPr>
        <p:txBody>
          <a:bodyPr vert="horz" lIns="0" tIns="0" rIns="0" bIns="0" rtlCol="0" anchor="t">
            <a:spAutoFit/>
          </a:bodyPr>
          <a:lstStyle/>
          <a:p>
            <a:r>
              <a:rPr lang="en-GB" sz="1000" b="1">
                <a:solidFill>
                  <a:srgbClr val="1976D2"/>
                </a:solidFill>
                <a:latin typeface="Aptos" panose="020B0004020202020204" pitchFamily="34" charset="0"/>
              </a:rPr>
              <a:t>CURRENT QUEST RUNTIME</a:t>
            </a:r>
          </a:p>
        </p:txBody>
      </p:sp>
      <p:sp>
        <p:nvSpPr>
          <p:cNvPr id="3" name="TextBox 2">
            <a:extLst>
              <a:ext uri="{FF2B5EF4-FFF2-40B4-BE49-F238E27FC236}">
                <a16:creationId xmlns:a16="http://schemas.microsoft.com/office/drawing/2014/main" id="{32B3F212-6853-5D85-EFC7-74BF6E34019B}"/>
              </a:ext>
            </a:extLst>
          </p:cNvPr>
          <p:cNvSpPr txBox="1"/>
          <p:nvPr/>
        </p:nvSpPr>
        <p:spPr>
          <a:xfrm>
            <a:off x="533400" y="609600"/>
            <a:ext cx="10985500" cy="430887"/>
          </a:xfrm>
          <a:prstGeom prst="rect">
            <a:avLst/>
          </a:prstGeom>
          <a:noFill/>
        </p:spPr>
        <p:txBody>
          <a:bodyPr vert="horz" lIns="0" tIns="0" rIns="0" bIns="0" rtlCol="0" anchor="t">
            <a:spAutoFit/>
          </a:bodyPr>
          <a:lstStyle/>
          <a:p>
            <a:r>
              <a:rPr lang="en-GB" sz="2800" b="1">
                <a:solidFill>
                  <a:srgbClr val="102A43"/>
                </a:solidFill>
                <a:latin typeface="Aptos" panose="020B0004020202020204" pitchFamily="34" charset="0"/>
              </a:rPr>
              <a:t>Tracking loss and Quest-menu resume</a:t>
            </a:r>
          </a:p>
        </p:txBody>
      </p:sp>
      <p:sp>
        <p:nvSpPr>
          <p:cNvPr id="4" name="Rectangle 3">
            <a:extLst>
              <a:ext uri="{FF2B5EF4-FFF2-40B4-BE49-F238E27FC236}">
                <a16:creationId xmlns:a16="http://schemas.microsoft.com/office/drawing/2014/main" id="{8D27B776-F994-9EA0-9266-E82B095E4A20}"/>
              </a:ext>
            </a:extLst>
          </p:cNvPr>
          <p:cNvSpPr/>
          <p:nvPr/>
        </p:nvSpPr>
        <p:spPr>
          <a:xfrm>
            <a:off x="533400" y="1282700"/>
            <a:ext cx="11125200" cy="38100"/>
          </a:xfrm>
          <a:prstGeom prst="rect">
            <a:avLst/>
          </a:prstGeom>
          <a:solidFill>
            <a:srgbClr val="2CB1B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D23D8FB8-A7AD-0049-B094-BB2D29FE2F70}"/>
              </a:ext>
            </a:extLst>
          </p:cNvPr>
          <p:cNvSpPr txBox="1"/>
          <p:nvPr/>
        </p:nvSpPr>
        <p:spPr>
          <a:xfrm>
            <a:off x="736600" y="1778000"/>
            <a:ext cx="4572000" cy="323165"/>
          </a:xfrm>
          <a:prstGeom prst="rect">
            <a:avLst/>
          </a:prstGeom>
          <a:noFill/>
        </p:spPr>
        <p:txBody>
          <a:bodyPr vert="horz" lIns="0" tIns="0" rIns="0" bIns="0" rtlCol="0" anchor="t">
            <a:spAutoFit/>
          </a:bodyPr>
          <a:lstStyle/>
          <a:p>
            <a:r>
              <a:rPr lang="en-GB" sz="2100" b="1" dirty="0">
                <a:solidFill>
                  <a:srgbClr val="102A43"/>
                </a:solidFill>
                <a:latin typeface="Aptos" panose="020B0004020202020204" pitchFamily="34" charset="0"/>
              </a:rPr>
              <a:t>Temporary marker loss</a:t>
            </a:r>
          </a:p>
        </p:txBody>
      </p:sp>
      <p:sp>
        <p:nvSpPr>
          <p:cNvPr id="6" name="Rectangle: Rounded Corners 5">
            <a:extLst>
              <a:ext uri="{FF2B5EF4-FFF2-40B4-BE49-F238E27FC236}">
                <a16:creationId xmlns:a16="http://schemas.microsoft.com/office/drawing/2014/main" id="{368AC441-F704-3C6F-2130-68F6818056D5}"/>
              </a:ext>
            </a:extLst>
          </p:cNvPr>
          <p:cNvSpPr/>
          <p:nvPr/>
        </p:nvSpPr>
        <p:spPr>
          <a:xfrm>
            <a:off x="787400" y="2438400"/>
            <a:ext cx="2286000" cy="939800"/>
          </a:xfrm>
          <a:prstGeom prst="roundRect">
            <a:avLst/>
          </a:prstGeom>
          <a:solidFill>
            <a:srgbClr val="E45756"/>
          </a:solidFill>
          <a:ln w="15875">
            <a:solidFill>
              <a:srgbClr val="E45756"/>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b="1">
                <a:solidFill>
                  <a:srgbClr val="FFFFFF"/>
                </a:solidFill>
                <a:latin typeface="Aptos" panose="020B0004020202020204" pitchFamily="34" charset="0"/>
              </a:rPr>
              <a:t>No new marker result</a:t>
            </a:r>
            <a:br>
              <a:rPr lang="en-GB" sz="1600" b="1">
                <a:solidFill>
                  <a:srgbClr val="FFFFFF"/>
                </a:solidFill>
                <a:latin typeface="Aptos" panose="020B0004020202020204" pitchFamily="34" charset="0"/>
              </a:rPr>
            </a:br>
            <a:r>
              <a:rPr lang="en-GB" sz="1600" b="1">
                <a:solidFill>
                  <a:srgbClr val="FFFFFF"/>
                </a:solidFill>
                <a:latin typeface="Aptos" panose="020B0004020202020204" pitchFamily="34" charset="0"/>
              </a:rPr>
              <a:t>for 300 ms</a:t>
            </a:r>
          </a:p>
        </p:txBody>
      </p:sp>
      <p:cxnSp>
        <p:nvCxnSpPr>
          <p:cNvPr id="7" name="Straight Arrow Connector 6">
            <a:extLst>
              <a:ext uri="{FF2B5EF4-FFF2-40B4-BE49-F238E27FC236}">
                <a16:creationId xmlns:a16="http://schemas.microsoft.com/office/drawing/2014/main" id="{6F8B7D73-BF45-1D27-EC73-2ACDB42BC040}"/>
              </a:ext>
            </a:extLst>
          </p:cNvPr>
          <p:cNvCxnSpPr/>
          <p:nvPr/>
        </p:nvCxnSpPr>
        <p:spPr>
          <a:xfrm>
            <a:off x="3073400" y="2908300"/>
            <a:ext cx="762000" cy="0"/>
          </a:xfrm>
          <a:prstGeom prst="straightConnector1">
            <a:avLst/>
          </a:prstGeom>
          <a:ln w="3175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71776A0A-1F4F-4AD0-323A-B8E75DE1D2B8}"/>
              </a:ext>
            </a:extLst>
          </p:cNvPr>
          <p:cNvSpPr/>
          <p:nvPr/>
        </p:nvSpPr>
        <p:spPr>
          <a:xfrm>
            <a:off x="3860800" y="2438400"/>
            <a:ext cx="2286000" cy="939800"/>
          </a:xfrm>
          <a:prstGeom prst="roundRect">
            <a:avLst/>
          </a:prstGeom>
          <a:solidFill>
            <a:srgbClr val="7152AD"/>
          </a:solidFill>
          <a:ln w="15875">
            <a:solidFill>
              <a:srgbClr val="7152AD"/>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b="1" dirty="0">
                <a:solidFill>
                  <a:srgbClr val="FFFFFF"/>
                </a:solidFill>
                <a:latin typeface="Aptos" panose="020B0004020202020204" pitchFamily="34" charset="0"/>
              </a:rPr>
              <a:t>Hide avatar</a:t>
            </a:r>
            <a:br>
              <a:rPr lang="en-GB" sz="1600" b="1" dirty="0">
                <a:solidFill>
                  <a:srgbClr val="FFFFFF"/>
                </a:solidFill>
                <a:latin typeface="Aptos" panose="020B0004020202020204" pitchFamily="34" charset="0"/>
              </a:rPr>
            </a:br>
            <a:r>
              <a:rPr lang="en-GB" sz="1600" b="1" dirty="0">
                <a:solidFill>
                  <a:srgbClr val="FFFFFF"/>
                </a:solidFill>
                <a:latin typeface="Aptos" panose="020B0004020202020204" pitchFamily="34" charset="0"/>
              </a:rPr>
              <a:t>keep last internal pose</a:t>
            </a:r>
          </a:p>
        </p:txBody>
      </p:sp>
      <p:cxnSp>
        <p:nvCxnSpPr>
          <p:cNvPr id="9" name="Straight Arrow Connector 8">
            <a:extLst>
              <a:ext uri="{FF2B5EF4-FFF2-40B4-BE49-F238E27FC236}">
                <a16:creationId xmlns:a16="http://schemas.microsoft.com/office/drawing/2014/main" id="{2173FE2A-2F1D-88BC-281B-8E134C24ABE9}"/>
              </a:ext>
            </a:extLst>
          </p:cNvPr>
          <p:cNvCxnSpPr/>
          <p:nvPr/>
        </p:nvCxnSpPr>
        <p:spPr>
          <a:xfrm>
            <a:off x="5003800" y="3378200"/>
            <a:ext cx="0" cy="762000"/>
          </a:xfrm>
          <a:prstGeom prst="straightConnector1">
            <a:avLst/>
          </a:prstGeom>
          <a:ln w="3175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3D64F48C-75BE-F4E0-510C-44C0FF47000D}"/>
              </a:ext>
            </a:extLst>
          </p:cNvPr>
          <p:cNvSpPr/>
          <p:nvPr/>
        </p:nvSpPr>
        <p:spPr>
          <a:xfrm>
            <a:off x="3860800" y="4191000"/>
            <a:ext cx="2286000" cy="939800"/>
          </a:xfrm>
          <a:prstGeom prst="roundRect">
            <a:avLst/>
          </a:prstGeom>
          <a:solidFill>
            <a:srgbClr val="27AE60"/>
          </a:solidFill>
          <a:ln w="15875">
            <a:solidFill>
              <a:srgbClr val="27AE60"/>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dirty="0">
                <a:solidFill>
                  <a:srgbClr val="FFFFFF"/>
                </a:solidFill>
                <a:latin typeface="Aptos" panose="020B0004020202020204" pitchFamily="34" charset="0"/>
              </a:rPr>
              <a:t>Collect 5 fresh detections</a:t>
            </a:r>
            <a:br>
              <a:rPr lang="en-GB" sz="1500" b="1" dirty="0">
                <a:solidFill>
                  <a:srgbClr val="FFFFFF"/>
                </a:solidFill>
                <a:latin typeface="Aptos" panose="020B0004020202020204" pitchFamily="34" charset="0"/>
              </a:rPr>
            </a:br>
            <a:r>
              <a:rPr lang="en-GB" sz="1500" b="1" dirty="0">
                <a:solidFill>
                  <a:srgbClr val="FFFFFF"/>
                </a:solidFill>
                <a:latin typeface="Aptos" panose="020B0004020202020204" pitchFamily="34" charset="0"/>
              </a:rPr>
              <a:t>≈0.5 s at 10 Hz</a:t>
            </a:r>
          </a:p>
        </p:txBody>
      </p:sp>
      <p:sp>
        <p:nvSpPr>
          <p:cNvPr id="11" name="TextBox 10">
            <a:extLst>
              <a:ext uri="{FF2B5EF4-FFF2-40B4-BE49-F238E27FC236}">
                <a16:creationId xmlns:a16="http://schemas.microsoft.com/office/drawing/2014/main" id="{EC02EA7F-E2A8-B118-A961-AFE2E669C621}"/>
              </a:ext>
            </a:extLst>
          </p:cNvPr>
          <p:cNvSpPr txBox="1"/>
          <p:nvPr/>
        </p:nvSpPr>
        <p:spPr>
          <a:xfrm>
            <a:off x="6959600" y="1778000"/>
            <a:ext cx="4445000" cy="323165"/>
          </a:xfrm>
          <a:prstGeom prst="rect">
            <a:avLst/>
          </a:prstGeom>
          <a:noFill/>
        </p:spPr>
        <p:txBody>
          <a:bodyPr vert="horz" lIns="0" tIns="0" rIns="0" bIns="0" rtlCol="0" anchor="t">
            <a:spAutoFit/>
          </a:bodyPr>
          <a:lstStyle/>
          <a:p>
            <a:r>
              <a:rPr lang="en-GB" sz="2100" b="1">
                <a:solidFill>
                  <a:srgbClr val="102A43"/>
                </a:solidFill>
                <a:latin typeface="Aptos" panose="020B0004020202020204" pitchFamily="34" charset="0"/>
              </a:rPr>
              <a:t>App resumes after Quest menu</a:t>
            </a:r>
          </a:p>
        </p:txBody>
      </p:sp>
      <p:sp>
        <p:nvSpPr>
          <p:cNvPr id="12" name="Rectangle: Rounded Corners 11">
            <a:extLst>
              <a:ext uri="{FF2B5EF4-FFF2-40B4-BE49-F238E27FC236}">
                <a16:creationId xmlns:a16="http://schemas.microsoft.com/office/drawing/2014/main" id="{92C28747-9817-D11D-57DA-1165334FE290}"/>
              </a:ext>
            </a:extLst>
          </p:cNvPr>
          <p:cNvSpPr/>
          <p:nvPr/>
        </p:nvSpPr>
        <p:spPr>
          <a:xfrm>
            <a:off x="7137400" y="2438400"/>
            <a:ext cx="2286000" cy="939800"/>
          </a:xfrm>
          <a:prstGeom prst="roundRect">
            <a:avLst/>
          </a:prstGeom>
          <a:solidFill>
            <a:srgbClr val="E45756"/>
          </a:solidFill>
          <a:ln w="15875">
            <a:solidFill>
              <a:srgbClr val="E45756"/>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b="1">
                <a:solidFill>
                  <a:srgbClr val="FFFFFF"/>
                </a:solidFill>
                <a:latin typeface="Aptos" panose="020B0004020202020204" pitchFamily="34" charset="0"/>
              </a:rPr>
              <a:t>Old XR world rest</a:t>
            </a:r>
            <a:br>
              <a:rPr lang="en-GB" sz="1600" b="1">
                <a:solidFill>
                  <a:srgbClr val="FFFFFF"/>
                </a:solidFill>
                <a:latin typeface="Aptos" panose="020B0004020202020204" pitchFamily="34" charset="0"/>
              </a:rPr>
            </a:br>
            <a:r>
              <a:rPr lang="en-GB" sz="1600" b="1">
                <a:solidFill>
                  <a:srgbClr val="FFFFFF"/>
                </a:solidFill>
                <a:latin typeface="Aptos" panose="020B0004020202020204" pitchFamily="34" charset="0"/>
              </a:rPr>
              <a:t>may no longer be valid</a:t>
            </a:r>
          </a:p>
        </p:txBody>
      </p:sp>
      <p:cxnSp>
        <p:nvCxnSpPr>
          <p:cNvPr id="13" name="Straight Arrow Connector 12">
            <a:extLst>
              <a:ext uri="{FF2B5EF4-FFF2-40B4-BE49-F238E27FC236}">
                <a16:creationId xmlns:a16="http://schemas.microsoft.com/office/drawing/2014/main" id="{015D1043-9E6B-4699-22DD-EFBEB3DDA684}"/>
              </a:ext>
            </a:extLst>
          </p:cNvPr>
          <p:cNvCxnSpPr/>
          <p:nvPr/>
        </p:nvCxnSpPr>
        <p:spPr>
          <a:xfrm>
            <a:off x="9423400" y="2908300"/>
            <a:ext cx="762000" cy="0"/>
          </a:xfrm>
          <a:prstGeom prst="straightConnector1">
            <a:avLst/>
          </a:prstGeom>
          <a:ln w="3175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F67C551D-501A-28DD-6126-BF144BFADEA7}"/>
              </a:ext>
            </a:extLst>
          </p:cNvPr>
          <p:cNvSpPr/>
          <p:nvPr/>
        </p:nvSpPr>
        <p:spPr>
          <a:xfrm>
            <a:off x="10210800" y="2438400"/>
            <a:ext cx="1524000" cy="939800"/>
          </a:xfrm>
          <a:prstGeom prst="roundRect">
            <a:avLst/>
          </a:prstGeom>
          <a:solidFill>
            <a:srgbClr val="1976D2"/>
          </a:solidFill>
          <a:ln w="15875">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Keep permanent</a:t>
            </a:r>
            <a:br>
              <a:rPr lang="en-GB" sz="1500" b="1">
                <a:solidFill>
                  <a:srgbClr val="FFFFFF"/>
                </a:solidFill>
                <a:latin typeface="Aptos" panose="020B0004020202020204" pitchFamily="34" charset="0"/>
              </a:rPr>
            </a:br>
            <a:r>
              <a:rPr lang="en-GB" sz="1500" b="1">
                <a:solidFill>
                  <a:srgbClr val="FFFFFF"/>
                </a:solidFill>
                <a:latin typeface="Aptos" panose="020B0004020202020204" pitchFamily="34" charset="0"/>
              </a:rPr>
              <a:t>marker offsets</a:t>
            </a:r>
          </a:p>
        </p:txBody>
      </p:sp>
      <p:cxnSp>
        <p:nvCxnSpPr>
          <p:cNvPr id="15" name="Straight Arrow Connector 14">
            <a:extLst>
              <a:ext uri="{FF2B5EF4-FFF2-40B4-BE49-F238E27FC236}">
                <a16:creationId xmlns:a16="http://schemas.microsoft.com/office/drawing/2014/main" id="{92E15043-6576-A4A8-5F12-FB7E3D2620FC}"/>
              </a:ext>
            </a:extLst>
          </p:cNvPr>
          <p:cNvCxnSpPr/>
          <p:nvPr/>
        </p:nvCxnSpPr>
        <p:spPr>
          <a:xfrm>
            <a:off x="9423400" y="3378200"/>
            <a:ext cx="0" cy="762000"/>
          </a:xfrm>
          <a:prstGeom prst="straightConnector1">
            <a:avLst/>
          </a:prstGeom>
          <a:ln w="31750">
            <a:solidFill>
              <a:srgbClr val="5C7084"/>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84C4292C-041E-9791-2DC7-227CA4766F6B}"/>
              </a:ext>
            </a:extLst>
          </p:cNvPr>
          <p:cNvSpPr/>
          <p:nvPr/>
        </p:nvSpPr>
        <p:spPr>
          <a:xfrm>
            <a:off x="8280400" y="4191000"/>
            <a:ext cx="2286000" cy="939800"/>
          </a:xfrm>
          <a:prstGeom prst="roundRect">
            <a:avLst/>
          </a:prstGeom>
          <a:solidFill>
            <a:srgbClr val="F59E0B"/>
          </a:solidFill>
          <a:ln w="15875">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500" b="1">
                <a:solidFill>
                  <a:srgbClr val="FFFFFF"/>
                </a:solidFill>
                <a:latin typeface="Aptos" panose="020B0004020202020204" pitchFamily="34" charset="0"/>
              </a:rPr>
              <a:t>Relearn startup rest
55–100 detections
≈11–20 s, then re-lock automatically</a:t>
            </a:r>
            <a:br>
              <a:rPr lang="en-GB" sz="1500" b="1">
                <a:solidFill>
                  <a:srgbClr val="FFFFFF"/>
                </a:solidFill>
                <a:latin typeface="Aptos" panose="020B0004020202020204" pitchFamily="34" charset="0"/>
              </a:rPr>
            </a:br>
            <a:br>
              <a:rPr lang="en-GB" sz="1500" b="1">
                <a:solidFill>
                  <a:srgbClr val="FFFFFF"/>
                </a:solidFill>
                <a:latin typeface="Aptos" panose="020B0004020202020204" pitchFamily="34" charset="0"/>
              </a:rPr>
            </a:br>
            <a:endParaRPr lang="en-GB" sz="1500" b="1">
              <a:solidFill>
                <a:srgbClr val="FFFFFF"/>
              </a:solidFill>
              <a:latin typeface="Aptos" panose="020B0004020202020204" pitchFamily="34" charset="0"/>
            </a:endParaRPr>
          </a:p>
        </p:txBody>
      </p:sp>
      <p:sp>
        <p:nvSpPr>
          <p:cNvPr id="17" name="TextBox 16">
            <a:extLst>
              <a:ext uri="{FF2B5EF4-FFF2-40B4-BE49-F238E27FC236}">
                <a16:creationId xmlns:a16="http://schemas.microsoft.com/office/drawing/2014/main" id="{01F6E4C3-61BA-C3AD-A8C8-DD4317B029F1}"/>
              </a:ext>
            </a:extLst>
          </p:cNvPr>
          <p:cNvSpPr txBox="1"/>
          <p:nvPr/>
        </p:nvSpPr>
        <p:spPr>
          <a:xfrm>
            <a:off x="533400" y="6489700"/>
            <a:ext cx="9779000" cy="123111"/>
          </a:xfrm>
          <a:prstGeom prst="rect">
            <a:avLst/>
          </a:prstGeom>
          <a:noFill/>
        </p:spPr>
        <p:txBody>
          <a:bodyPr vert="horz" lIns="0" tIns="0" rIns="0" bIns="0" rtlCol="0" anchor="t">
            <a:spAutoFit/>
          </a:bodyPr>
          <a:lstStyle/>
          <a:p>
            <a:r>
              <a:rPr lang="en-GB" sz="800">
                <a:solidFill>
                  <a:srgbClr val="5C7084"/>
                </a:solidFill>
                <a:latin typeface="Aptos" panose="020B0004020202020204" pitchFamily="34" charset="0"/>
              </a:rPr>
              <a:t>marker_freshness.gd • avatar_rig_navel.gd::_notification releases the placement lock on resume</a:t>
            </a:r>
          </a:p>
        </p:txBody>
      </p:sp>
      <p:sp>
        <p:nvSpPr>
          <p:cNvPr id="18" name="TextBox 17">
            <a:extLst>
              <a:ext uri="{FF2B5EF4-FFF2-40B4-BE49-F238E27FC236}">
                <a16:creationId xmlns:a16="http://schemas.microsoft.com/office/drawing/2014/main" id="{D235222A-3874-AF89-8027-6A5537863619}"/>
              </a:ext>
            </a:extLst>
          </p:cNvPr>
          <p:cNvSpPr txBox="1"/>
          <p:nvPr/>
        </p:nvSpPr>
        <p:spPr>
          <a:xfrm>
            <a:off x="11074400" y="6438900"/>
            <a:ext cx="584200" cy="138499"/>
          </a:xfrm>
          <a:prstGeom prst="rect">
            <a:avLst/>
          </a:prstGeom>
          <a:noFill/>
        </p:spPr>
        <p:txBody>
          <a:bodyPr vert="horz" lIns="0" tIns="0" rIns="0" bIns="0" rtlCol="0" anchor="t">
            <a:spAutoFit/>
          </a:bodyPr>
          <a:lstStyle/>
          <a:p>
            <a:pPr algn="r"/>
            <a:r>
              <a:rPr lang="en-GB" sz="900" b="1">
                <a:solidFill>
                  <a:srgbClr val="5C7084"/>
                </a:solidFill>
                <a:latin typeface="Aptos" panose="020B0004020202020204" pitchFamily="34" charset="0"/>
              </a:rPr>
              <a:t>10</a:t>
            </a:r>
          </a:p>
        </p:txBody>
      </p:sp>
    </p:spTree>
    <p:extLst>
      <p:ext uri="{BB962C8B-B14F-4D97-AF65-F5344CB8AC3E}">
        <p14:creationId xmlns:p14="http://schemas.microsoft.com/office/powerpoint/2010/main" val="3408961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1E1890-5262-FF86-3D4F-93BFDA1E52DD}"/>
              </a:ext>
            </a:extLst>
          </p:cNvPr>
          <p:cNvSpPr txBox="1"/>
          <p:nvPr/>
        </p:nvSpPr>
        <p:spPr>
          <a:xfrm>
            <a:off x="533400" y="279400"/>
            <a:ext cx="7620000" cy="153888"/>
          </a:xfrm>
          <a:prstGeom prst="rect">
            <a:avLst/>
          </a:prstGeom>
          <a:noFill/>
        </p:spPr>
        <p:txBody>
          <a:bodyPr vert="horz" lIns="0" tIns="0" rIns="0" bIns="0" rtlCol="0" anchor="t">
            <a:spAutoFit/>
          </a:bodyPr>
          <a:lstStyle/>
          <a:p>
            <a:r>
              <a:rPr lang="en-GB" sz="1000" b="1">
                <a:solidFill>
                  <a:srgbClr val="1976D2"/>
                </a:solidFill>
                <a:latin typeface="Aptos" panose="020B0004020202020204" pitchFamily="34" charset="0"/>
              </a:rPr>
              <a:t>CURRENT QUEST RUNTIME</a:t>
            </a:r>
          </a:p>
        </p:txBody>
      </p:sp>
      <p:sp>
        <p:nvSpPr>
          <p:cNvPr id="3" name="TextBox 2">
            <a:extLst>
              <a:ext uri="{FF2B5EF4-FFF2-40B4-BE49-F238E27FC236}">
                <a16:creationId xmlns:a16="http://schemas.microsoft.com/office/drawing/2014/main" id="{D91EDF03-F08E-A645-D89E-5DB6BAC5EFAB}"/>
              </a:ext>
            </a:extLst>
          </p:cNvPr>
          <p:cNvSpPr txBox="1"/>
          <p:nvPr/>
        </p:nvSpPr>
        <p:spPr>
          <a:xfrm>
            <a:off x="533400" y="609600"/>
            <a:ext cx="10985500" cy="430887"/>
          </a:xfrm>
          <a:prstGeom prst="rect">
            <a:avLst/>
          </a:prstGeom>
          <a:noFill/>
        </p:spPr>
        <p:txBody>
          <a:bodyPr vert="horz" lIns="0" tIns="0" rIns="0" bIns="0" rtlCol="0" anchor="t">
            <a:spAutoFit/>
          </a:bodyPr>
          <a:lstStyle/>
          <a:p>
            <a:r>
              <a:rPr lang="en-GB" sz="2800" b="1">
                <a:solidFill>
                  <a:srgbClr val="102A43"/>
                </a:solidFill>
                <a:latin typeface="Aptos" panose="020B0004020202020204" pitchFamily="34" charset="0"/>
              </a:rPr>
              <a:t>Final render transform</a:t>
            </a:r>
          </a:p>
        </p:txBody>
      </p:sp>
      <p:sp>
        <p:nvSpPr>
          <p:cNvPr id="4" name="Rectangle 3">
            <a:extLst>
              <a:ext uri="{FF2B5EF4-FFF2-40B4-BE49-F238E27FC236}">
                <a16:creationId xmlns:a16="http://schemas.microsoft.com/office/drawing/2014/main" id="{6566FB64-18CF-7570-9D21-482F54C8B8B7}"/>
              </a:ext>
            </a:extLst>
          </p:cNvPr>
          <p:cNvSpPr/>
          <p:nvPr/>
        </p:nvSpPr>
        <p:spPr>
          <a:xfrm>
            <a:off x="533400" y="1282700"/>
            <a:ext cx="11125200" cy="38100"/>
          </a:xfrm>
          <a:prstGeom prst="rect">
            <a:avLst/>
          </a:prstGeom>
          <a:solidFill>
            <a:srgbClr val="2CB1B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C82CD4A2-7BAE-6EC8-67D2-685127179055}"/>
              </a:ext>
            </a:extLst>
          </p:cNvPr>
          <p:cNvSpPr/>
          <p:nvPr/>
        </p:nvSpPr>
        <p:spPr>
          <a:xfrm>
            <a:off x="914400" y="2476500"/>
            <a:ext cx="2413000" cy="1092200"/>
          </a:xfrm>
          <a:prstGeom prst="roundRect">
            <a:avLst/>
          </a:prstGeom>
          <a:solidFill>
            <a:srgbClr val="27AE60"/>
          </a:solidFill>
          <a:ln w="15875">
            <a:solidFill>
              <a:srgbClr val="27AE60"/>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900" b="1">
                <a:solidFill>
                  <a:srgbClr val="FFFFFF"/>
                </a:solidFill>
                <a:latin typeface="Aptos" panose="020B0004020202020204" pitchFamily="34" charset="0"/>
              </a:rPr>
              <a:t>FILTERED</a:t>
            </a:r>
            <a:br>
              <a:rPr lang="en-GB" sz="1900" b="1">
                <a:solidFill>
                  <a:srgbClr val="FFFFFF"/>
                </a:solidFill>
                <a:latin typeface="Aptos" panose="020B0004020202020204" pitchFamily="34" charset="0"/>
              </a:rPr>
            </a:br>
            <a:r>
              <a:rPr lang="en-GB" sz="1900" b="1">
                <a:solidFill>
                  <a:srgbClr val="FFFFFF"/>
                </a:solidFill>
                <a:latin typeface="Aptos" panose="020B0004020202020204" pitchFamily="34" charset="0"/>
              </a:rPr>
              <a:t>COMMON POSE</a:t>
            </a:r>
          </a:p>
        </p:txBody>
      </p:sp>
      <p:sp>
        <p:nvSpPr>
          <p:cNvPr id="6" name="TextBox 5">
            <a:extLst>
              <a:ext uri="{FF2B5EF4-FFF2-40B4-BE49-F238E27FC236}">
                <a16:creationId xmlns:a16="http://schemas.microsoft.com/office/drawing/2014/main" id="{10E5ED52-2CEF-DDEA-ABF5-4BACDBA519BB}"/>
              </a:ext>
            </a:extLst>
          </p:cNvPr>
          <p:cNvSpPr txBox="1"/>
          <p:nvPr/>
        </p:nvSpPr>
        <p:spPr>
          <a:xfrm>
            <a:off x="3835400" y="2705100"/>
            <a:ext cx="508000" cy="492443"/>
          </a:xfrm>
          <a:prstGeom prst="rect">
            <a:avLst/>
          </a:prstGeom>
          <a:noFill/>
        </p:spPr>
        <p:txBody>
          <a:bodyPr vert="horz" lIns="0" tIns="0" rIns="0" bIns="0" rtlCol="0" anchor="t">
            <a:spAutoFit/>
          </a:bodyPr>
          <a:lstStyle/>
          <a:p>
            <a:pPr algn="ctr"/>
            <a:r>
              <a:rPr lang="en-GB" sz="3200" b="1">
                <a:solidFill>
                  <a:srgbClr val="102A43"/>
                </a:solidFill>
                <a:latin typeface="Aptos" panose="020B0004020202020204" pitchFamily="34" charset="0"/>
              </a:rPr>
              <a:t>×</a:t>
            </a:r>
          </a:p>
        </p:txBody>
      </p:sp>
      <p:sp>
        <p:nvSpPr>
          <p:cNvPr id="7" name="Rectangle: Rounded Corners 6">
            <a:extLst>
              <a:ext uri="{FF2B5EF4-FFF2-40B4-BE49-F238E27FC236}">
                <a16:creationId xmlns:a16="http://schemas.microsoft.com/office/drawing/2014/main" id="{2B5A6272-9A2F-4EDE-6466-87263947A7FE}"/>
              </a:ext>
            </a:extLst>
          </p:cNvPr>
          <p:cNvSpPr/>
          <p:nvPr/>
        </p:nvSpPr>
        <p:spPr>
          <a:xfrm>
            <a:off x="4826000" y="2476500"/>
            <a:ext cx="2413000" cy="1092200"/>
          </a:xfrm>
          <a:prstGeom prst="roundRect">
            <a:avLst/>
          </a:prstGeom>
          <a:solidFill>
            <a:srgbClr val="7152AD"/>
          </a:solidFill>
          <a:ln w="15875">
            <a:solidFill>
              <a:srgbClr val="7152AD"/>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900" b="1">
                <a:solidFill>
                  <a:srgbClr val="FFFFFF"/>
                </a:solidFill>
                <a:latin typeface="Aptos" panose="020B0004020202020204" pitchFamily="34" charset="0"/>
              </a:rPr>
              <a:t>FIXED MODEL</a:t>
            </a:r>
            <a:br>
              <a:rPr lang="en-GB" sz="1900" b="1">
                <a:solidFill>
                  <a:srgbClr val="FFFFFF"/>
                </a:solidFill>
                <a:latin typeface="Aptos" panose="020B0004020202020204" pitchFamily="34" charset="0"/>
              </a:rPr>
            </a:br>
            <a:r>
              <a:rPr lang="en-GB" sz="1900" b="1">
                <a:solidFill>
                  <a:srgbClr val="FFFFFF"/>
                </a:solidFill>
                <a:latin typeface="Aptos" panose="020B0004020202020204" pitchFamily="34" charset="0"/>
              </a:rPr>
              <a:t>ALIGNMENT</a:t>
            </a:r>
          </a:p>
        </p:txBody>
      </p:sp>
      <p:sp>
        <p:nvSpPr>
          <p:cNvPr id="8" name="TextBox 7">
            <a:extLst>
              <a:ext uri="{FF2B5EF4-FFF2-40B4-BE49-F238E27FC236}">
                <a16:creationId xmlns:a16="http://schemas.microsoft.com/office/drawing/2014/main" id="{E8272FFD-2313-F942-EEA8-8200DA27FAC9}"/>
              </a:ext>
            </a:extLst>
          </p:cNvPr>
          <p:cNvSpPr txBox="1"/>
          <p:nvPr/>
        </p:nvSpPr>
        <p:spPr>
          <a:xfrm>
            <a:off x="7747000" y="2705100"/>
            <a:ext cx="508000" cy="492443"/>
          </a:xfrm>
          <a:prstGeom prst="rect">
            <a:avLst/>
          </a:prstGeom>
          <a:noFill/>
        </p:spPr>
        <p:txBody>
          <a:bodyPr vert="horz" lIns="0" tIns="0" rIns="0" bIns="0" rtlCol="0" anchor="t">
            <a:spAutoFit/>
          </a:bodyPr>
          <a:lstStyle/>
          <a:p>
            <a:pPr algn="ctr"/>
            <a:r>
              <a:rPr lang="en-GB" sz="3200" b="1">
                <a:solidFill>
                  <a:srgbClr val="102A43"/>
                </a:solidFill>
                <a:latin typeface="Aptos" panose="020B0004020202020204" pitchFamily="34" charset="0"/>
              </a:rPr>
              <a:t>=</a:t>
            </a:r>
          </a:p>
        </p:txBody>
      </p:sp>
      <p:sp>
        <p:nvSpPr>
          <p:cNvPr id="9" name="Rectangle: Rounded Corners 8">
            <a:extLst>
              <a:ext uri="{FF2B5EF4-FFF2-40B4-BE49-F238E27FC236}">
                <a16:creationId xmlns:a16="http://schemas.microsoft.com/office/drawing/2014/main" id="{462F01BB-4701-1623-2E91-58879C8D3E4F}"/>
              </a:ext>
            </a:extLst>
          </p:cNvPr>
          <p:cNvSpPr/>
          <p:nvPr/>
        </p:nvSpPr>
        <p:spPr>
          <a:xfrm>
            <a:off x="8763000" y="2476500"/>
            <a:ext cx="2413000" cy="1092200"/>
          </a:xfrm>
          <a:prstGeom prst="roundRect">
            <a:avLst/>
          </a:prstGeom>
          <a:solidFill>
            <a:srgbClr val="1976D2"/>
          </a:solidFill>
          <a:ln w="15875">
            <a:solidFill>
              <a:srgbClr val="1976D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900" b="1">
                <a:solidFill>
                  <a:srgbClr val="FFFFFF"/>
                </a:solidFill>
                <a:latin typeface="Aptos" panose="020B0004020202020204" pitchFamily="34" charset="0"/>
              </a:rPr>
              <a:t>VISIBLE</a:t>
            </a:r>
            <a:br>
              <a:rPr lang="en-GB" sz="1900" b="1">
                <a:solidFill>
                  <a:srgbClr val="FFFFFF"/>
                </a:solidFill>
                <a:latin typeface="Aptos" panose="020B0004020202020204" pitchFamily="34" charset="0"/>
              </a:rPr>
            </a:br>
            <a:r>
              <a:rPr lang="en-GB" sz="1900" b="1">
                <a:solidFill>
                  <a:srgbClr val="FFFFFF"/>
                </a:solidFill>
                <a:latin typeface="Aptos" panose="020B0004020202020204" pitchFamily="34" charset="0"/>
              </a:rPr>
              <a:t>AVATAR</a:t>
            </a:r>
          </a:p>
        </p:txBody>
      </p:sp>
      <p:sp>
        <p:nvSpPr>
          <p:cNvPr id="10" name="Rectangle: Rounded Corners 9">
            <a:extLst>
              <a:ext uri="{FF2B5EF4-FFF2-40B4-BE49-F238E27FC236}">
                <a16:creationId xmlns:a16="http://schemas.microsoft.com/office/drawing/2014/main" id="{E2AD1ABA-D080-4D6B-2127-F2F66ADC3045}"/>
              </a:ext>
            </a:extLst>
          </p:cNvPr>
          <p:cNvSpPr/>
          <p:nvPr/>
        </p:nvSpPr>
        <p:spPr>
          <a:xfrm>
            <a:off x="4318000" y="4241800"/>
            <a:ext cx="3556000" cy="1270000"/>
          </a:xfrm>
          <a:prstGeom prst="roundRect">
            <a:avLst/>
          </a:prstGeom>
          <a:solidFill>
            <a:srgbClr val="FFFFFF"/>
          </a:solidFill>
          <a:ln w="15875">
            <a:solidFill>
              <a:srgbClr val="C8D6E2"/>
            </a:solidFill>
          </a:ln>
        </p:spPr>
        <p:style>
          <a:lnRef idx="2">
            <a:schemeClr val="accent1">
              <a:shade val="15000"/>
            </a:schemeClr>
          </a:lnRef>
          <a:fillRef idx="1">
            <a:schemeClr val="accent1"/>
          </a:fillRef>
          <a:effectRef idx="0">
            <a:schemeClr val="accent1"/>
          </a:effectRef>
          <a:fontRef idx="minor">
            <a:schemeClr val="lt1"/>
          </a:fontRef>
        </p:style>
        <p:txBody>
          <a:bodyPr lIns="127000" tIns="63500" rIns="127000" bIns="63500" rtlCol="0" anchor="ctr"/>
          <a:lstStyle/>
          <a:p>
            <a:pPr algn="ctr"/>
            <a:r>
              <a:rPr lang="en-GB" sz="1600">
                <a:solidFill>
                  <a:srgbClr val="16324F"/>
                </a:solidFill>
                <a:latin typeface="Aptos" panose="020B0004020202020204" pitchFamily="34" charset="0"/>
              </a:rPr>
              <a:t>Scale 0.77</a:t>
            </a:r>
            <a:br>
              <a:rPr lang="en-GB" sz="1600">
                <a:solidFill>
                  <a:srgbClr val="16324F"/>
                </a:solidFill>
                <a:latin typeface="Aptos" panose="020B0004020202020204" pitchFamily="34" charset="0"/>
              </a:rPr>
            </a:br>
            <a:r>
              <a:rPr lang="en-GB" sz="1600">
                <a:solidFill>
                  <a:srgbClr val="16324F"/>
                </a:solidFill>
                <a:latin typeface="Aptos" panose="020B0004020202020204" pitchFamily="34" charset="0"/>
              </a:rPr>
              <a:t>Rotation −90° X (lay flat)</a:t>
            </a:r>
            <a:br>
              <a:rPr lang="en-GB" sz="1600">
                <a:solidFill>
                  <a:srgbClr val="16324F"/>
                </a:solidFill>
                <a:latin typeface="Aptos" panose="020B0004020202020204" pitchFamily="34" charset="0"/>
              </a:rPr>
            </a:br>
            <a:r>
              <a:rPr lang="en-GB" sz="1600">
                <a:solidFill>
                  <a:srgbClr val="16324F"/>
                </a:solidFill>
                <a:latin typeface="Aptos" panose="020B0004020202020204" pitchFamily="34" charset="0"/>
              </a:rPr>
              <a:t>Position (0.07256, −0.127499, 0.177248) m</a:t>
            </a:r>
          </a:p>
        </p:txBody>
      </p:sp>
      <p:sp>
        <p:nvSpPr>
          <p:cNvPr id="11" name="TextBox 10">
            <a:extLst>
              <a:ext uri="{FF2B5EF4-FFF2-40B4-BE49-F238E27FC236}">
                <a16:creationId xmlns:a16="http://schemas.microsoft.com/office/drawing/2014/main" id="{CDCACE7A-F7D0-8CA0-7C49-5858CC888D42}"/>
              </a:ext>
            </a:extLst>
          </p:cNvPr>
          <p:cNvSpPr txBox="1"/>
          <p:nvPr/>
        </p:nvSpPr>
        <p:spPr>
          <a:xfrm>
            <a:off x="3175000" y="5816600"/>
            <a:ext cx="5842000" cy="246221"/>
          </a:xfrm>
          <a:prstGeom prst="rect">
            <a:avLst/>
          </a:prstGeom>
          <a:noFill/>
        </p:spPr>
        <p:txBody>
          <a:bodyPr vert="horz" lIns="0" tIns="0" rIns="0" bIns="0" rtlCol="0" anchor="t">
            <a:spAutoFit/>
          </a:bodyPr>
          <a:lstStyle/>
          <a:p>
            <a:pPr algn="ctr"/>
            <a:r>
              <a:rPr lang="en-GB" sz="1600" b="1">
                <a:solidFill>
                  <a:srgbClr val="27AE60"/>
                </a:solidFill>
                <a:latin typeface="Aptos" panose="020B0004020202020204" pitchFamily="34" charset="0"/>
              </a:rPr>
              <a:t>Floor-lock sets local Z down and local Y to horizontal body heading before this fixed model correction is applied.</a:t>
            </a:r>
          </a:p>
        </p:txBody>
      </p:sp>
      <p:sp>
        <p:nvSpPr>
          <p:cNvPr id="12" name="TextBox 11">
            <a:extLst>
              <a:ext uri="{FF2B5EF4-FFF2-40B4-BE49-F238E27FC236}">
                <a16:creationId xmlns:a16="http://schemas.microsoft.com/office/drawing/2014/main" id="{6AF27911-6F3D-E148-2F1A-16C75915F7BA}"/>
              </a:ext>
            </a:extLst>
          </p:cNvPr>
          <p:cNvSpPr txBox="1"/>
          <p:nvPr/>
        </p:nvSpPr>
        <p:spPr>
          <a:xfrm>
            <a:off x="787400" y="1651000"/>
            <a:ext cx="10604500" cy="261610"/>
          </a:xfrm>
          <a:prstGeom prst="rect">
            <a:avLst/>
          </a:prstGeom>
          <a:noFill/>
        </p:spPr>
        <p:txBody>
          <a:bodyPr vert="horz" lIns="0" tIns="0" rIns="0" bIns="0" rtlCol="0" anchor="t">
            <a:spAutoFit/>
          </a:bodyPr>
          <a:lstStyle/>
          <a:p>
            <a:pPr algn="ctr"/>
            <a:r>
              <a:rPr lang="en-GB" sz="1700" b="1">
                <a:solidFill>
                  <a:srgbClr val="E45756"/>
                </a:solidFill>
                <a:latin typeface="Aptos" panose="020B0004020202020204" pitchFamily="34" charset="0"/>
              </a:rPr>
              <a:t>A persistent fixed offset here cannot be repaired by waiting, smoothing, the prior or 600-second healing.</a:t>
            </a:r>
          </a:p>
        </p:txBody>
      </p:sp>
      <p:sp>
        <p:nvSpPr>
          <p:cNvPr id="13" name="TextBox 12">
            <a:extLst>
              <a:ext uri="{FF2B5EF4-FFF2-40B4-BE49-F238E27FC236}">
                <a16:creationId xmlns:a16="http://schemas.microsoft.com/office/drawing/2014/main" id="{C972B8F9-8AB6-B196-A065-FF8879869625}"/>
              </a:ext>
            </a:extLst>
          </p:cNvPr>
          <p:cNvSpPr txBox="1"/>
          <p:nvPr/>
        </p:nvSpPr>
        <p:spPr>
          <a:xfrm>
            <a:off x="533400" y="6489700"/>
            <a:ext cx="9779000" cy="123111"/>
          </a:xfrm>
          <a:prstGeom prst="rect">
            <a:avLst/>
          </a:prstGeom>
          <a:noFill/>
        </p:spPr>
        <p:txBody>
          <a:bodyPr vert="horz" lIns="0" tIns="0" rIns="0" bIns="0" rtlCol="0" anchor="t">
            <a:spAutoFit/>
          </a:bodyPr>
          <a:lstStyle/>
          <a:p>
            <a:r>
              <a:rPr lang="en-GB" sz="800">
                <a:solidFill>
                  <a:srgbClr val="5C7084"/>
                </a:solidFill>
                <a:latin typeface="Aptos" panose="020B0004020202020204" pitchFamily="34" charset="0"/>
              </a:rPr>
              <a:t>main_3d.tscn: mannequin child transform • AvatarRig.global_transform = filtered pose</a:t>
            </a:r>
          </a:p>
        </p:txBody>
      </p:sp>
      <p:sp>
        <p:nvSpPr>
          <p:cNvPr id="14" name="TextBox 13">
            <a:extLst>
              <a:ext uri="{FF2B5EF4-FFF2-40B4-BE49-F238E27FC236}">
                <a16:creationId xmlns:a16="http://schemas.microsoft.com/office/drawing/2014/main" id="{591512ED-3867-226D-0349-A7B993E36BFA}"/>
              </a:ext>
            </a:extLst>
          </p:cNvPr>
          <p:cNvSpPr txBox="1"/>
          <p:nvPr/>
        </p:nvSpPr>
        <p:spPr>
          <a:xfrm>
            <a:off x="11074400" y="6438900"/>
            <a:ext cx="584200" cy="138499"/>
          </a:xfrm>
          <a:prstGeom prst="rect">
            <a:avLst/>
          </a:prstGeom>
          <a:noFill/>
        </p:spPr>
        <p:txBody>
          <a:bodyPr vert="horz" lIns="0" tIns="0" rIns="0" bIns="0" rtlCol="0" anchor="t">
            <a:spAutoFit/>
          </a:bodyPr>
          <a:lstStyle/>
          <a:p>
            <a:pPr algn="r"/>
            <a:r>
              <a:rPr lang="en-GB" sz="900" b="1">
                <a:solidFill>
                  <a:srgbClr val="5C7084"/>
                </a:solidFill>
                <a:latin typeface="Aptos" panose="020B0004020202020204" pitchFamily="34" charset="0"/>
              </a:rPr>
              <a:t>11</a:t>
            </a:r>
          </a:p>
        </p:txBody>
      </p:sp>
    </p:spTree>
    <p:extLst>
      <p:ext uri="{BB962C8B-B14F-4D97-AF65-F5344CB8AC3E}">
        <p14:creationId xmlns:p14="http://schemas.microsoft.com/office/powerpoint/2010/main" val="3640900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674582-4980-CAD3-F18D-ADF56F9EE2A9}"/>
              </a:ext>
            </a:extLst>
          </p:cNvPr>
          <p:cNvSpPr txBox="1"/>
          <p:nvPr/>
        </p:nvSpPr>
        <p:spPr>
          <a:xfrm>
            <a:off x="3048501" y="889844"/>
            <a:ext cx="6097002" cy="4801314"/>
          </a:xfrm>
          <a:prstGeom prst="rect">
            <a:avLst/>
          </a:prstGeom>
          <a:noFill/>
        </p:spPr>
        <p:txBody>
          <a:bodyPr wrap="square">
            <a:spAutoFit/>
          </a:bodyPr>
          <a:lstStyle/>
          <a:p>
            <a:r>
              <a:rPr lang="en-GB" b="1" dirty="0"/>
              <a:t>Manikin Scale Logic </a:t>
            </a:r>
          </a:p>
          <a:p>
            <a:r>
              <a:rPr lang="en-GB" b="1" dirty="0">
                <a:effectLst/>
              </a:rPr>
              <a:t>GLB model size:</a:t>
            </a:r>
            <a:r>
              <a:rPr lang="en-GB" dirty="0">
                <a:effectLst/>
              </a:rPr>
              <a:t> Length = 0.8082 m (Z‑axis), Width = 0.5457 m, Depth = 0.2807 m</a:t>
            </a:r>
          </a:p>
          <a:p>
            <a:endParaRPr lang="en-GB" dirty="0"/>
          </a:p>
          <a:p>
            <a:pPr>
              <a:buFont typeface="Arial" panose="020B0604020202020204" pitchFamily="34" charset="0"/>
              <a:buChar char="•"/>
            </a:pPr>
            <a:r>
              <a:rPr lang="en-GB" b="1" dirty="0">
                <a:effectLst/>
              </a:rPr>
              <a:t>Scale factor meaning:</a:t>
            </a:r>
            <a:r>
              <a:rPr lang="en-GB" dirty="0">
                <a:effectLst/>
              </a:rPr>
              <a:t> </a:t>
            </a:r>
            <a:r>
              <a:rPr lang="en-GB" b="1" dirty="0">
                <a:effectLst/>
              </a:rPr>
              <a:t>0.77 = real manikin length ÷ GLB model length</a:t>
            </a:r>
          </a:p>
          <a:p>
            <a:pPr>
              <a:buFont typeface="Arial" panose="020B0604020202020204" pitchFamily="34" charset="0"/>
              <a:buChar char="•"/>
            </a:pPr>
            <a:endParaRPr lang="en-GB" dirty="0"/>
          </a:p>
          <a:p>
            <a:pPr>
              <a:buFont typeface="Arial" panose="020B0604020202020204" pitchFamily="34" charset="0"/>
              <a:buChar char="•"/>
            </a:pPr>
            <a:r>
              <a:rPr lang="en-GB" b="1" dirty="0">
                <a:effectLst/>
              </a:rPr>
              <a:t>Your measurement:</a:t>
            </a:r>
            <a:r>
              <a:rPr lang="en-GB" dirty="0">
                <a:effectLst/>
              </a:rPr>
              <a:t> Real manikin ≈ 0.622 m → 0.622/0.8082=0.7696 → </a:t>
            </a:r>
            <a:r>
              <a:rPr lang="en-GB" b="1" dirty="0">
                <a:effectLst/>
              </a:rPr>
              <a:t>0.77</a:t>
            </a:r>
          </a:p>
          <a:p>
            <a:pPr>
              <a:buFont typeface="Arial" panose="020B0604020202020204" pitchFamily="34" charset="0"/>
              <a:buChar char="•"/>
            </a:pPr>
            <a:endParaRPr lang="en-GB" dirty="0"/>
          </a:p>
          <a:p>
            <a:pPr>
              <a:buFont typeface="Arial" panose="020B0604020202020204" pitchFamily="34" charset="0"/>
              <a:buChar char="•"/>
            </a:pPr>
            <a:r>
              <a:rPr lang="en-GB" b="1" dirty="0">
                <a:effectLst/>
              </a:rPr>
              <a:t>Uniform scaling:</a:t>
            </a:r>
            <a:r>
              <a:rPr lang="en-GB" dirty="0">
                <a:effectLst/>
              </a:rPr>
              <a:t> One scale value stretches </a:t>
            </a:r>
            <a:r>
              <a:rPr lang="en-GB" b="1" dirty="0">
                <a:effectLst/>
              </a:rPr>
              <a:t>all axes</a:t>
            </a:r>
            <a:r>
              <a:rPr lang="en-GB" dirty="0">
                <a:effectLst/>
              </a:rPr>
              <a:t> together → length, width, depth all multiplied by 0.77</a:t>
            </a:r>
            <a:endParaRPr lang="en-GB" dirty="0"/>
          </a:p>
          <a:p>
            <a:pPr>
              <a:buFont typeface="Arial" panose="020B0604020202020204" pitchFamily="34" charset="0"/>
              <a:buChar char="•"/>
            </a:pPr>
            <a:r>
              <a:rPr lang="en-GB" b="1" dirty="0">
                <a:effectLst/>
              </a:rPr>
              <a:t>Scaled dimensions:</a:t>
            </a:r>
            <a:endParaRPr lang="en-GB" dirty="0"/>
          </a:p>
          <a:p>
            <a:pPr marL="742950" lvl="1" indent="-285750">
              <a:buFont typeface="Arial" panose="020B0604020202020204" pitchFamily="34" charset="0"/>
              <a:buChar char="•"/>
            </a:pPr>
            <a:r>
              <a:rPr lang="en-GB" dirty="0">
                <a:effectLst/>
              </a:rPr>
              <a:t>Length: 62.2 cm</a:t>
            </a:r>
            <a:endParaRPr lang="en-GB" dirty="0"/>
          </a:p>
          <a:p>
            <a:pPr marL="742950" lvl="1" indent="-285750">
              <a:buFont typeface="Arial" panose="020B0604020202020204" pitchFamily="34" charset="0"/>
              <a:buChar char="•"/>
            </a:pPr>
            <a:r>
              <a:rPr lang="en-GB" dirty="0">
                <a:effectLst/>
              </a:rPr>
              <a:t>Width: 42.0 cm</a:t>
            </a:r>
            <a:endParaRPr lang="en-GB" dirty="0"/>
          </a:p>
          <a:p>
            <a:pPr marL="742950" lvl="1" indent="-285750">
              <a:buFont typeface="Arial" panose="020B0604020202020204" pitchFamily="34" charset="0"/>
              <a:buChar char="•"/>
            </a:pPr>
            <a:r>
              <a:rPr lang="en-GB" dirty="0">
                <a:effectLst/>
              </a:rPr>
              <a:t>Depth: </a:t>
            </a:r>
            <a:r>
              <a:rPr lang="en-GB">
                <a:effectLst/>
              </a:rPr>
              <a:t>21.6 cm</a:t>
            </a:r>
          </a:p>
          <a:p>
            <a:pPr marL="742950" lvl="1" indent="-285750">
              <a:buFont typeface="Arial" panose="020B0604020202020204" pitchFamily="34" charset="0"/>
              <a:buChar char="•"/>
            </a:pPr>
            <a:endParaRPr lang="en-GB" dirty="0"/>
          </a:p>
        </p:txBody>
      </p:sp>
    </p:spTree>
    <p:extLst>
      <p:ext uri="{BB962C8B-B14F-4D97-AF65-F5344CB8AC3E}">
        <p14:creationId xmlns:p14="http://schemas.microsoft.com/office/powerpoint/2010/main" val="3704660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17</a:t>
            </a:r>
          </a:p>
        </p:txBody>
      </p:sp>
      <p:sp>
        <p:nvSpPr>
          <p:cNvPr id="6" name="TextBox 5"/>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The placement lock — what happens when the mannequin is moved</a:t>
            </a:r>
          </a:p>
        </p:txBody>
      </p:sp>
      <p:sp>
        <p:nvSpPr>
          <p:cNvPr id="7" name="TextBox 6"/>
          <p:cNvSpPr txBox="1"/>
          <p:nvPr/>
        </p:nvSpPr>
        <p:spPr>
          <a:xfrm>
            <a:off x="640080" y="1389888"/>
            <a:ext cx="10881360" cy="3566160"/>
          </a:xfrm>
          <a:prstGeom prst="rect">
            <a:avLst/>
          </a:prstGeom>
          <a:noFill/>
        </p:spPr>
        <p:txBody>
          <a:bodyPr wrap="square">
            <a:spAutoFit/>
          </a:bodyPr>
          <a:lstStyle/>
          <a:p>
            <a:pPr>
              <a:spcAft>
                <a:spcPts val="600"/>
              </a:spcAft>
            </a:pPr>
            <a:r>
              <a:rPr sz="1250" b="0">
                <a:solidFill>
                  <a:srgbClr val="16324F"/>
                </a:solidFill>
                <a:latin typeface="Aptos"/>
              </a:rPr>
              <a:t>0.  LOCKED - after setup the avatar is frozen at the locked pose. Marker freshness and consensus keep updating, but the displayed transform is never rewritten. Walking around, viewing from the side and camera noise cannot move it.</a:t>
            </a:r>
          </a:p>
          <a:p>
            <a:pPr>
              <a:spcAft>
                <a:spcPts val="600"/>
              </a:spcAft>
            </a:pPr>
            <a:r>
              <a:rPr sz="1250" b="0">
                <a:solidFill>
                  <a:srgbClr val="16324F"/>
                </a:solidFill>
                <a:latin typeface="Aptos"/>
              </a:rPr>
              <a:t>1.  THE MANNEQUIN IS MOVED - nothing happens automatically. A locked avatar stays exactly where it is; the system no longer tries to follow the markers.</a:t>
            </a:r>
          </a:p>
          <a:p>
            <a:pPr>
              <a:spcAft>
                <a:spcPts val="600"/>
              </a:spcAft>
            </a:pPr>
            <a:r>
              <a:rPr sz="1250" b="0">
                <a:solidFill>
                  <a:srgbClr val="16324F"/>
                </a:solidFill>
                <a:latin typeface="Aptos"/>
              </a:rPr>
              <a:t>2.  THE TEACHER STARTS A RE-POSITION - hold the right-controller B button for 1.5 s. A brief accidental press does nothing, so a child cannot start a placement search.</a:t>
            </a:r>
          </a:p>
          <a:p>
            <a:pPr>
              <a:spcAft>
                <a:spcPts val="600"/>
              </a:spcAft>
            </a:pPr>
            <a:r>
              <a:rPr sz="1250" b="0">
                <a:solidFill>
                  <a:srgbClr val="16324F"/>
                </a:solidFill>
                <a:latin typeface="Aptos"/>
              </a:rPr>
              <a:t>3.  PREVIEW - the old trusted avatar stays visible. The filter is re-anchored at the old lock and smooths toward the new measurements. If tracking is lost during the preview, the display returns to the old lock rather than an unverified in-between pose.</a:t>
            </a:r>
          </a:p>
          <a:p>
            <a:pPr>
              <a:spcAft>
                <a:spcPts val="600"/>
              </a:spcAft>
            </a:pPr>
            <a:r>
              <a:rPr sz="1250" b="0">
                <a:solidFill>
                  <a:srgbClr val="16324F"/>
                </a:solidFill>
                <a:latin typeface="Aptos"/>
              </a:rPr>
              <a:t>4.  VERIFY - the provider repeats its full 30 / 33 / 36 / 39 / 42 stable-rest process at the new location. Nothing is accepted before that completes.</a:t>
            </a:r>
          </a:p>
          <a:p>
            <a:pPr>
              <a:spcAft>
                <a:spcPts val="0"/>
              </a:spcAft>
            </a:pPr>
            <a:r>
              <a:rPr sz="1250" b="0">
                <a:solidFill>
                  <a:srgbClr val="16324F"/>
                </a:solidFill>
                <a:latin typeface="Aptos"/>
              </a:rPr>
              <a:t>5.  RE-LOCK - the verified pose replaces the lock and the avatar freezes again. The A button (re-level) and a Quest-menu resume also release the lock and re-lock automatically.</a:t>
            </a:r>
          </a:p>
        </p:txBody>
      </p:sp>
      <p:sp>
        <p:nvSpPr>
          <p:cNvPr id="8" name="Rounded Rectangle 7"/>
          <p:cNvSpPr/>
          <p:nvPr/>
        </p:nvSpPr>
        <p:spPr>
          <a:xfrm>
            <a:off x="822960" y="5212080"/>
            <a:ext cx="10515600" cy="105156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a:solidFill>
                  <a:srgbClr val="16324F"/>
                </a:solidFill>
                <a:latin typeface="Aptos"/>
              </a:rPr>
              <a:t>The lock is what stops viewpoint bias from being displayed as movement: the avatar cannot drift because its transform is not rewritten at all. It does not make the locked pose correct — a placement error captured at lock time stays until a re-position.</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avatar_rig_navel.gd::_update_tracking (early return while locked) • _begin_placement_realign • _update_placement_button_hold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3" name="TextBox 2"/>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How each value was selected - the grid method</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18</a:t>
            </a:r>
          </a:p>
        </p:txBody>
      </p:sp>
      <p:sp>
        <p:nvSpPr>
          <p:cNvPr id="6" name="TextBox 5"/>
          <p:cNvSpPr txBox="1"/>
          <p:nvPr/>
        </p:nvSpPr>
        <p:spPr>
          <a:xfrm>
            <a:off x="640080" y="1600200"/>
            <a:ext cx="10881360" cy="2200602"/>
          </a:xfrm>
          <a:prstGeom prst="rect">
            <a:avLst/>
          </a:prstGeom>
          <a:noFill/>
        </p:spPr>
        <p:txBody>
          <a:bodyPr wrap="square">
            <a:spAutoFit/>
          </a:bodyPr>
          <a:lstStyle/>
          <a:p>
            <a:pPr>
              <a:spcAft>
                <a:spcPts val="1000"/>
              </a:spcAft>
            </a:pPr>
            <a:r>
              <a:rPr sz="1400" b="0" dirty="0">
                <a:solidFill>
                  <a:srgbClr val="16324F"/>
                </a:solidFill>
                <a:latin typeface="Aptos"/>
              </a:rPr>
              <a:t>INPUT - one labelled session (2026-09-04): calibration sweep, six stationary viewpoints, one measured 617.5 mm A→B→A move.</a:t>
            </a:r>
          </a:p>
          <a:p>
            <a:pPr>
              <a:spcAft>
                <a:spcPts val="1000"/>
              </a:spcAft>
            </a:pPr>
            <a:r>
              <a:rPr sz="1400" b="0" dirty="0">
                <a:solidFill>
                  <a:srgbClr val="16324F"/>
                </a:solidFill>
                <a:latin typeface="Aptos"/>
              </a:rPr>
              <a:t>STARTUP REST - every start/step/threshold/checks/fallback combination is replayed on sliding trials of the recordings. Hard gates: ≥95% of stationary trials must confirm and ≤5% of moving trials may falsely confirm. Survivors ranked by error against the reference pose and by confirmation speed.  →  30 / step 3 / 1.5 mm / 1.0° / 4 checks / fallback 100.</a:t>
            </a:r>
          </a:p>
          <a:p>
            <a:pPr>
              <a:spcAft>
                <a:spcPts val="1000"/>
              </a:spcAft>
            </a:pPr>
            <a:r>
              <a:rPr sz="1400" b="0" dirty="0">
                <a:solidFill>
                  <a:srgbClr val="16324F"/>
                </a:solidFill>
                <a:latin typeface="Aptos"/>
              </a:rPr>
              <a:t>DISPLAY FILTER - coordinate-descent passes over the groups (</a:t>
            </a:r>
            <a:r>
              <a:rPr sz="1400" b="0" dirty="0" err="1">
                <a:solidFill>
                  <a:srgbClr val="16324F"/>
                </a:solidFill>
                <a:latin typeface="Aptos"/>
              </a:rPr>
              <a:t>window+radius</a:t>
            </a:r>
            <a:r>
              <a:rPr sz="1400" b="0" dirty="0">
                <a:solidFill>
                  <a:srgbClr val="16324F"/>
                </a:solidFill>
                <a:latin typeface="Aptos"/>
              </a:rPr>
              <a:t>, dead </a:t>
            </a:r>
            <a:r>
              <a:rPr sz="1400" b="0" dirty="0" err="1">
                <a:solidFill>
                  <a:srgbClr val="16324F"/>
                </a:solidFill>
                <a:latin typeface="Aptos"/>
              </a:rPr>
              <a:t>zones+smoothing</a:t>
            </a:r>
            <a:r>
              <a:rPr sz="1400" b="0" dirty="0">
                <a:solidFill>
                  <a:srgbClr val="16324F"/>
                </a:solidFill>
                <a:latin typeface="Aptos"/>
              </a:rPr>
              <a:t>, prior, </a:t>
            </a:r>
            <a:r>
              <a:rPr sz="1400" b="0" dirty="0" err="1">
                <a:solidFill>
                  <a:srgbClr val="16324F"/>
                </a:solidFill>
                <a:latin typeface="Aptos"/>
              </a:rPr>
              <a:t>endpoint+re-anchor</a:t>
            </a:r>
            <a:r>
              <a:rPr sz="1400" b="0" dirty="0">
                <a:solidFill>
                  <a:srgbClr val="16324F"/>
                </a:solidFill>
                <a:latin typeface="Aptos"/>
              </a:rPr>
              <a:t> floor, timeout): every candidate is replayed end-to-end and scored half on stationary stability (wobble, jump, drift vs raw) and half on movement (</a:t>
            </a:r>
            <a:r>
              <a:rPr lang="en-GB" sz="1400" b="0" dirty="0">
                <a:solidFill>
                  <a:srgbClr val="16324F"/>
                </a:solidFill>
                <a:latin typeface="Aptos"/>
              </a:rPr>
              <a:t>Retained</a:t>
            </a:r>
            <a:r>
              <a:rPr sz="1400" b="0" dirty="0">
                <a:solidFill>
                  <a:srgbClr val="16324F"/>
                </a:solidFill>
                <a:latin typeface="Aptos"/>
              </a:rPr>
              <a:t>, delay, endpoint error, return error).  →  window 5 • radius 0.20 m • 20 mm / 0.3° • 1.2 s • 2 s • 40 mm / 3°.</a:t>
            </a:r>
          </a:p>
          <a:p>
            <a:pPr>
              <a:spcAft>
                <a:spcPts val="1000"/>
              </a:spcAft>
            </a:pPr>
            <a:r>
              <a:rPr sz="1400" b="1" dirty="0">
                <a:solidFill>
                  <a:srgbClr val="16324F"/>
                </a:solidFill>
                <a:latin typeface="Aptos"/>
              </a:rPr>
              <a:t>WINNER VALIDATION - movement retained 99.7% • endpoint error 4.8 mm • return error 10.4 mm.</a:t>
            </a:r>
          </a:p>
        </p:txBody>
      </p:sp>
      <p:sp>
        <p:nvSpPr>
          <p:cNvPr id="7" name="TextBox 6"/>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tune_filter.py • winner in tune_filter_best.txt • every evaluated configuration in tune_filter_results.csv</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3" name="TextBox 2"/>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Measuring wrongness 1/3 - the six stationary rulers</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19</a:t>
            </a:r>
          </a:p>
        </p:txBody>
      </p:sp>
      <p:sp>
        <p:nvSpPr>
          <p:cNvPr id="6" name="TextBox 5"/>
          <p:cNvSpPr txBox="1"/>
          <p:nvPr/>
        </p:nvSpPr>
        <p:spPr>
          <a:xfrm>
            <a:off x="640080" y="1444752"/>
            <a:ext cx="5440680" cy="274320"/>
          </a:xfrm>
          <a:prstGeom prst="rect">
            <a:avLst/>
          </a:prstGeom>
          <a:noFill/>
        </p:spPr>
        <p:txBody>
          <a:bodyPr wrap="square">
            <a:spAutoFit/>
          </a:bodyPr>
          <a:lstStyle/>
          <a:p>
            <a:pPr>
              <a:spcAft>
                <a:spcPts val="0"/>
              </a:spcAft>
            </a:pPr>
            <a:r>
              <a:rPr sz="1250" b="1">
                <a:solidFill>
                  <a:srgbClr val="102A43"/>
                </a:solidFill>
                <a:latin typeface="Aptos"/>
              </a:rPr>
              <a:t>POSITION  (p[n] = 3D point of frame n)</a:t>
            </a:r>
          </a:p>
        </p:txBody>
      </p:sp>
      <p:sp>
        <p:nvSpPr>
          <p:cNvPr id="7" name="TextBox 6"/>
          <p:cNvSpPr txBox="1"/>
          <p:nvPr/>
        </p:nvSpPr>
        <p:spPr>
          <a:xfrm>
            <a:off x="640080" y="1783080"/>
            <a:ext cx="5440680" cy="3291840"/>
          </a:xfrm>
          <a:prstGeom prst="rect">
            <a:avLst/>
          </a:prstGeom>
          <a:noFill/>
        </p:spPr>
        <p:txBody>
          <a:bodyPr wrap="square">
            <a:spAutoFit/>
          </a:bodyPr>
          <a:lstStyle/>
          <a:p>
            <a:pPr>
              <a:spcAft>
                <a:spcPts val="100"/>
              </a:spcAft>
            </a:pPr>
            <a:r>
              <a:rPr sz="1150" b="0">
                <a:solidFill>
                  <a:srgbClr val="16324F"/>
                </a:solidFill>
                <a:latin typeface="Consolas"/>
              </a:rPr>
              <a:t>step[n] = ‖p[n+1] − p[n]‖ × 1000  (mm)</a:t>
            </a:r>
          </a:p>
          <a:p>
            <a:pPr>
              <a:spcAft>
                <a:spcPts val="700"/>
              </a:spcAft>
            </a:pPr>
            <a:r>
              <a:rPr sz="1000" b="0">
                <a:solidFill>
                  <a:srgbClr val="5C7084"/>
                </a:solidFill>
                <a:latin typeface="Aptos"/>
              </a:rPr>
              <a:t>movement between two neighbouring frames</a:t>
            </a:r>
          </a:p>
          <a:p>
            <a:pPr>
              <a:spcAft>
                <a:spcPts val="100"/>
              </a:spcAft>
            </a:pPr>
            <a:r>
              <a:rPr sz="1150" b="1">
                <a:solidFill>
                  <a:srgbClr val="16324F"/>
                </a:solidFill>
                <a:latin typeface="Consolas"/>
              </a:rPr>
              <a:t>WOBBLE = median{ step }</a:t>
            </a:r>
          </a:p>
          <a:p>
            <a:pPr>
              <a:spcAft>
                <a:spcPts val="700"/>
              </a:spcAft>
            </a:pPr>
            <a:r>
              <a:rPr sz="1000" b="0">
                <a:solidFill>
                  <a:srgbClr val="5C7084"/>
                </a:solidFill>
                <a:latin typeface="Aptos"/>
              </a:rPr>
              <a:t>the typical shiver - fast shaking that goes nowhere</a:t>
            </a:r>
          </a:p>
          <a:p>
            <a:pPr>
              <a:spcAft>
                <a:spcPts val="100"/>
              </a:spcAft>
            </a:pPr>
            <a:r>
              <a:rPr sz="1150" b="1">
                <a:solidFill>
                  <a:srgbClr val="16324F"/>
                </a:solidFill>
                <a:latin typeface="Consolas"/>
              </a:rPr>
              <a:t>JUMP = P95{ step }</a:t>
            </a:r>
          </a:p>
          <a:p>
            <a:pPr>
              <a:spcAft>
                <a:spcPts val="700"/>
              </a:spcAft>
            </a:pPr>
            <a:r>
              <a:rPr sz="1000" b="0">
                <a:solidFill>
                  <a:srgbClr val="5C7084"/>
                </a:solidFill>
                <a:latin typeface="Aptos"/>
              </a:rPr>
              <a:t>the rare biggest hop: a glitch in 1% of frames is invisible to the median, but the 95th percentile catches it</a:t>
            </a:r>
          </a:p>
          <a:p>
            <a:pPr>
              <a:spcAft>
                <a:spcPts val="100"/>
              </a:spcAft>
            </a:pPr>
            <a:r>
              <a:rPr sz="1150" b="0">
                <a:solidFill>
                  <a:srgbClr val="16324F"/>
                </a:solidFill>
                <a:latin typeface="Consolas"/>
              </a:rPr>
              <a:t>c = ( median{pₓ}, median{p_y}, median{p_z} )</a:t>
            </a:r>
          </a:p>
          <a:p>
            <a:pPr>
              <a:spcAft>
                <a:spcPts val="700"/>
              </a:spcAft>
            </a:pPr>
            <a:r>
              <a:rPr sz="1000" b="0">
                <a:solidFill>
                  <a:srgbClr val="5C7084"/>
                </a:solidFill>
                <a:latin typeface="Aptos"/>
              </a:rPr>
              <a:t>home = componentwise median position</a:t>
            </a:r>
          </a:p>
          <a:p>
            <a:pPr>
              <a:spcAft>
                <a:spcPts val="100"/>
              </a:spcAft>
            </a:pPr>
            <a:r>
              <a:rPr sz="1150" b="1">
                <a:solidFill>
                  <a:srgbClr val="16324F"/>
                </a:solidFill>
                <a:latin typeface="Consolas"/>
              </a:rPr>
              <a:t>DRIFT = median{ ‖p[n] − c‖ } × 1000</a:t>
            </a:r>
          </a:p>
          <a:p>
            <a:pPr>
              <a:spcAft>
                <a:spcPts val="0"/>
              </a:spcAft>
            </a:pPr>
            <a:r>
              <a:rPr sz="1000" b="0">
                <a:solidFill>
                  <a:srgbClr val="5C7084"/>
                </a:solidFill>
                <a:latin typeface="Aptos"/>
              </a:rPr>
              <a:t>typical distance from home - catches a slow crawl even when every single step is tiny</a:t>
            </a:r>
          </a:p>
        </p:txBody>
      </p:sp>
      <p:sp>
        <p:nvSpPr>
          <p:cNvPr id="8" name="TextBox 7"/>
          <p:cNvSpPr txBox="1"/>
          <p:nvPr/>
        </p:nvSpPr>
        <p:spPr>
          <a:xfrm>
            <a:off x="6446520" y="1444752"/>
            <a:ext cx="5120640" cy="274320"/>
          </a:xfrm>
          <a:prstGeom prst="rect">
            <a:avLst/>
          </a:prstGeom>
          <a:noFill/>
        </p:spPr>
        <p:txBody>
          <a:bodyPr wrap="square">
            <a:spAutoFit/>
          </a:bodyPr>
          <a:lstStyle/>
          <a:p>
            <a:pPr>
              <a:spcAft>
                <a:spcPts val="0"/>
              </a:spcAft>
            </a:pPr>
            <a:r>
              <a:rPr sz="1250" b="1">
                <a:solidFill>
                  <a:srgbClr val="102A43"/>
                </a:solidFill>
                <a:latin typeface="Aptos"/>
              </a:rPr>
              <a:t>ROTATION  (q[n] = unit quaternion of frame n)</a:t>
            </a:r>
          </a:p>
        </p:txBody>
      </p:sp>
      <p:sp>
        <p:nvSpPr>
          <p:cNvPr id="9" name="TextBox 8"/>
          <p:cNvSpPr txBox="1"/>
          <p:nvPr/>
        </p:nvSpPr>
        <p:spPr>
          <a:xfrm>
            <a:off x="6446520" y="1783080"/>
            <a:ext cx="5120640" cy="3291840"/>
          </a:xfrm>
          <a:prstGeom prst="rect">
            <a:avLst/>
          </a:prstGeom>
          <a:noFill/>
        </p:spPr>
        <p:txBody>
          <a:bodyPr wrap="square">
            <a:spAutoFit/>
          </a:bodyPr>
          <a:lstStyle/>
          <a:p>
            <a:pPr>
              <a:spcAft>
                <a:spcPts val="100"/>
              </a:spcAft>
            </a:pPr>
            <a:r>
              <a:rPr sz="1150" b="0" dirty="0">
                <a:solidFill>
                  <a:srgbClr val="16324F"/>
                </a:solidFill>
                <a:latin typeface="Consolas"/>
              </a:rPr>
              <a:t>θ(</a:t>
            </a:r>
            <a:r>
              <a:rPr sz="1150" b="0" dirty="0" err="1">
                <a:solidFill>
                  <a:srgbClr val="16324F"/>
                </a:solidFill>
                <a:latin typeface="Consolas"/>
              </a:rPr>
              <a:t>q₁,q</a:t>
            </a:r>
            <a:r>
              <a:rPr sz="1150" b="0" dirty="0">
                <a:solidFill>
                  <a:srgbClr val="16324F"/>
                </a:solidFill>
                <a:latin typeface="Consolas"/>
              </a:rPr>
              <a:t>₂) = 2·arccos|q₁·q₂| · 180/π  (deg)</a:t>
            </a:r>
          </a:p>
          <a:p>
            <a:pPr>
              <a:spcAft>
                <a:spcPts val="700"/>
              </a:spcAft>
            </a:pPr>
            <a:r>
              <a:rPr sz="1000" b="0" dirty="0">
                <a:solidFill>
                  <a:srgbClr val="5C7084"/>
                </a:solidFill>
                <a:latin typeface="Aptos"/>
              </a:rPr>
              <a:t>shortest turning angle; |·| because q and −q are the same physical rotation</a:t>
            </a:r>
          </a:p>
          <a:p>
            <a:pPr>
              <a:spcAft>
                <a:spcPts val="100"/>
              </a:spcAft>
            </a:pPr>
            <a:r>
              <a:rPr sz="1150" b="0" dirty="0">
                <a:solidFill>
                  <a:srgbClr val="16324F"/>
                </a:solidFill>
                <a:latin typeface="Consolas"/>
              </a:rPr>
              <a:t>r[n] = θ(q[n], q[n+1])</a:t>
            </a:r>
          </a:p>
          <a:p>
            <a:pPr>
              <a:spcAft>
                <a:spcPts val="700"/>
              </a:spcAft>
            </a:pPr>
            <a:r>
              <a:rPr sz="1150" b="1" dirty="0">
                <a:solidFill>
                  <a:srgbClr val="16324F"/>
                </a:solidFill>
                <a:latin typeface="Consolas"/>
              </a:rPr>
              <a:t>WOBBLE = median{ r }     JUMP = P95{ r }</a:t>
            </a:r>
          </a:p>
          <a:p>
            <a:pPr>
              <a:spcAft>
                <a:spcPts val="100"/>
              </a:spcAft>
            </a:pPr>
            <a:r>
              <a:rPr sz="1150" b="0" dirty="0">
                <a:solidFill>
                  <a:srgbClr val="16324F"/>
                </a:solidFill>
                <a:latin typeface="Consolas"/>
              </a:rPr>
              <a:t>q* = </a:t>
            </a:r>
            <a:r>
              <a:rPr sz="1150" b="0" dirty="0" err="1">
                <a:solidFill>
                  <a:srgbClr val="16324F"/>
                </a:solidFill>
                <a:latin typeface="Consolas"/>
              </a:rPr>
              <a:t>argmin</a:t>
            </a:r>
            <a:r>
              <a:rPr sz="1150" b="0" dirty="0">
                <a:solidFill>
                  <a:srgbClr val="16324F"/>
                </a:solidFill>
                <a:latin typeface="Consolas"/>
              </a:rPr>
              <a:t> over q[</a:t>
            </a:r>
            <a:r>
              <a:rPr sz="1150" b="0" dirty="0" err="1">
                <a:solidFill>
                  <a:srgbClr val="16324F"/>
                </a:solidFill>
                <a:latin typeface="Consolas"/>
              </a:rPr>
              <a:t>i</a:t>
            </a:r>
            <a:r>
              <a:rPr sz="1150" b="0" dirty="0">
                <a:solidFill>
                  <a:srgbClr val="16324F"/>
                </a:solidFill>
                <a:latin typeface="Consolas"/>
              </a:rPr>
              <a:t>] of Σⱼ (1 − |q[</a:t>
            </a:r>
            <a:r>
              <a:rPr sz="1150" b="0" dirty="0" err="1">
                <a:solidFill>
                  <a:srgbClr val="16324F"/>
                </a:solidFill>
                <a:latin typeface="Consolas"/>
              </a:rPr>
              <a:t>i</a:t>
            </a:r>
            <a:r>
              <a:rPr sz="1150" b="0" dirty="0">
                <a:solidFill>
                  <a:srgbClr val="16324F"/>
                </a:solidFill>
                <a:latin typeface="Consolas"/>
              </a:rPr>
              <a:t>]·q[j]|)</a:t>
            </a:r>
          </a:p>
          <a:p>
            <a:pPr>
              <a:spcAft>
                <a:spcPts val="700"/>
              </a:spcAft>
            </a:pPr>
            <a:r>
              <a:rPr sz="1000" b="0" dirty="0">
                <a:solidFill>
                  <a:srgbClr val="5C7084"/>
                </a:solidFill>
                <a:latin typeface="Aptos"/>
              </a:rPr>
              <a:t>home = MEDOID: the one measured rotation closest to all others (a </a:t>
            </a:r>
            <a:r>
              <a:rPr sz="1000" b="0" dirty="0" err="1">
                <a:solidFill>
                  <a:srgbClr val="5C7084"/>
                </a:solidFill>
                <a:latin typeface="Aptos"/>
              </a:rPr>
              <a:t>componentwise</a:t>
            </a:r>
            <a:r>
              <a:rPr sz="1000" b="0" dirty="0">
                <a:solidFill>
                  <a:srgbClr val="5C7084"/>
                </a:solidFill>
                <a:latin typeface="Aptos"/>
              </a:rPr>
              <a:t> median is invalid for quaternions)</a:t>
            </a:r>
          </a:p>
          <a:p>
            <a:pPr>
              <a:spcAft>
                <a:spcPts val="100"/>
              </a:spcAft>
            </a:pPr>
            <a:r>
              <a:rPr sz="1150" b="1" dirty="0">
                <a:solidFill>
                  <a:srgbClr val="16324F"/>
                </a:solidFill>
                <a:latin typeface="Consolas"/>
              </a:rPr>
              <a:t>DRIFT = median{ θ(q[n], q*) }</a:t>
            </a:r>
          </a:p>
          <a:p>
            <a:pPr>
              <a:spcAft>
                <a:spcPts val="0"/>
              </a:spcAft>
            </a:pPr>
            <a:r>
              <a:rPr sz="1000" b="0" dirty="0">
                <a:solidFill>
                  <a:srgbClr val="5C7084"/>
                </a:solidFill>
                <a:latin typeface="Aptos"/>
              </a:rPr>
              <a:t>typical angle away from the rotation home</a:t>
            </a:r>
          </a:p>
        </p:txBody>
      </p:sp>
      <p:sp>
        <p:nvSpPr>
          <p:cNvPr id="11" name="TextBox 10"/>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filter_errors.py::measure_errors - returns wobble / jump / drift for position (mm) and rotation (deg)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52" y="256032"/>
            <a:ext cx="7616952" cy="274320"/>
          </a:xfrm>
          <a:prstGeom prst="rect">
            <a:avLst/>
          </a:prstGeom>
          <a:noFill/>
        </p:spPr>
        <p:txBody>
          <a:bodyPr wrap="square">
            <a:spAutoFit/>
          </a:bodyPr>
          <a:lstStyle/>
          <a:p>
            <a:pPr>
              <a:spcAft>
                <a:spcPts val="0"/>
              </a:spcAft>
            </a:pPr>
            <a:r>
              <a:rPr sz="1000" b="1">
                <a:solidFill>
                  <a:srgbClr val="5C7084"/>
                </a:solidFill>
                <a:latin typeface="Aptos"/>
              </a:rPr>
              <a:t>CURRENT QUEST RUNTIME</a:t>
            </a:r>
          </a:p>
        </p:txBody>
      </p:sp>
      <p:sp>
        <p:nvSpPr>
          <p:cNvPr id="3" name="TextBox 2"/>
          <p:cNvSpPr txBox="1"/>
          <p:nvPr/>
        </p:nvSpPr>
        <p:spPr>
          <a:xfrm>
            <a:off x="530352" y="530352"/>
            <a:ext cx="10981944" cy="502920"/>
          </a:xfrm>
          <a:prstGeom prst="rect">
            <a:avLst/>
          </a:prstGeom>
          <a:noFill/>
        </p:spPr>
        <p:txBody>
          <a:bodyPr wrap="square">
            <a:spAutoFit/>
          </a:bodyPr>
          <a:lstStyle/>
          <a:p>
            <a:pPr>
              <a:spcAft>
                <a:spcPts val="0"/>
              </a:spcAft>
            </a:pPr>
            <a:r>
              <a:rPr sz="2400" b="1">
                <a:solidFill>
                  <a:srgbClr val="102A43"/>
                </a:solidFill>
                <a:latin typeface="Aptos"/>
              </a:rPr>
              <a:t>Measuring wrongness 2/3 - the four movement rulers</a:t>
            </a:r>
          </a:p>
        </p:txBody>
      </p:sp>
      <p:sp>
        <p:nvSpPr>
          <p:cNvPr id="4" name="Rectangle 3"/>
          <p:cNvSpPr/>
          <p:nvPr/>
        </p:nvSpPr>
        <p:spPr>
          <a:xfrm>
            <a:off x="530352" y="1280160"/>
            <a:ext cx="11128248" cy="36576"/>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73384" y="6437376"/>
            <a:ext cx="585216" cy="182880"/>
          </a:xfrm>
          <a:prstGeom prst="rect">
            <a:avLst/>
          </a:prstGeom>
          <a:noFill/>
        </p:spPr>
        <p:txBody>
          <a:bodyPr wrap="square">
            <a:spAutoFit/>
          </a:bodyPr>
          <a:lstStyle/>
          <a:p>
            <a:pPr>
              <a:spcAft>
                <a:spcPts val="0"/>
              </a:spcAft>
            </a:pPr>
            <a:r>
              <a:rPr sz="800" b="0">
                <a:solidFill>
                  <a:srgbClr val="5C7084"/>
                </a:solidFill>
                <a:latin typeface="Aptos"/>
              </a:rPr>
              <a:t>20</a:t>
            </a:r>
          </a:p>
        </p:txBody>
      </p:sp>
      <p:sp>
        <p:nvSpPr>
          <p:cNvPr id="6" name="TextBox 5"/>
          <p:cNvSpPr txBox="1"/>
          <p:nvPr/>
        </p:nvSpPr>
        <p:spPr>
          <a:xfrm>
            <a:off x="640080" y="1444752"/>
            <a:ext cx="10881360" cy="623248"/>
          </a:xfrm>
          <a:prstGeom prst="rect">
            <a:avLst/>
          </a:prstGeom>
          <a:noFill/>
        </p:spPr>
        <p:txBody>
          <a:bodyPr wrap="square">
            <a:spAutoFit/>
          </a:bodyPr>
          <a:lstStyle/>
          <a:p>
            <a:pPr>
              <a:spcAft>
                <a:spcPts val="0"/>
              </a:spcAft>
            </a:pPr>
            <a:r>
              <a:rPr sz="1150" b="0" dirty="0">
                <a:solidFill>
                  <a:srgbClr val="16324F"/>
                </a:solidFill>
                <a:latin typeface="Aptos"/>
              </a:rPr>
              <a:t>Setup: the mannequin was slid A → B → A, physically measured D = 617.5 mm.  u = unit vector along the raw A→B line.  </a:t>
            </a:r>
            <a:r>
              <a:rPr sz="1150" b="0" dirty="0" err="1">
                <a:solidFill>
                  <a:srgbClr val="16324F"/>
                </a:solidFill>
                <a:latin typeface="Aptos"/>
              </a:rPr>
              <a:t>out_A</a:t>
            </a:r>
            <a:r>
              <a:rPr sz="1150" b="0" dirty="0">
                <a:solidFill>
                  <a:srgbClr val="16324F"/>
                </a:solidFill>
                <a:latin typeface="Aptos"/>
              </a:rPr>
              <a:t>, </a:t>
            </a:r>
            <a:r>
              <a:rPr sz="1150" b="0" dirty="0" err="1">
                <a:solidFill>
                  <a:srgbClr val="16324F"/>
                </a:solidFill>
                <a:latin typeface="Aptos"/>
              </a:rPr>
              <a:t>out_B</a:t>
            </a:r>
            <a:r>
              <a:rPr sz="1150" b="0" dirty="0">
                <a:solidFill>
                  <a:srgbClr val="16324F"/>
                </a:solidFill>
                <a:latin typeface="Aptos"/>
              </a:rPr>
              <a:t>, </a:t>
            </a:r>
            <a:r>
              <a:rPr sz="1150" b="0" dirty="0" err="1">
                <a:solidFill>
                  <a:srgbClr val="16324F"/>
                </a:solidFill>
                <a:latin typeface="Aptos"/>
              </a:rPr>
              <a:t>out_return</a:t>
            </a:r>
            <a:r>
              <a:rPr sz="1150" b="0" dirty="0">
                <a:solidFill>
                  <a:srgbClr val="16324F"/>
                </a:solidFill>
                <a:latin typeface="Aptos"/>
              </a:rPr>
              <a:t> = the avatar's median position in the three still phases.</a:t>
            </a:r>
            <a:endParaRPr lang="en-GB" sz="1150" b="0" dirty="0">
              <a:solidFill>
                <a:srgbClr val="16324F"/>
              </a:solidFill>
              <a:latin typeface="Aptos"/>
            </a:endParaRPr>
          </a:p>
          <a:p>
            <a:pPr>
              <a:spcAft>
                <a:spcPts val="0"/>
              </a:spcAft>
            </a:pPr>
            <a:endParaRPr sz="1150" b="0" dirty="0">
              <a:solidFill>
                <a:srgbClr val="16324F"/>
              </a:solidFill>
              <a:latin typeface="Aptos"/>
            </a:endParaRPr>
          </a:p>
        </p:txBody>
      </p:sp>
      <p:sp>
        <p:nvSpPr>
          <p:cNvPr id="7" name="TextBox 6"/>
          <p:cNvSpPr txBox="1"/>
          <p:nvPr/>
        </p:nvSpPr>
        <p:spPr>
          <a:xfrm>
            <a:off x="640080" y="2286000"/>
            <a:ext cx="10881360" cy="3749039"/>
          </a:xfrm>
          <a:prstGeom prst="rect">
            <a:avLst/>
          </a:prstGeom>
          <a:noFill/>
        </p:spPr>
        <p:txBody>
          <a:bodyPr wrap="square">
            <a:spAutoFit/>
          </a:bodyPr>
          <a:lstStyle/>
          <a:p>
            <a:pPr>
              <a:spcAft>
                <a:spcPts val="100"/>
              </a:spcAft>
            </a:pPr>
            <a:r>
              <a:rPr sz="1200" b="1">
                <a:solidFill>
                  <a:srgbClr val="16324F"/>
                </a:solidFill>
                <a:latin typeface="Consolas"/>
              </a:rPr>
              <a:t>RETAINED = ½ [ (out_B − out_A)·u / D  +  (out_return − out_B)·(−u) / D ]</a:t>
            </a:r>
          </a:p>
          <a:p>
            <a:pPr>
              <a:spcAft>
                <a:spcPts val="900"/>
              </a:spcAft>
            </a:pPr>
            <a:r>
              <a:rPr sz="1050" b="0">
                <a:solidFill>
                  <a:srgbClr val="5C7084"/>
                </a:solidFill>
                <a:latin typeface="Aptos"/>
              </a:rPr>
              <a:t>share of the real distance travelled, out-move and back-move averaged; 1.0 = full distance. The projection ·u counts only motion along the true line - a sideways miss is charged to ENDPOINT instead.</a:t>
            </a:r>
          </a:p>
          <a:p>
            <a:pPr>
              <a:spcAft>
                <a:spcPts val="100"/>
              </a:spcAft>
            </a:pPr>
            <a:r>
              <a:rPr sz="1200" b="0">
                <a:solidFill>
                  <a:srgbClr val="16324F"/>
                </a:solidFill>
                <a:latin typeface="Consolas"/>
              </a:rPr>
              <a:t>g(t) = (p(t) − A)·u / D          t₉₀ = first moment with g(t) ≥ 0.90</a:t>
            </a:r>
          </a:p>
          <a:p>
            <a:pPr>
              <a:spcAft>
                <a:spcPts val="100"/>
              </a:spcAft>
            </a:pPr>
            <a:r>
              <a:rPr sz="1200" b="1">
                <a:solidFill>
                  <a:srgbClr val="16324F"/>
                </a:solidFill>
                <a:latin typeface="Consolas"/>
              </a:rPr>
              <a:t>DELAY = max(0, t₉₀ filtered − t₉₀ raw),  averaged over out and back</a:t>
            </a:r>
          </a:p>
          <a:p>
            <a:pPr>
              <a:spcAft>
                <a:spcPts val="900"/>
              </a:spcAft>
            </a:pPr>
            <a:r>
              <a:rPr sz="1050" b="0">
                <a:solidFill>
                  <a:srgbClr val="5C7084"/>
                </a:solidFill>
                <a:latin typeface="Aptos"/>
              </a:rPr>
              <a:t>seconds the avatar covers 90% of the trip later than the raw markers. If the avatar NEVER reaches 90%, delay is set to 10⁶ - that candidate is instantly eliminated.</a:t>
            </a:r>
          </a:p>
          <a:p>
            <a:pPr>
              <a:spcAft>
                <a:spcPts val="100"/>
              </a:spcAft>
            </a:pPr>
            <a:r>
              <a:rPr sz="1200" b="1">
                <a:solidFill>
                  <a:srgbClr val="16324F"/>
                </a:solidFill>
                <a:latin typeface="Consolas"/>
              </a:rPr>
              <a:t>ENDPOINT = ‖ out_B − (A + D·u) ‖ × 1000   (mm)</a:t>
            </a:r>
          </a:p>
          <a:p>
            <a:pPr>
              <a:spcAft>
                <a:spcPts val="900"/>
              </a:spcAft>
            </a:pPr>
            <a:r>
              <a:rPr sz="1050" b="0">
                <a:solidFill>
                  <a:srgbClr val="5C7084"/>
                </a:solidFill>
                <a:latin typeface="Aptos"/>
              </a:rPr>
              <a:t>miss between where the avatar stopped and where the mannequin truly is</a:t>
            </a:r>
          </a:p>
          <a:p>
            <a:pPr>
              <a:spcAft>
                <a:spcPts val="100"/>
              </a:spcAft>
            </a:pPr>
            <a:r>
              <a:rPr sz="1200" b="1">
                <a:solidFill>
                  <a:srgbClr val="16324F"/>
                </a:solidFill>
                <a:latin typeface="Consolas"/>
              </a:rPr>
              <a:t>RETURN = ‖ out_return − A ‖ × 1000   (mm)</a:t>
            </a:r>
          </a:p>
          <a:p>
            <a:pPr>
              <a:spcAft>
                <a:spcPts val="0"/>
              </a:spcAft>
            </a:pPr>
            <a:r>
              <a:rPr sz="1050" b="0">
                <a:solidFill>
                  <a:srgbClr val="5C7084"/>
                </a:solidFill>
                <a:latin typeface="Aptos"/>
              </a:rPr>
              <a:t>miss from the original spot after sliding back</a:t>
            </a:r>
          </a:p>
        </p:txBody>
      </p:sp>
      <p:sp>
        <p:nvSpPr>
          <p:cNvPr id="8" name="Rounded Rectangle 7"/>
          <p:cNvSpPr/>
          <p:nvPr/>
        </p:nvSpPr>
        <p:spPr>
          <a:xfrm>
            <a:off x="822960" y="5623560"/>
            <a:ext cx="10515600" cy="640080"/>
          </a:xfrm>
          <a:prstGeom prst="roundRect">
            <a:avLst/>
          </a:prstGeom>
          <a:solidFill>
            <a:srgbClr val="E4EAF1"/>
          </a:solidFill>
          <a:ln>
            <a:solidFill>
              <a:srgbClr val="102A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16324F"/>
                </a:solidFill>
                <a:latin typeface="Aptos"/>
              </a:rPr>
              <a:t>A and B come from the RAW markers, D from a tape measure - the filtered avatar is always graded against physical reality, never against itself.</a:t>
            </a:r>
          </a:p>
        </p:txBody>
      </p:sp>
      <p:sp>
        <p:nvSpPr>
          <p:cNvPr id="9" name="TextBox 8"/>
          <p:cNvSpPr txBox="1"/>
          <p:nvPr/>
        </p:nvSpPr>
        <p:spPr>
          <a:xfrm>
            <a:off x="530352" y="6473952"/>
            <a:ext cx="9784080" cy="182880"/>
          </a:xfrm>
          <a:prstGeom prst="rect">
            <a:avLst/>
          </a:prstGeom>
          <a:noFill/>
        </p:spPr>
        <p:txBody>
          <a:bodyPr wrap="square">
            <a:spAutoFit/>
          </a:bodyPr>
          <a:lstStyle/>
          <a:p>
            <a:pPr>
              <a:spcAft>
                <a:spcPts val="0"/>
              </a:spcAft>
            </a:pPr>
            <a:r>
              <a:rPr sz="800" b="0">
                <a:solidFill>
                  <a:srgbClr val="5C7084"/>
                </a:solidFill>
                <a:latin typeface="Aptos"/>
              </a:rPr>
              <a:t>tune_filter.py::movement_metrics / crossing_time - five labelled phases: still A, move, still B, move back, still 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CE07DC-A608-85FD-EF83-84DDFB72EE5F}"/>
              </a:ext>
            </a:extLst>
          </p:cNvPr>
          <p:cNvSpPr>
            <a:spLocks noChangeArrowheads="1"/>
          </p:cNvSpPr>
          <p:nvPr/>
        </p:nvSpPr>
        <p:spPr bwMode="auto">
          <a:xfrm>
            <a:off x="0" y="-6342420"/>
            <a:ext cx="6921767" cy="1314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Yeah, the formulas look tougher than the idea. Use a 1D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Say the true mannequin motion is:</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 = 0 cm B = 100 cm then back to A = 0 cm</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Now suppose the filtered avatar does:</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start: 0 cm at B: 96 cm after back: 3 cm</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RETAINED</a:t>
            </a:r>
            <a:r>
              <a:rPr kumimoji="0" lang="en-US" altLang="en-US" sz="1800" b="0" i="0" u="none" strike="noStrike" cap="none" normalizeH="0" baseline="0" dirty="0">
                <a:ln>
                  <a:noFill/>
                </a:ln>
                <a:solidFill>
                  <a:schemeClr val="tx1"/>
                </a:solidFill>
                <a:effectLst/>
                <a:latin typeface="Arial" panose="020B0604020202020204" pitchFamily="34" charset="0"/>
              </a:rPr>
              <a:t> = “how much of the real travel did it preserve?”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 </a:t>
            </a:r>
            <a:r>
              <a:rPr kumimoji="0" lang="en-US" altLang="en-US" sz="1000" b="0" i="0" u="none" strike="noStrike" cap="none" normalizeH="0" baseline="0" dirty="0">
                <a:ln>
                  <a:noFill/>
                </a:ln>
                <a:solidFill>
                  <a:schemeClr val="tx1"/>
                </a:solidFill>
                <a:effectLst/>
                <a:latin typeface="Arial Unicode MS"/>
              </a:rPr>
              <a:t>96 / 100 = 0.96</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back: </a:t>
            </a:r>
            <a:r>
              <a:rPr kumimoji="0" lang="en-US" altLang="en-US" sz="1000" b="0" i="0" u="none" strike="noStrike" cap="none" normalizeH="0" baseline="0" dirty="0">
                <a:ln>
                  <a:noFill/>
                </a:ln>
                <a:solidFill>
                  <a:schemeClr val="tx1"/>
                </a:solidFill>
                <a:effectLst/>
                <a:latin typeface="Arial Unicode MS"/>
              </a:rPr>
              <a:t>(96 - 3) / 100 = 0.93</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average: </a:t>
            </a:r>
            <a:r>
              <a:rPr kumimoji="0" lang="en-US" altLang="en-US" sz="1000" b="0" i="0" u="none" strike="noStrike" cap="none" normalizeH="0" baseline="0" dirty="0">
                <a:ln>
                  <a:noFill/>
                </a:ln>
                <a:solidFill>
                  <a:schemeClr val="tx1"/>
                </a:solidFill>
                <a:effectLst/>
                <a:latin typeface="Arial Unicode MS"/>
              </a:rPr>
              <a:t>(0.96 + 0.93)/2 = 0.945</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 </a:t>
            </a:r>
            <a:r>
              <a:rPr kumimoji="0" lang="en-US" altLang="en-US" sz="1800" b="1" i="0" u="none" strike="noStrike" cap="none" normalizeH="0" baseline="0" dirty="0">
                <a:ln>
                  <a:noFill/>
                </a:ln>
                <a:solidFill>
                  <a:schemeClr val="tx1"/>
                </a:solidFill>
                <a:effectLst/>
                <a:latin typeface="Arial" panose="020B0604020202020204" pitchFamily="34" charset="0"/>
              </a:rPr>
              <a:t>94.5% retained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DELAY</a:t>
            </a:r>
            <a:r>
              <a:rPr kumimoji="0" lang="en-US" altLang="en-US" sz="1800" b="0" i="0" u="none" strike="noStrike" cap="none" normalizeH="0" baseline="0" dirty="0">
                <a:ln>
                  <a:noFill/>
                </a:ln>
                <a:solidFill>
                  <a:schemeClr val="tx1"/>
                </a:solidFill>
                <a:effectLst/>
                <a:latin typeface="Arial" panose="020B0604020202020204" pitchFamily="34" charset="0"/>
              </a:rPr>
              <a:t> = “how late did filtered motion reach 90%?”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raw reaches 90 cm at </a:t>
            </a:r>
            <a:r>
              <a:rPr kumimoji="0" lang="en-US" altLang="en-US" sz="1000" b="0" i="0" u="none" strike="noStrike" cap="none" normalizeH="0" baseline="0" dirty="0">
                <a:ln>
                  <a:noFill/>
                </a:ln>
                <a:solidFill>
                  <a:schemeClr val="tx1"/>
                </a:solidFill>
                <a:effectLst/>
                <a:latin typeface="Arial Unicode MS"/>
              </a:rPr>
              <a:t>1.00 s</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filtered reaches 90 cm at </a:t>
            </a:r>
            <a:r>
              <a:rPr kumimoji="0" lang="en-US" altLang="en-US" sz="1000" b="0" i="0" u="none" strike="noStrike" cap="none" normalizeH="0" baseline="0" dirty="0">
                <a:ln>
                  <a:noFill/>
                </a:ln>
                <a:solidFill>
                  <a:schemeClr val="tx1"/>
                </a:solidFill>
                <a:effectLst/>
                <a:latin typeface="Arial Unicode MS"/>
              </a:rPr>
              <a:t>1.20 s</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delay = </a:t>
            </a:r>
            <a:r>
              <a:rPr kumimoji="0" lang="en-US" altLang="en-US" sz="1000" b="0" i="0" u="none" strike="noStrike" cap="none" normalizeH="0" baseline="0" dirty="0">
                <a:ln>
                  <a:noFill/>
                </a:ln>
                <a:solidFill>
                  <a:schemeClr val="tx1"/>
                </a:solidFill>
                <a:effectLst/>
                <a:latin typeface="Arial Unicode MS"/>
              </a:rPr>
              <a:t>0.20 s</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ENDPOINT</a:t>
            </a:r>
            <a:r>
              <a:rPr kumimoji="0" lang="en-US" altLang="en-US" sz="1800" b="0" i="0" u="none" strike="noStrike" cap="none" normalizeH="0" baseline="0" dirty="0">
                <a:ln>
                  <a:noFill/>
                </a:ln>
                <a:solidFill>
                  <a:schemeClr val="tx1"/>
                </a:solidFill>
                <a:effectLst/>
                <a:latin typeface="Arial" panose="020B0604020202020204" pitchFamily="34" charset="0"/>
              </a:rPr>
              <a:t> = “how far from B did it stop?”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true B = </a:t>
            </a:r>
            <a:r>
              <a:rPr kumimoji="0" lang="en-US" altLang="en-US" sz="1000" b="0" i="0" u="none" strike="noStrike" cap="none" normalizeH="0" baseline="0" dirty="0">
                <a:ln>
                  <a:noFill/>
                </a:ln>
                <a:solidFill>
                  <a:schemeClr val="tx1"/>
                </a:solidFill>
                <a:effectLst/>
                <a:latin typeface="Arial Unicode MS"/>
              </a:rPr>
              <a:t>100 cm</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filtered B = </a:t>
            </a:r>
            <a:r>
              <a:rPr kumimoji="0" lang="en-US" altLang="en-US" sz="1000" b="0" i="0" u="none" strike="noStrike" cap="none" normalizeH="0" baseline="0" dirty="0">
                <a:ln>
                  <a:noFill/>
                </a:ln>
                <a:solidFill>
                  <a:schemeClr val="tx1"/>
                </a:solidFill>
                <a:effectLst/>
                <a:latin typeface="Arial Unicode MS"/>
              </a:rPr>
              <a:t>96 cm</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endpoint error = </a:t>
            </a:r>
            <a:r>
              <a:rPr kumimoji="0" lang="en-US" altLang="en-US" sz="1000" b="0" i="0" u="none" strike="noStrike" cap="none" normalizeH="0" baseline="0" dirty="0">
                <a:ln>
                  <a:noFill/>
                </a:ln>
                <a:solidFill>
                  <a:schemeClr val="tx1"/>
                </a:solidFill>
                <a:effectLst/>
                <a:latin typeface="Arial Unicode MS"/>
              </a:rPr>
              <a:t>4 cm = 40 mm</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RETURN</a:t>
            </a:r>
            <a:r>
              <a:rPr kumimoji="0" lang="en-US" altLang="en-US" sz="1800" b="0" i="0" u="none" strike="noStrike" cap="none" normalizeH="0" baseline="0" dirty="0">
                <a:ln>
                  <a:noFill/>
                </a:ln>
                <a:solidFill>
                  <a:schemeClr val="tx1"/>
                </a:solidFill>
                <a:effectLst/>
                <a:latin typeface="Arial" panose="020B0604020202020204" pitchFamily="34" charset="0"/>
              </a:rPr>
              <a:t> = “after coming back, how far from A is it?”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true A = </a:t>
            </a:r>
            <a:r>
              <a:rPr kumimoji="0" lang="en-US" altLang="en-US" sz="1000" b="0" i="0" u="none" strike="noStrike" cap="none" normalizeH="0" baseline="0" dirty="0">
                <a:ln>
                  <a:noFill/>
                </a:ln>
                <a:solidFill>
                  <a:schemeClr val="tx1"/>
                </a:solidFill>
                <a:effectLst/>
                <a:latin typeface="Arial Unicode MS"/>
              </a:rPr>
              <a:t>0 cm</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filtered return = </a:t>
            </a:r>
            <a:r>
              <a:rPr kumimoji="0" lang="en-US" altLang="en-US" sz="1000" b="0" i="0" u="none" strike="noStrike" cap="none" normalizeH="0" baseline="0" dirty="0">
                <a:ln>
                  <a:noFill/>
                </a:ln>
                <a:solidFill>
                  <a:schemeClr val="tx1"/>
                </a:solidFill>
                <a:effectLst/>
                <a:latin typeface="Arial Unicode MS"/>
              </a:rPr>
              <a:t>3 cm</a:t>
            </a:r>
            <a:endParaRPr kumimoji="0" lang="en-US" altLang="en-US" sz="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return error = </a:t>
            </a:r>
            <a:r>
              <a:rPr kumimoji="0" lang="en-US" altLang="en-US" sz="1000" b="0" i="0" u="none" strike="noStrike" cap="none" normalizeH="0" baseline="0" dirty="0">
                <a:ln>
                  <a:noFill/>
                </a:ln>
                <a:solidFill>
                  <a:schemeClr val="tx1"/>
                </a:solidFill>
                <a:effectLst/>
                <a:latin typeface="Arial Unicode MS"/>
              </a:rPr>
              <a:t>3 cm = 30 mm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3200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D131B1-FB39-30F6-75FF-A15D0FD43E9B}"/>
              </a:ext>
            </a:extLst>
          </p:cNvPr>
          <p:cNvSpPr txBox="1"/>
          <p:nvPr/>
        </p:nvSpPr>
        <p:spPr>
          <a:xfrm>
            <a:off x="405036" y="1135328"/>
            <a:ext cx="8579404" cy="3970318"/>
          </a:xfrm>
          <a:prstGeom prst="rect">
            <a:avLst/>
          </a:prstGeom>
          <a:noFill/>
        </p:spPr>
        <p:txBody>
          <a:bodyPr wrap="square" rtlCol="0">
            <a:spAutoFit/>
          </a:bodyPr>
          <a:lstStyle/>
          <a:p>
            <a:r>
              <a:rPr lang="en-GB" dirty="0"/>
              <a:t>1.Filetring</a:t>
            </a:r>
          </a:p>
          <a:p>
            <a:pPr marL="285750" indent="-285750">
              <a:buFont typeface="Arial" panose="020B0604020202020204" pitchFamily="34" charset="0"/>
              <a:buChar char="•"/>
            </a:pPr>
            <a:r>
              <a:rPr lang="en-GB" dirty="0"/>
              <a:t>Exp done/Mostafa/filter param found</a:t>
            </a:r>
          </a:p>
          <a:p>
            <a:pPr marL="285750" indent="-285750">
              <a:buFont typeface="Arial" panose="020B0604020202020204" pitchFamily="34" charset="0"/>
              <a:buChar char="•"/>
            </a:pPr>
            <a:r>
              <a:rPr lang="en-GB" dirty="0"/>
              <a:t>Wobble reduced</a:t>
            </a:r>
          </a:p>
          <a:p>
            <a:pPr marL="285750" indent="-285750">
              <a:buFont typeface="Arial" panose="020B0604020202020204" pitchFamily="34" charset="0"/>
              <a:buChar char="•"/>
            </a:pPr>
            <a:r>
              <a:rPr lang="en-GB" dirty="0"/>
              <a:t>Floor question</a:t>
            </a:r>
          </a:p>
          <a:p>
            <a:pPr marL="285750" indent="-285750">
              <a:buFont typeface="Arial" panose="020B0604020202020204" pitchFamily="34" charset="0"/>
              <a:buChar char="•"/>
            </a:pPr>
            <a:r>
              <a:rPr lang="en-GB" dirty="0"/>
              <a:t>Avatar below floor/solved</a:t>
            </a:r>
          </a:p>
          <a:p>
            <a:pPr marL="285750" indent="-285750">
              <a:buFont typeface="Arial" panose="020B0604020202020204" pitchFamily="34" charset="0"/>
              <a:buChar char="•"/>
            </a:pPr>
            <a:r>
              <a:rPr lang="en-GB" dirty="0"/>
              <a:t>Edge case scenario</a:t>
            </a:r>
          </a:p>
          <a:p>
            <a:endParaRPr lang="en-GB" dirty="0"/>
          </a:p>
          <a:p>
            <a:r>
              <a:rPr lang="en-GB" dirty="0"/>
              <a:t>2.ALS/ case from pulmonary </a:t>
            </a:r>
            <a:r>
              <a:rPr lang="en-GB" dirty="0" err="1"/>
              <a:t>embolism,person</a:t>
            </a:r>
            <a:r>
              <a:rPr lang="en-GB" dirty="0"/>
              <a:t> look </a:t>
            </a:r>
            <a:r>
              <a:rPr lang="en-GB" dirty="0" err="1"/>
              <a:t>blue,orinflamated</a:t>
            </a:r>
            <a:r>
              <a:rPr lang="en-GB" dirty="0"/>
              <a:t> limbs</a:t>
            </a:r>
          </a:p>
          <a:p>
            <a:endParaRPr lang="en-GB" dirty="0"/>
          </a:p>
          <a:p>
            <a:r>
              <a:rPr lang="en-GB" dirty="0"/>
              <a:t>3.Meet </a:t>
            </a:r>
            <a:r>
              <a:rPr lang="en-GB"/>
              <a:t>with Rowan</a:t>
            </a:r>
            <a:endParaRPr lang="en-GB" dirty="0"/>
          </a:p>
          <a:p>
            <a:endParaRPr lang="en-GB" dirty="0"/>
          </a:p>
          <a:p>
            <a:r>
              <a:rPr lang="en-GB" dirty="0"/>
              <a:t>2</a:t>
            </a:r>
            <a:r>
              <a:rPr lang="en-GB" b="1" dirty="0"/>
              <a:t>.Bettr positioning</a:t>
            </a:r>
          </a:p>
          <a:p>
            <a:endParaRPr lang="en-GB" b="1" dirty="0"/>
          </a:p>
          <a:p>
            <a:r>
              <a:rPr lang="en-GB" dirty="0"/>
              <a:t>3.</a:t>
            </a:r>
            <a:r>
              <a:rPr lang="en-GB" b="1" dirty="0"/>
              <a:t>Accss to data science lab *</a:t>
            </a:r>
            <a:r>
              <a:rPr lang="en-GB" b="1" dirty="0" err="1"/>
              <a:t>Ardra,Denis,Paul</a:t>
            </a:r>
            <a:endParaRPr lang="en-GB" b="1" dirty="0"/>
          </a:p>
        </p:txBody>
      </p:sp>
      <p:sp>
        <p:nvSpPr>
          <p:cNvPr id="3" name="TextBox 2">
            <a:extLst>
              <a:ext uri="{FF2B5EF4-FFF2-40B4-BE49-F238E27FC236}">
                <a16:creationId xmlns:a16="http://schemas.microsoft.com/office/drawing/2014/main" id="{BE62776B-EF57-4528-F978-AB0E121D8733}"/>
              </a:ext>
            </a:extLst>
          </p:cNvPr>
          <p:cNvSpPr txBox="1"/>
          <p:nvPr/>
        </p:nvSpPr>
        <p:spPr>
          <a:xfrm>
            <a:off x="362078" y="337530"/>
            <a:ext cx="8407570" cy="369332"/>
          </a:xfrm>
          <a:prstGeom prst="rect">
            <a:avLst/>
          </a:prstGeom>
          <a:noFill/>
        </p:spPr>
        <p:txBody>
          <a:bodyPr wrap="square" rtlCol="0">
            <a:spAutoFit/>
          </a:bodyPr>
          <a:lstStyle/>
          <a:p>
            <a:r>
              <a:rPr lang="en-GB" dirty="0"/>
              <a:t>QUESTIONS</a:t>
            </a:r>
          </a:p>
        </p:txBody>
      </p:sp>
      <p:pic>
        <p:nvPicPr>
          <p:cNvPr id="4" name="avatar_demo_20260905_cropped">
            <a:hlinkClick r:id="" action="ppaction://media"/>
            <a:extLst>
              <a:ext uri="{FF2B5EF4-FFF2-40B4-BE49-F238E27FC236}">
                <a16:creationId xmlns:a16="http://schemas.microsoft.com/office/drawing/2014/main" id="{63EC6614-659B-2FFC-2043-E1E63BC6C9C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37567" y="153444"/>
            <a:ext cx="3454400" cy="6096000"/>
          </a:xfrm>
          <a:prstGeom prst="rect">
            <a:avLst/>
          </a:prstGeom>
        </p:spPr>
      </p:pic>
    </p:spTree>
    <p:extLst>
      <p:ext uri="{BB962C8B-B14F-4D97-AF65-F5344CB8AC3E}">
        <p14:creationId xmlns:p14="http://schemas.microsoft.com/office/powerpoint/2010/main" val="190775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54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1097280"/>
            <a:ext cx="10881360" cy="658368"/>
          </a:xfrm>
          <a:prstGeom prst="rect">
            <a:avLst/>
          </a:prstGeom>
          <a:noFill/>
          <a:ln/>
        </p:spPr>
        <p:txBody>
          <a:bodyPr wrap="square" lIns="0" tIns="0" rIns="0" bIns="0" rtlCol="0" anchor="ctr"/>
          <a:lstStyle/>
          <a:p>
            <a:pPr marL="0" indent="0" algn="ctr">
              <a:buNone/>
            </a:pPr>
            <a:r>
              <a:rPr lang="en-US" sz="3400" b="1" dirty="0">
                <a:solidFill>
                  <a:srgbClr val="17365D"/>
                </a:solidFill>
                <a:latin typeface="Arial" pitchFamily="34" charset="0"/>
                <a:ea typeface="Arial" pitchFamily="34" charset="-122"/>
                <a:cs typeface="Arial" pitchFamily="34" charset="-120"/>
              </a:rPr>
              <a:t>CCBM for NaReT CPR</a:t>
            </a:r>
            <a:endParaRPr lang="en-US" sz="3400" dirty="0"/>
          </a:p>
        </p:txBody>
      </p:sp>
      <p:sp>
        <p:nvSpPr>
          <p:cNvPr id="4" name="Shape 2"/>
          <p:cNvSpPr/>
          <p:nvPr/>
        </p:nvSpPr>
        <p:spPr>
          <a:xfrm>
            <a:off x="914400" y="2743200"/>
            <a:ext cx="2971800" cy="1325880"/>
          </a:xfrm>
          <a:prstGeom prst="roundRect">
            <a:avLst>
              <a:gd name="adj" fmla="val 4138"/>
            </a:avLst>
          </a:prstGeom>
          <a:solidFill>
            <a:srgbClr val="F7F9FB"/>
          </a:solidFill>
          <a:ln w="12700">
            <a:solidFill>
              <a:srgbClr val="D1D5DB"/>
            </a:solidFill>
            <a:prstDash val="solid"/>
          </a:ln>
        </p:spPr>
      </p:sp>
      <p:sp>
        <p:nvSpPr>
          <p:cNvPr id="5" name="Text 3"/>
          <p:cNvSpPr/>
          <p:nvPr/>
        </p:nvSpPr>
        <p:spPr>
          <a:xfrm>
            <a:off x="1078992" y="2880360"/>
            <a:ext cx="264261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CCBM example</a:t>
            </a:r>
            <a:endParaRPr lang="en-US" sz="1700" dirty="0"/>
          </a:p>
        </p:txBody>
      </p:sp>
      <p:sp>
        <p:nvSpPr>
          <p:cNvPr id="6" name="Text 4"/>
          <p:cNvSpPr/>
          <p:nvPr/>
        </p:nvSpPr>
        <p:spPr>
          <a:xfrm>
            <a:off x="1078992" y="3273552"/>
            <a:ext cx="2642616" cy="6675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Few actions</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One person</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Known causal rules</a:t>
            </a:r>
            <a:endParaRPr lang="en-US" sz="1350" dirty="0"/>
          </a:p>
        </p:txBody>
      </p:sp>
      <p:sp>
        <p:nvSpPr>
          <p:cNvPr id="7" name="Shape 5"/>
          <p:cNvSpPr/>
          <p:nvPr/>
        </p:nvSpPr>
        <p:spPr>
          <a:xfrm>
            <a:off x="4069080" y="3410712"/>
            <a:ext cx="1005840" cy="0"/>
          </a:xfrm>
          <a:prstGeom prst="line">
            <a:avLst/>
          </a:prstGeom>
          <a:noFill/>
          <a:ln w="25400">
            <a:solidFill>
              <a:srgbClr val="1F4E78"/>
            </a:solidFill>
            <a:prstDash val="solid"/>
            <a:headEnd type="none"/>
            <a:tailEnd type="triangle"/>
          </a:ln>
        </p:spPr>
      </p:sp>
      <p:sp>
        <p:nvSpPr>
          <p:cNvPr id="8" name="Shape 6"/>
          <p:cNvSpPr/>
          <p:nvPr/>
        </p:nvSpPr>
        <p:spPr>
          <a:xfrm>
            <a:off x="5166360" y="2743200"/>
            <a:ext cx="2971800" cy="1325880"/>
          </a:xfrm>
          <a:prstGeom prst="roundRect">
            <a:avLst>
              <a:gd name="adj" fmla="val 4138"/>
            </a:avLst>
          </a:prstGeom>
          <a:solidFill>
            <a:srgbClr val="FFF8EE"/>
          </a:solidFill>
          <a:ln w="12700">
            <a:solidFill>
              <a:srgbClr val="E8C48B"/>
            </a:solidFill>
            <a:prstDash val="solid"/>
          </a:ln>
        </p:spPr>
      </p:sp>
      <p:sp>
        <p:nvSpPr>
          <p:cNvPr id="9" name="Text 7"/>
          <p:cNvSpPr/>
          <p:nvPr/>
        </p:nvSpPr>
        <p:spPr>
          <a:xfrm>
            <a:off x="5330952" y="2880360"/>
            <a:ext cx="264261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NaReT CPR</a:t>
            </a:r>
            <a:endParaRPr lang="en-US" sz="1700" dirty="0"/>
          </a:p>
        </p:txBody>
      </p:sp>
      <p:sp>
        <p:nvSpPr>
          <p:cNvPr id="10" name="Text 8"/>
          <p:cNvSpPr/>
          <p:nvPr/>
        </p:nvSpPr>
        <p:spPr>
          <a:xfrm>
            <a:off x="5330952" y="3273552"/>
            <a:ext cx="2642616" cy="6675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Parallel actions</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Errors + corrections</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Multiple sensors</a:t>
            </a:r>
            <a:endParaRPr lang="en-US" sz="1350" dirty="0"/>
          </a:p>
        </p:txBody>
      </p:sp>
      <p:sp>
        <p:nvSpPr>
          <p:cNvPr id="11" name="Shape 9"/>
          <p:cNvSpPr/>
          <p:nvPr/>
        </p:nvSpPr>
        <p:spPr>
          <a:xfrm>
            <a:off x="8321040" y="3410712"/>
            <a:ext cx="1005840" cy="0"/>
          </a:xfrm>
          <a:prstGeom prst="line">
            <a:avLst/>
          </a:prstGeom>
          <a:noFill/>
          <a:ln w="25400">
            <a:solidFill>
              <a:srgbClr val="1F4E78"/>
            </a:solidFill>
            <a:prstDash val="solid"/>
            <a:headEnd type="none"/>
            <a:tailEnd type="triangle"/>
          </a:ln>
        </p:spPr>
      </p:sp>
      <p:sp>
        <p:nvSpPr>
          <p:cNvPr id="12" name="Shape 10"/>
          <p:cNvSpPr/>
          <p:nvPr/>
        </p:nvSpPr>
        <p:spPr>
          <a:xfrm>
            <a:off x="9418320" y="2743200"/>
            <a:ext cx="1828800" cy="1325880"/>
          </a:xfrm>
          <a:prstGeom prst="roundRect">
            <a:avLst>
              <a:gd name="adj" fmla="val 4138"/>
            </a:avLst>
          </a:prstGeom>
          <a:solidFill>
            <a:srgbClr val="EEF6EE"/>
          </a:solidFill>
          <a:ln w="12700">
            <a:solidFill>
              <a:srgbClr val="A9C9B2"/>
            </a:solidFill>
            <a:prstDash val="solid"/>
          </a:ln>
        </p:spPr>
      </p:sp>
      <p:sp>
        <p:nvSpPr>
          <p:cNvPr id="13" name="Text 11"/>
          <p:cNvSpPr/>
          <p:nvPr/>
        </p:nvSpPr>
        <p:spPr>
          <a:xfrm>
            <a:off x="9582912" y="2880360"/>
            <a:ext cx="1499616" cy="310896"/>
          </a:xfrm>
          <a:prstGeom prst="rect">
            <a:avLst/>
          </a:prstGeom>
          <a:noFill/>
          <a:ln/>
        </p:spPr>
        <p:txBody>
          <a:bodyPr wrap="square" lIns="0" tIns="0" rIns="0" bIns="0" rtlCol="0" anchor="ctr">
            <a:normAutofit/>
          </a:bodyPr>
          <a:lstStyle/>
          <a:p>
            <a:pPr marL="0" indent="0">
              <a:buNone/>
            </a:pPr>
            <a:r>
              <a:rPr lang="en-US" sz="1700" b="1" dirty="0">
                <a:solidFill>
                  <a:srgbClr val="287A4B"/>
                </a:solidFill>
                <a:latin typeface="Arial" pitchFamily="34" charset="0"/>
                <a:ea typeface="Arial" pitchFamily="34" charset="-122"/>
                <a:cs typeface="Arial" pitchFamily="34" charset="-120"/>
              </a:rPr>
              <a:t>Question</a:t>
            </a:r>
            <a:endParaRPr lang="en-US" sz="1700" dirty="0"/>
          </a:p>
        </p:txBody>
      </p:sp>
      <p:sp>
        <p:nvSpPr>
          <p:cNvPr id="14" name="Text 12"/>
          <p:cNvSpPr/>
          <p:nvPr/>
        </p:nvSpPr>
        <p:spPr>
          <a:xfrm>
            <a:off x="9582912" y="3273552"/>
            <a:ext cx="1499616" cy="6675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How should the model change?</a:t>
            </a:r>
            <a:endParaRPr lang="en-US" sz="135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18</a:t>
            </a:fld>
            <a:endParaRPr lang="en-US"/>
          </a:p>
        </p:txBody>
      </p:sp>
      <p:sp>
        <p:nvSpPr>
          <p:cNvPr id="17" name="TextBox 16">
            <a:extLst>
              <a:ext uri="{FF2B5EF4-FFF2-40B4-BE49-F238E27FC236}">
                <a16:creationId xmlns:a16="http://schemas.microsoft.com/office/drawing/2014/main" id="{F065618C-56D7-74F2-B62A-D780832D39DD}"/>
              </a:ext>
            </a:extLst>
          </p:cNvPr>
          <p:cNvSpPr txBox="1"/>
          <p:nvPr/>
        </p:nvSpPr>
        <p:spPr>
          <a:xfrm>
            <a:off x="253149" y="778224"/>
            <a:ext cx="5282348" cy="1446550"/>
          </a:xfrm>
          <a:prstGeom prst="rect">
            <a:avLst/>
          </a:prstGeom>
          <a:noFill/>
        </p:spPr>
        <p:txBody>
          <a:bodyPr wrap="square">
            <a:spAutoFit/>
          </a:bodyPr>
          <a:lstStyle/>
          <a:p>
            <a:pPr marL="0" indent="0">
              <a:buNone/>
            </a:pPr>
            <a:r>
              <a:rPr lang="en-US" sz="1100" dirty="0">
                <a:solidFill>
                  <a:srgbClr val="222222"/>
                </a:solidFill>
                <a:latin typeface="Arial" pitchFamily="34" charset="0"/>
                <a:ea typeface="Arial" pitchFamily="34" charset="-122"/>
                <a:cs typeface="Arial" pitchFamily="34" charset="-120"/>
              </a:rPr>
              <a:t>Actions:</a:t>
            </a: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 coffee</a:t>
            </a: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 breakfast</a:t>
            </a: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 clean teeth</a:t>
            </a: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 leave</a:t>
            </a:r>
            <a:endParaRPr lang="en-US" sz="1100" dirty="0"/>
          </a:p>
          <a:p>
            <a:pPr marL="0" indent="0">
              <a:buNone/>
            </a:pP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Example rule:</a:t>
            </a:r>
            <a:endParaRPr lang="en-US" sz="1100" dirty="0"/>
          </a:p>
          <a:p>
            <a:pPr marL="0" indent="0">
              <a:buNone/>
            </a:pPr>
            <a:r>
              <a:rPr lang="en-US" sz="1100" dirty="0">
                <a:solidFill>
                  <a:srgbClr val="222222"/>
                </a:solidFill>
                <a:latin typeface="Arial" pitchFamily="34" charset="0"/>
                <a:ea typeface="Arial" pitchFamily="34" charset="-122"/>
                <a:cs typeface="Arial" pitchFamily="34" charset="-120"/>
              </a:rPr>
              <a:t>clean teeth requires breakfast + coffee.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38912"/>
            <a:ext cx="11064240" cy="502920"/>
          </a:xfrm>
          <a:prstGeom prst="rect">
            <a:avLst/>
          </a:prstGeom>
          <a:noFill/>
          <a:ln/>
        </p:spPr>
        <p:txBody>
          <a:bodyPr wrap="square" lIns="0" tIns="0" rIns="0" bIns="0" rtlCol="0" anchor="ctr">
            <a:normAutofit fontScale="70000" lnSpcReduction="20000"/>
          </a:bodyPr>
          <a:lstStyle/>
          <a:p>
            <a:pPr marL="0" indent="0">
              <a:buNone/>
            </a:pPr>
            <a:r>
              <a:rPr lang="en-US" sz="2800" b="1" dirty="0">
                <a:solidFill>
                  <a:srgbClr val="17365D"/>
                </a:solidFill>
                <a:latin typeface="Arial" pitchFamily="34" charset="0"/>
                <a:ea typeface="Arial" pitchFamily="34" charset="-122"/>
                <a:cs typeface="Arial" pitchFamily="34" charset="-120"/>
              </a:rPr>
              <a:t>CCBM FOR NARET</a:t>
            </a:r>
          </a:p>
          <a:p>
            <a:pPr marL="0" indent="0">
              <a:buNone/>
            </a:pPr>
            <a:r>
              <a:rPr lang="en-US" sz="2800" b="1" dirty="0">
                <a:solidFill>
                  <a:srgbClr val="17365D"/>
                </a:solidFill>
                <a:latin typeface="Arial" pitchFamily="34" charset="0"/>
                <a:ea typeface="Arial" pitchFamily="34" charset="-122"/>
                <a:cs typeface="Arial" pitchFamily="34" charset="-120"/>
              </a:rPr>
              <a:t>Challenge A  — no single “current action”</a:t>
            </a:r>
            <a:endParaRPr lang="en-US" sz="2800" dirty="0"/>
          </a:p>
        </p:txBody>
      </p:sp>
      <p:sp>
        <p:nvSpPr>
          <p:cNvPr id="4" name="Shape 2"/>
          <p:cNvSpPr/>
          <p:nvPr/>
        </p:nvSpPr>
        <p:spPr>
          <a:xfrm>
            <a:off x="640080" y="1600200"/>
            <a:ext cx="3108960" cy="3566160"/>
          </a:xfrm>
          <a:prstGeom prst="roundRect">
            <a:avLst>
              <a:gd name="adj" fmla="val 1765"/>
            </a:avLst>
          </a:prstGeom>
          <a:solidFill>
            <a:srgbClr val="F7F9FB"/>
          </a:solidFill>
          <a:ln w="12700">
            <a:solidFill>
              <a:srgbClr val="D1D5DB"/>
            </a:solidFill>
            <a:prstDash val="solid"/>
          </a:ln>
        </p:spPr>
      </p:sp>
      <p:sp>
        <p:nvSpPr>
          <p:cNvPr id="5" name="Text 3"/>
          <p:cNvSpPr/>
          <p:nvPr/>
        </p:nvSpPr>
        <p:spPr>
          <a:xfrm>
            <a:off x="804672" y="1737360"/>
            <a:ext cx="277977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Coffee / Day example</a:t>
            </a:r>
            <a:endParaRPr lang="en-US" sz="1700" dirty="0"/>
          </a:p>
        </p:txBody>
      </p:sp>
      <p:sp>
        <p:nvSpPr>
          <p:cNvPr id="6" name="Text 4"/>
          <p:cNvSpPr/>
          <p:nvPr/>
        </p:nvSpPr>
        <p:spPr>
          <a:xfrm>
            <a:off x="804672" y="2130552"/>
            <a:ext cx="2779776" cy="290779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A compact action variable can be enough:</a:t>
            </a:r>
            <a:endParaRPr lang="en-US" sz="1350" dirty="0"/>
          </a:p>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current activity = coffee</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then breakfast</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then clean</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a:t>
            </a:r>
            <a:endParaRPr lang="en-US" sz="1350" dirty="0"/>
          </a:p>
        </p:txBody>
      </p:sp>
      <p:sp>
        <p:nvSpPr>
          <p:cNvPr id="7" name="Shape 5"/>
          <p:cNvSpPr/>
          <p:nvPr/>
        </p:nvSpPr>
        <p:spPr>
          <a:xfrm>
            <a:off x="3886200" y="3273552"/>
            <a:ext cx="731520" cy="0"/>
          </a:xfrm>
          <a:prstGeom prst="line">
            <a:avLst/>
          </a:prstGeom>
          <a:noFill/>
          <a:ln w="25400">
            <a:solidFill>
              <a:srgbClr val="1F4E78"/>
            </a:solidFill>
            <a:prstDash val="solid"/>
            <a:headEnd type="none"/>
            <a:tailEnd type="triangle"/>
          </a:ln>
        </p:spPr>
      </p:sp>
      <p:sp>
        <p:nvSpPr>
          <p:cNvPr id="8" name="Shape 6"/>
          <p:cNvSpPr/>
          <p:nvPr/>
        </p:nvSpPr>
        <p:spPr>
          <a:xfrm>
            <a:off x="4754880" y="1600200"/>
            <a:ext cx="3063240" cy="3566160"/>
          </a:xfrm>
          <a:prstGeom prst="roundRect">
            <a:avLst>
              <a:gd name="adj" fmla="val 1791"/>
            </a:avLst>
          </a:prstGeom>
          <a:solidFill>
            <a:srgbClr val="FFF8EE"/>
          </a:solidFill>
          <a:ln w="12700">
            <a:solidFill>
              <a:srgbClr val="E8C48B"/>
            </a:solidFill>
            <a:prstDash val="solid"/>
          </a:ln>
        </p:spPr>
      </p:sp>
      <p:sp>
        <p:nvSpPr>
          <p:cNvPr id="9" name="Text 7"/>
          <p:cNvSpPr/>
          <p:nvPr/>
        </p:nvSpPr>
        <p:spPr>
          <a:xfrm>
            <a:off x="4919472" y="1737360"/>
            <a:ext cx="273405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Real CPR at one moment</a:t>
            </a:r>
            <a:endParaRPr lang="en-US" sz="1700" dirty="0"/>
          </a:p>
        </p:txBody>
      </p:sp>
      <p:sp>
        <p:nvSpPr>
          <p:cNvPr id="10" name="Text 8"/>
          <p:cNvSpPr/>
          <p:nvPr/>
        </p:nvSpPr>
        <p:spPr>
          <a:xfrm>
            <a:off x="4919472" y="2130552"/>
            <a:ext cx="2734056" cy="290779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Person A: chest compressions</a:t>
            </a:r>
            <a:endParaRPr lang="en-US" sz="1350" dirty="0"/>
          </a:p>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Person B: preparing AED</a:t>
            </a:r>
            <a:endParaRPr lang="en-US" sz="1350" dirty="0"/>
          </a:p>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Person A/B: communicating</a:t>
            </a:r>
            <a:endParaRPr lang="en-US" sz="1350" dirty="0"/>
          </a:p>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AED: changing state</a:t>
            </a:r>
            <a:endParaRPr lang="en-US" sz="135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19</a:t>
            </a:fld>
            <a:endParaRPr lang="en-US"/>
          </a:p>
        </p:txBody>
      </p:sp>
      <p:sp>
        <p:nvSpPr>
          <p:cNvPr id="17" name="TextBox 16">
            <a:extLst>
              <a:ext uri="{FF2B5EF4-FFF2-40B4-BE49-F238E27FC236}">
                <a16:creationId xmlns:a16="http://schemas.microsoft.com/office/drawing/2014/main" id="{00389888-CE67-F7A5-8F86-F70911529F01}"/>
              </a:ext>
            </a:extLst>
          </p:cNvPr>
          <p:cNvSpPr txBox="1"/>
          <p:nvPr/>
        </p:nvSpPr>
        <p:spPr>
          <a:xfrm>
            <a:off x="8120669" y="2635245"/>
            <a:ext cx="6103160" cy="646331"/>
          </a:xfrm>
          <a:prstGeom prst="rect">
            <a:avLst/>
          </a:prstGeom>
          <a:noFill/>
        </p:spPr>
        <p:txBody>
          <a:bodyPr wrap="square">
            <a:spAutoFit/>
          </a:bodyPr>
          <a:lstStyle/>
          <a:p>
            <a:r>
              <a:rPr lang="en-US" sz="1800" b="1" dirty="0">
                <a:solidFill>
                  <a:srgbClr val="B03A2E"/>
                </a:solidFill>
                <a:latin typeface="Arial" pitchFamily="34" charset="0"/>
                <a:ea typeface="Arial" pitchFamily="34" charset="-122"/>
                <a:cs typeface="Arial" pitchFamily="34" charset="-120"/>
              </a:rPr>
              <a:t>exploding </a:t>
            </a:r>
          </a:p>
          <a:p>
            <a:r>
              <a:rPr lang="en-US" sz="1800" b="1" dirty="0">
                <a:solidFill>
                  <a:srgbClr val="B03A2E"/>
                </a:solidFill>
                <a:latin typeface="Arial" pitchFamily="34" charset="0"/>
                <a:ea typeface="Arial" pitchFamily="34" charset="-122"/>
                <a:cs typeface="Arial" pitchFamily="34" charset="-120"/>
              </a:rPr>
              <a:t>the number of possible states?</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3891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7365D"/>
                </a:solidFill>
                <a:latin typeface="Arial" pitchFamily="34" charset="0"/>
                <a:ea typeface="Arial" pitchFamily="34" charset="-122"/>
                <a:cs typeface="Arial" pitchFamily="34" charset="-120"/>
              </a:rPr>
              <a:t> Direct CPR translation</a:t>
            </a:r>
            <a:endParaRPr lang="en-US" sz="2800" dirty="0"/>
          </a:p>
        </p:txBody>
      </p:sp>
      <p:sp>
        <p:nvSpPr>
          <p:cNvPr id="3" name="Shape 1"/>
          <p:cNvSpPr/>
          <p:nvPr/>
        </p:nvSpPr>
        <p:spPr>
          <a:xfrm>
            <a:off x="502920" y="1965960"/>
            <a:ext cx="1554480" cy="841248"/>
          </a:xfrm>
          <a:prstGeom prst="roundRect">
            <a:avLst/>
          </a:prstGeom>
          <a:solidFill>
            <a:srgbClr val="F1F5F9"/>
          </a:solidFill>
          <a:ln w="12700">
            <a:solidFill>
              <a:srgbClr val="B8C5D1"/>
            </a:solidFill>
            <a:prstDash val="solid"/>
          </a:ln>
        </p:spPr>
      </p:sp>
      <p:sp>
        <p:nvSpPr>
          <p:cNvPr id="4" name="Text 2"/>
          <p:cNvSpPr/>
          <p:nvPr/>
        </p:nvSpPr>
        <p:spPr>
          <a:xfrm>
            <a:off x="576072"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Assess patient</a:t>
            </a:r>
            <a:endParaRPr lang="en-US" sz="1300" dirty="0"/>
          </a:p>
        </p:txBody>
      </p:sp>
      <p:sp>
        <p:nvSpPr>
          <p:cNvPr id="5" name="Shape 3"/>
          <p:cNvSpPr/>
          <p:nvPr/>
        </p:nvSpPr>
        <p:spPr>
          <a:xfrm>
            <a:off x="2075688" y="2386584"/>
            <a:ext cx="292608" cy="0"/>
          </a:xfrm>
          <a:prstGeom prst="line">
            <a:avLst/>
          </a:prstGeom>
          <a:noFill/>
          <a:ln w="25400">
            <a:solidFill>
              <a:srgbClr val="1F4E78"/>
            </a:solidFill>
            <a:prstDash val="solid"/>
            <a:headEnd type="none"/>
            <a:tailEnd type="triangle"/>
          </a:ln>
        </p:spPr>
      </p:sp>
      <p:sp>
        <p:nvSpPr>
          <p:cNvPr id="6" name="Shape 4"/>
          <p:cNvSpPr/>
          <p:nvPr/>
        </p:nvSpPr>
        <p:spPr>
          <a:xfrm>
            <a:off x="2404872" y="1965960"/>
            <a:ext cx="1554480" cy="841248"/>
          </a:xfrm>
          <a:prstGeom prst="roundRect">
            <a:avLst/>
          </a:prstGeom>
          <a:solidFill>
            <a:srgbClr val="F1F5F9"/>
          </a:solidFill>
          <a:ln w="12700">
            <a:solidFill>
              <a:srgbClr val="B8C5D1"/>
            </a:solidFill>
            <a:prstDash val="solid"/>
          </a:ln>
        </p:spPr>
      </p:sp>
      <p:sp>
        <p:nvSpPr>
          <p:cNvPr id="7" name="Text 5"/>
          <p:cNvSpPr/>
          <p:nvPr/>
        </p:nvSpPr>
        <p:spPr>
          <a:xfrm>
            <a:off x="2478024"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Check breathing</a:t>
            </a:r>
            <a:endParaRPr lang="en-US" sz="1300" dirty="0"/>
          </a:p>
        </p:txBody>
      </p:sp>
      <p:sp>
        <p:nvSpPr>
          <p:cNvPr id="8" name="Shape 6"/>
          <p:cNvSpPr/>
          <p:nvPr/>
        </p:nvSpPr>
        <p:spPr>
          <a:xfrm>
            <a:off x="3977640" y="2386584"/>
            <a:ext cx="292608" cy="0"/>
          </a:xfrm>
          <a:prstGeom prst="line">
            <a:avLst/>
          </a:prstGeom>
          <a:noFill/>
          <a:ln w="25400">
            <a:solidFill>
              <a:srgbClr val="1F4E78"/>
            </a:solidFill>
            <a:prstDash val="solid"/>
            <a:headEnd type="none"/>
            <a:tailEnd type="triangle"/>
          </a:ln>
        </p:spPr>
      </p:sp>
      <p:sp>
        <p:nvSpPr>
          <p:cNvPr id="9" name="Shape 7"/>
          <p:cNvSpPr/>
          <p:nvPr/>
        </p:nvSpPr>
        <p:spPr>
          <a:xfrm>
            <a:off x="4306824" y="1965960"/>
            <a:ext cx="1554480" cy="841248"/>
          </a:xfrm>
          <a:prstGeom prst="roundRect">
            <a:avLst/>
          </a:prstGeom>
          <a:solidFill>
            <a:srgbClr val="F1F5F9"/>
          </a:solidFill>
          <a:ln w="12700">
            <a:solidFill>
              <a:srgbClr val="B8C5D1"/>
            </a:solidFill>
            <a:prstDash val="solid"/>
          </a:ln>
        </p:spPr>
      </p:sp>
      <p:sp>
        <p:nvSpPr>
          <p:cNvPr id="10" name="Text 8"/>
          <p:cNvSpPr/>
          <p:nvPr/>
        </p:nvSpPr>
        <p:spPr>
          <a:xfrm>
            <a:off x="4379976"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Call for help</a:t>
            </a:r>
            <a:endParaRPr lang="en-US" sz="1300" dirty="0"/>
          </a:p>
        </p:txBody>
      </p:sp>
      <p:sp>
        <p:nvSpPr>
          <p:cNvPr id="11" name="Shape 9"/>
          <p:cNvSpPr/>
          <p:nvPr/>
        </p:nvSpPr>
        <p:spPr>
          <a:xfrm>
            <a:off x="5879592" y="2386584"/>
            <a:ext cx="292608" cy="0"/>
          </a:xfrm>
          <a:prstGeom prst="line">
            <a:avLst/>
          </a:prstGeom>
          <a:noFill/>
          <a:ln w="25400">
            <a:solidFill>
              <a:srgbClr val="1F4E78"/>
            </a:solidFill>
            <a:prstDash val="solid"/>
            <a:headEnd type="none"/>
            <a:tailEnd type="triangle"/>
          </a:ln>
        </p:spPr>
      </p:sp>
      <p:sp>
        <p:nvSpPr>
          <p:cNvPr id="12" name="Shape 10"/>
          <p:cNvSpPr/>
          <p:nvPr/>
        </p:nvSpPr>
        <p:spPr>
          <a:xfrm>
            <a:off x="6208776" y="1965960"/>
            <a:ext cx="1554480" cy="841248"/>
          </a:xfrm>
          <a:prstGeom prst="roundRect">
            <a:avLst/>
          </a:prstGeom>
          <a:solidFill>
            <a:srgbClr val="FFF1E6"/>
          </a:solidFill>
          <a:ln w="12700">
            <a:solidFill>
              <a:srgbClr val="E6A15A"/>
            </a:solidFill>
            <a:prstDash val="solid"/>
          </a:ln>
        </p:spPr>
      </p:sp>
      <p:sp>
        <p:nvSpPr>
          <p:cNvPr id="13" name="Text 11"/>
          <p:cNvSpPr/>
          <p:nvPr/>
        </p:nvSpPr>
        <p:spPr>
          <a:xfrm>
            <a:off x="6281928"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Start compressions</a:t>
            </a:r>
            <a:endParaRPr lang="en-US" sz="1300" dirty="0"/>
          </a:p>
        </p:txBody>
      </p:sp>
      <p:sp>
        <p:nvSpPr>
          <p:cNvPr id="14" name="Shape 12"/>
          <p:cNvSpPr/>
          <p:nvPr/>
        </p:nvSpPr>
        <p:spPr>
          <a:xfrm>
            <a:off x="7781544" y="2386584"/>
            <a:ext cx="292608" cy="0"/>
          </a:xfrm>
          <a:prstGeom prst="line">
            <a:avLst/>
          </a:prstGeom>
          <a:noFill/>
          <a:ln w="25400">
            <a:solidFill>
              <a:srgbClr val="1F4E78"/>
            </a:solidFill>
            <a:prstDash val="solid"/>
            <a:headEnd type="none"/>
            <a:tailEnd type="triangle"/>
          </a:ln>
        </p:spPr>
      </p:sp>
      <p:sp>
        <p:nvSpPr>
          <p:cNvPr id="15" name="Shape 13"/>
          <p:cNvSpPr/>
          <p:nvPr/>
        </p:nvSpPr>
        <p:spPr>
          <a:xfrm>
            <a:off x="8110728" y="1965960"/>
            <a:ext cx="1554480" cy="841248"/>
          </a:xfrm>
          <a:prstGeom prst="roundRect">
            <a:avLst/>
          </a:prstGeom>
          <a:solidFill>
            <a:srgbClr val="F1F5F9"/>
          </a:solidFill>
          <a:ln w="12700">
            <a:solidFill>
              <a:srgbClr val="B8C5D1"/>
            </a:solidFill>
            <a:prstDash val="solid"/>
          </a:ln>
        </p:spPr>
      </p:sp>
      <p:sp>
        <p:nvSpPr>
          <p:cNvPr id="16" name="Text 14"/>
          <p:cNvSpPr/>
          <p:nvPr/>
        </p:nvSpPr>
        <p:spPr>
          <a:xfrm>
            <a:off x="8183880"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Use AED</a:t>
            </a:r>
            <a:endParaRPr lang="en-US" sz="1300" dirty="0"/>
          </a:p>
        </p:txBody>
      </p:sp>
      <p:sp>
        <p:nvSpPr>
          <p:cNvPr id="17" name="Shape 15"/>
          <p:cNvSpPr/>
          <p:nvPr/>
        </p:nvSpPr>
        <p:spPr>
          <a:xfrm>
            <a:off x="9683496" y="2386584"/>
            <a:ext cx="292608" cy="0"/>
          </a:xfrm>
          <a:prstGeom prst="line">
            <a:avLst/>
          </a:prstGeom>
          <a:noFill/>
          <a:ln w="25400">
            <a:solidFill>
              <a:srgbClr val="1F4E78"/>
            </a:solidFill>
            <a:prstDash val="solid"/>
            <a:headEnd type="none"/>
            <a:tailEnd type="triangle"/>
          </a:ln>
        </p:spPr>
      </p:sp>
      <p:sp>
        <p:nvSpPr>
          <p:cNvPr id="18" name="Shape 16"/>
          <p:cNvSpPr/>
          <p:nvPr/>
        </p:nvSpPr>
        <p:spPr>
          <a:xfrm>
            <a:off x="10012680" y="1965960"/>
            <a:ext cx="1554480" cy="841248"/>
          </a:xfrm>
          <a:prstGeom prst="roundRect">
            <a:avLst/>
          </a:prstGeom>
          <a:solidFill>
            <a:srgbClr val="F1F5F9"/>
          </a:solidFill>
          <a:ln w="12700">
            <a:solidFill>
              <a:srgbClr val="B8C5D1"/>
            </a:solidFill>
            <a:prstDash val="solid"/>
          </a:ln>
        </p:spPr>
      </p:sp>
      <p:sp>
        <p:nvSpPr>
          <p:cNvPr id="19" name="Text 17"/>
          <p:cNvSpPr/>
          <p:nvPr/>
        </p:nvSpPr>
        <p:spPr>
          <a:xfrm>
            <a:off x="10085832" y="2157984"/>
            <a:ext cx="1408176" cy="411480"/>
          </a:xfrm>
          <a:prstGeom prst="rect">
            <a:avLst/>
          </a:prstGeom>
          <a:noFill/>
          <a:ln/>
        </p:spPr>
        <p:txBody>
          <a:bodyPr wrap="square" lIns="0" tIns="0" rIns="0" bIns="0" rtlCol="0" anchor="ctr">
            <a:normAutofit/>
          </a:bodyPr>
          <a:lstStyle/>
          <a:p>
            <a:pPr marL="0" indent="0" algn="ctr">
              <a:buNone/>
            </a:pPr>
            <a:r>
              <a:rPr lang="en-US" sz="1300" b="1" dirty="0">
                <a:solidFill>
                  <a:srgbClr val="222222"/>
                </a:solidFill>
                <a:latin typeface="Arial" pitchFamily="34" charset="0"/>
                <a:ea typeface="Arial" pitchFamily="34" charset="-122"/>
                <a:cs typeface="Arial" pitchFamily="34" charset="-120"/>
              </a:rPr>
              <a:t>Resume CPR</a:t>
            </a:r>
            <a:endParaRPr lang="en-US" sz="1300" dirty="0"/>
          </a:p>
        </p:txBody>
      </p:sp>
      <p:sp>
        <p:nvSpPr>
          <p:cNvPr id="20" name="Text 18"/>
          <p:cNvSpPr/>
          <p:nvPr/>
        </p:nvSpPr>
        <p:spPr>
          <a:xfrm>
            <a:off x="1005840" y="3246120"/>
            <a:ext cx="10149840" cy="411480"/>
          </a:xfrm>
          <a:prstGeom prst="rect">
            <a:avLst/>
          </a:prstGeom>
          <a:noFill/>
          <a:ln/>
        </p:spPr>
        <p:txBody>
          <a:bodyPr wrap="square" lIns="0" tIns="0" rIns="0" bIns="0" rtlCol="0" anchor="ctr"/>
          <a:lstStyle/>
          <a:p>
            <a:pPr marL="0" indent="0" algn="ctr">
              <a:buNone/>
            </a:pPr>
            <a:r>
              <a:rPr lang="en-US" sz="1800" b="1" dirty="0">
                <a:solidFill>
                  <a:srgbClr val="287A4B"/>
                </a:solidFill>
                <a:latin typeface="Arial" pitchFamily="34" charset="0"/>
                <a:ea typeface="Arial" pitchFamily="34" charset="-122"/>
                <a:cs typeface="Arial" pitchFamily="34" charset="-120"/>
              </a:rPr>
              <a:t>This is analogous.</a:t>
            </a:r>
            <a:endParaRPr lang="en-US" sz="1800" dirty="0"/>
          </a:p>
        </p:txBody>
      </p:sp>
      <p:sp>
        <p:nvSpPr>
          <p:cNvPr id="21" name="Shape 19"/>
          <p:cNvSpPr/>
          <p:nvPr/>
        </p:nvSpPr>
        <p:spPr>
          <a:xfrm>
            <a:off x="914400" y="3977640"/>
            <a:ext cx="10332720" cy="1234440"/>
          </a:xfrm>
          <a:prstGeom prst="roundRect">
            <a:avLst>
              <a:gd name="adj" fmla="val 4444"/>
            </a:avLst>
          </a:prstGeom>
          <a:solidFill>
            <a:srgbClr val="FFF5F3"/>
          </a:solidFill>
          <a:ln w="12700">
            <a:solidFill>
              <a:srgbClr val="E2A49B"/>
            </a:solidFill>
            <a:prstDash val="solid"/>
          </a:ln>
        </p:spPr>
      </p:sp>
      <p:sp>
        <p:nvSpPr>
          <p:cNvPr id="22" name="Text 20"/>
          <p:cNvSpPr/>
          <p:nvPr/>
        </p:nvSpPr>
        <p:spPr>
          <a:xfrm>
            <a:off x="1078992" y="4114800"/>
            <a:ext cx="10003536" cy="310896"/>
          </a:xfrm>
          <a:prstGeom prst="rect">
            <a:avLst/>
          </a:prstGeom>
          <a:noFill/>
          <a:ln/>
        </p:spPr>
        <p:txBody>
          <a:bodyPr wrap="square" lIns="0" tIns="0" rIns="0" bIns="0" rtlCol="0" anchor="ctr">
            <a:normAutofit/>
          </a:bodyPr>
          <a:lstStyle/>
          <a:p>
            <a:pPr marL="0" indent="0">
              <a:buNone/>
            </a:pPr>
            <a:endParaRPr lang="en-US" sz="1700" dirty="0"/>
          </a:p>
        </p:txBody>
      </p:sp>
      <p:sp>
        <p:nvSpPr>
          <p:cNvPr id="23" name="Text 21"/>
          <p:cNvSpPr/>
          <p:nvPr/>
        </p:nvSpPr>
        <p:spPr>
          <a:xfrm>
            <a:off x="1078992" y="4507992"/>
            <a:ext cx="10003536" cy="57607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Participants can act in parallel, repeat actions, omit steps, correct mistakes, and interact with shared equipment while sensors are uncertain.</a:t>
            </a:r>
            <a:endParaRPr lang="en-US" sz="135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3891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7365D"/>
                </a:solidFill>
                <a:latin typeface="Arial" pitchFamily="34" charset="0"/>
                <a:ea typeface="Arial" pitchFamily="34" charset="-122"/>
                <a:cs typeface="Arial" pitchFamily="34" charset="-120"/>
              </a:rPr>
              <a:t>Challenge B</a:t>
            </a:r>
            <a:endParaRPr lang="en-US" sz="2800" dirty="0"/>
          </a:p>
        </p:txBody>
      </p:sp>
      <p:sp>
        <p:nvSpPr>
          <p:cNvPr id="4" name="Shape 2"/>
          <p:cNvSpPr/>
          <p:nvPr/>
        </p:nvSpPr>
        <p:spPr>
          <a:xfrm>
            <a:off x="640080" y="1554480"/>
            <a:ext cx="2331720" cy="3383280"/>
          </a:xfrm>
          <a:prstGeom prst="roundRect">
            <a:avLst>
              <a:gd name="adj" fmla="val 2353"/>
            </a:avLst>
          </a:prstGeom>
          <a:solidFill>
            <a:srgbClr val="F7F9FB"/>
          </a:solidFill>
          <a:ln w="12700">
            <a:solidFill>
              <a:srgbClr val="D1D5DB"/>
            </a:solidFill>
            <a:prstDash val="solid"/>
          </a:ln>
        </p:spPr>
      </p:sp>
      <p:sp>
        <p:nvSpPr>
          <p:cNvPr id="5" name="Text 3"/>
          <p:cNvSpPr/>
          <p:nvPr/>
        </p:nvSpPr>
        <p:spPr>
          <a:xfrm>
            <a:off x="804672" y="1691640"/>
            <a:ext cx="200253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Raw inputs</a:t>
            </a:r>
            <a:endParaRPr lang="en-US" sz="1700" dirty="0"/>
          </a:p>
        </p:txBody>
      </p:sp>
      <p:sp>
        <p:nvSpPr>
          <p:cNvPr id="6" name="Text 4"/>
          <p:cNvSpPr/>
          <p:nvPr/>
        </p:nvSpPr>
        <p:spPr>
          <a:xfrm>
            <a:off x="804672" y="2084832"/>
            <a:ext cx="2002536" cy="27249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RGB cameras</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XR hand tracking</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Microphone</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Mannequin / device sensors</a:t>
            </a:r>
            <a:endParaRPr lang="en-US" sz="1350" dirty="0"/>
          </a:p>
        </p:txBody>
      </p:sp>
      <p:sp>
        <p:nvSpPr>
          <p:cNvPr id="7" name="Shape 5"/>
          <p:cNvSpPr/>
          <p:nvPr/>
        </p:nvSpPr>
        <p:spPr>
          <a:xfrm>
            <a:off x="3127248" y="3246120"/>
            <a:ext cx="850392" cy="0"/>
          </a:xfrm>
          <a:prstGeom prst="line">
            <a:avLst/>
          </a:prstGeom>
          <a:noFill/>
          <a:ln w="25400">
            <a:solidFill>
              <a:srgbClr val="1F4E78"/>
            </a:solidFill>
            <a:prstDash val="solid"/>
            <a:headEnd type="none"/>
            <a:tailEnd type="triangle"/>
          </a:ln>
        </p:spPr>
      </p:sp>
      <p:sp>
        <p:nvSpPr>
          <p:cNvPr id="8" name="Shape 6"/>
          <p:cNvSpPr/>
          <p:nvPr/>
        </p:nvSpPr>
        <p:spPr>
          <a:xfrm>
            <a:off x="4114800" y="1554480"/>
            <a:ext cx="2971800" cy="3383280"/>
          </a:xfrm>
          <a:prstGeom prst="roundRect">
            <a:avLst>
              <a:gd name="adj" fmla="val 1846"/>
            </a:avLst>
          </a:prstGeom>
          <a:solidFill>
            <a:srgbClr val="FFF8EE"/>
          </a:solidFill>
          <a:ln w="12700">
            <a:solidFill>
              <a:srgbClr val="E8C48B"/>
            </a:solidFill>
            <a:prstDash val="solid"/>
          </a:ln>
        </p:spPr>
      </p:sp>
      <p:sp>
        <p:nvSpPr>
          <p:cNvPr id="9" name="Text 7"/>
          <p:cNvSpPr/>
          <p:nvPr/>
        </p:nvSpPr>
        <p:spPr>
          <a:xfrm>
            <a:off x="4279392" y="1691640"/>
            <a:ext cx="2642616" cy="310896"/>
          </a:xfrm>
          <a:prstGeom prst="rect">
            <a:avLst/>
          </a:prstGeom>
          <a:noFill/>
          <a:ln/>
        </p:spPr>
        <p:txBody>
          <a:bodyPr wrap="square" lIns="0" tIns="0" rIns="0" bIns="0" rtlCol="0" anchor="ctr">
            <a:normAutofit/>
          </a:bodyPr>
          <a:lstStyle/>
          <a:p>
            <a:pPr marL="0" indent="0">
              <a:buNone/>
            </a:pPr>
            <a:r>
              <a:rPr lang="en-US" sz="1700" b="1" dirty="0">
                <a:solidFill>
                  <a:srgbClr val="A76400"/>
                </a:solidFill>
                <a:latin typeface="Arial" pitchFamily="34" charset="0"/>
                <a:ea typeface="Arial" pitchFamily="34" charset="-122"/>
                <a:cs typeface="Arial" pitchFamily="34" charset="-120"/>
              </a:rPr>
              <a:t>Missing layer</a:t>
            </a:r>
            <a:endParaRPr lang="en-US" sz="1700" dirty="0"/>
          </a:p>
        </p:txBody>
      </p:sp>
      <p:sp>
        <p:nvSpPr>
          <p:cNvPr id="10" name="Text 8"/>
          <p:cNvSpPr/>
          <p:nvPr/>
        </p:nvSpPr>
        <p:spPr>
          <a:xfrm>
            <a:off x="4279392" y="2084832"/>
            <a:ext cx="2642616" cy="27249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A separate recognition system must convert raw data into:</a:t>
            </a:r>
            <a:endParaRPr lang="en-US" sz="1350" dirty="0"/>
          </a:p>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P(compression)</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P(check breathing)</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P(AED use)</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a:t>
            </a:r>
            <a:endParaRPr lang="en-US" sz="1350" dirty="0"/>
          </a:p>
          <a:p>
            <a:pPr marL="0" indent="0">
              <a:buNone/>
            </a:pPr>
            <a:endParaRPr lang="en-US" sz="1350" dirty="0"/>
          </a:p>
        </p:txBody>
      </p:sp>
      <p:sp>
        <p:nvSpPr>
          <p:cNvPr id="11" name="Shape 9"/>
          <p:cNvSpPr/>
          <p:nvPr/>
        </p:nvSpPr>
        <p:spPr>
          <a:xfrm>
            <a:off x="7269480" y="3246120"/>
            <a:ext cx="822960" cy="0"/>
          </a:xfrm>
          <a:prstGeom prst="line">
            <a:avLst/>
          </a:prstGeom>
          <a:noFill/>
          <a:ln w="25400">
            <a:solidFill>
              <a:srgbClr val="1F4E78"/>
            </a:solidFill>
            <a:prstDash val="solid"/>
            <a:headEnd type="none"/>
            <a:tailEnd type="triangle"/>
          </a:ln>
        </p:spPr>
      </p:sp>
      <p:sp>
        <p:nvSpPr>
          <p:cNvPr id="12" name="Shape 10"/>
          <p:cNvSpPr/>
          <p:nvPr/>
        </p:nvSpPr>
        <p:spPr>
          <a:xfrm>
            <a:off x="8229600" y="1554480"/>
            <a:ext cx="3246120" cy="3383280"/>
          </a:xfrm>
          <a:prstGeom prst="roundRect">
            <a:avLst>
              <a:gd name="adj" fmla="val 1690"/>
            </a:avLst>
          </a:prstGeom>
          <a:solidFill>
            <a:srgbClr val="EEF6EE"/>
          </a:solidFill>
          <a:ln w="12700">
            <a:solidFill>
              <a:srgbClr val="A9C9B2"/>
            </a:solidFill>
            <a:prstDash val="solid"/>
          </a:ln>
        </p:spPr>
      </p:sp>
      <p:sp>
        <p:nvSpPr>
          <p:cNvPr id="13" name="Text 11"/>
          <p:cNvSpPr/>
          <p:nvPr/>
        </p:nvSpPr>
        <p:spPr>
          <a:xfrm>
            <a:off x="8394192" y="1691640"/>
            <a:ext cx="2916936" cy="310896"/>
          </a:xfrm>
          <a:prstGeom prst="rect">
            <a:avLst/>
          </a:prstGeom>
          <a:noFill/>
          <a:ln/>
        </p:spPr>
        <p:txBody>
          <a:bodyPr wrap="square" lIns="0" tIns="0" rIns="0" bIns="0" rtlCol="0" anchor="ctr">
            <a:normAutofit/>
          </a:bodyPr>
          <a:lstStyle/>
          <a:p>
            <a:pPr marL="0" indent="0">
              <a:buNone/>
            </a:pPr>
            <a:r>
              <a:rPr lang="en-US" sz="1700" b="1" dirty="0">
                <a:solidFill>
                  <a:srgbClr val="287A4B"/>
                </a:solidFill>
                <a:latin typeface="Arial" pitchFamily="34" charset="0"/>
                <a:ea typeface="Arial" pitchFamily="34" charset="-122"/>
                <a:cs typeface="Arial" pitchFamily="34" charset="-120"/>
              </a:rPr>
              <a:t>CCBM</a:t>
            </a:r>
            <a:endParaRPr lang="en-US" sz="1700" dirty="0"/>
          </a:p>
        </p:txBody>
      </p:sp>
      <p:sp>
        <p:nvSpPr>
          <p:cNvPr id="14" name="Text 12"/>
          <p:cNvSpPr/>
          <p:nvPr/>
        </p:nvSpPr>
        <p:spPr>
          <a:xfrm>
            <a:off x="8394192" y="2084832"/>
            <a:ext cx="2916936" cy="2724912"/>
          </a:xfrm>
          <a:prstGeom prst="rect">
            <a:avLst/>
          </a:prstGeom>
          <a:noFill/>
          <a:ln/>
        </p:spPr>
        <p:txBody>
          <a:bodyPr wrap="square" lIns="254" tIns="254" rIns="254" bIns="254" rtlCol="0" anchor="t">
            <a:normAutofit/>
          </a:bodyPr>
          <a:lstStyle/>
          <a:p>
            <a:pPr marL="0" indent="0">
              <a:buNone/>
            </a:pPr>
            <a:r>
              <a:rPr lang="en-US" sz="1350" dirty="0"/>
              <a:t>So multimodal labeling_</a:t>
            </a:r>
          </a:p>
          <a:p>
            <a:pPr marL="0" indent="0">
              <a:buNone/>
            </a:pPr>
            <a:r>
              <a:rPr lang="en-GB" sz="1400" dirty="0"/>
              <a:t>How do we combine and label all of these so they describe the same CPR action at the same time</a:t>
            </a:r>
            <a:endParaRPr lang="en-US" sz="135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3891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7365D"/>
                </a:solidFill>
                <a:latin typeface="Arial" pitchFamily="34" charset="0"/>
                <a:ea typeface="Arial" pitchFamily="34" charset="-122"/>
                <a:cs typeface="Arial" pitchFamily="34" charset="-120"/>
              </a:rPr>
              <a:t>Challenge C — learner errors are part of the task</a:t>
            </a:r>
            <a:endParaRPr lang="en-US" sz="2800" dirty="0"/>
          </a:p>
        </p:txBody>
      </p:sp>
      <p:sp>
        <p:nvSpPr>
          <p:cNvPr id="3" name="Text 1"/>
          <p:cNvSpPr/>
          <p:nvPr/>
        </p:nvSpPr>
        <p:spPr>
          <a:xfrm>
            <a:off x="566928" y="987552"/>
            <a:ext cx="10972800" cy="310896"/>
          </a:xfrm>
          <a:prstGeom prst="rect">
            <a:avLst/>
          </a:prstGeom>
          <a:noFill/>
          <a:ln/>
        </p:spPr>
        <p:txBody>
          <a:bodyPr wrap="square" lIns="0" tIns="0" rIns="0" bIns="0" rtlCol="0" anchor="ctr">
            <a:normAutofit/>
          </a:bodyPr>
          <a:lstStyle/>
          <a:p>
            <a:pPr marL="0" indent="0">
              <a:buNone/>
            </a:pPr>
            <a:r>
              <a:rPr lang="en-US" sz="1400" dirty="0">
                <a:solidFill>
                  <a:srgbClr val="555555"/>
                </a:solidFill>
                <a:latin typeface="Arial" pitchFamily="34" charset="0"/>
                <a:ea typeface="Arial" pitchFamily="34" charset="-122"/>
                <a:cs typeface="Arial" pitchFamily="34" charset="-120"/>
              </a:rPr>
              <a:t>A training system must recognise not only valid actions, but deviations from the expected process.</a:t>
            </a:r>
            <a:endParaRPr lang="en-US" sz="1400" dirty="0"/>
          </a:p>
        </p:txBody>
      </p:sp>
      <p:sp>
        <p:nvSpPr>
          <p:cNvPr id="4" name="Shape 2"/>
          <p:cNvSpPr/>
          <p:nvPr/>
        </p:nvSpPr>
        <p:spPr>
          <a:xfrm>
            <a:off x="640080" y="1554480"/>
            <a:ext cx="3063240" cy="3611880"/>
          </a:xfrm>
          <a:prstGeom prst="roundRect">
            <a:avLst>
              <a:gd name="adj" fmla="val 1791"/>
            </a:avLst>
          </a:prstGeom>
          <a:solidFill>
            <a:srgbClr val="F7F9FB"/>
          </a:solidFill>
          <a:ln w="12700">
            <a:solidFill>
              <a:srgbClr val="D1D5DB"/>
            </a:solidFill>
            <a:prstDash val="solid"/>
          </a:ln>
        </p:spPr>
      </p:sp>
      <p:sp>
        <p:nvSpPr>
          <p:cNvPr id="5" name="Text 3"/>
          <p:cNvSpPr/>
          <p:nvPr/>
        </p:nvSpPr>
        <p:spPr>
          <a:xfrm>
            <a:off x="804672" y="1691640"/>
            <a:ext cx="273405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In the simple domain</a:t>
            </a:r>
            <a:endParaRPr lang="en-US" sz="1700" dirty="0"/>
          </a:p>
        </p:txBody>
      </p:sp>
      <p:sp>
        <p:nvSpPr>
          <p:cNvPr id="6" name="Text 4"/>
          <p:cNvSpPr/>
          <p:nvPr/>
        </p:nvSpPr>
        <p:spPr>
          <a:xfrm>
            <a:off x="804672" y="2084832"/>
            <a:ext cx="2734056" cy="29535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The model knows predefined legal actions and their preconditions.</a:t>
            </a:r>
            <a:endParaRPr lang="en-US" sz="1350" dirty="0"/>
          </a:p>
        </p:txBody>
      </p:sp>
      <p:sp>
        <p:nvSpPr>
          <p:cNvPr id="7" name="Shape 5"/>
          <p:cNvSpPr/>
          <p:nvPr/>
        </p:nvSpPr>
        <p:spPr>
          <a:xfrm>
            <a:off x="4023360" y="1554480"/>
            <a:ext cx="3246120" cy="3611880"/>
          </a:xfrm>
          <a:prstGeom prst="roundRect">
            <a:avLst>
              <a:gd name="adj" fmla="val 1690"/>
            </a:avLst>
          </a:prstGeom>
          <a:solidFill>
            <a:srgbClr val="FFF5F3"/>
          </a:solidFill>
          <a:ln w="12700">
            <a:solidFill>
              <a:srgbClr val="E2A49B"/>
            </a:solidFill>
            <a:prstDash val="solid"/>
          </a:ln>
        </p:spPr>
      </p:sp>
      <p:sp>
        <p:nvSpPr>
          <p:cNvPr id="8" name="Text 6"/>
          <p:cNvSpPr/>
          <p:nvPr/>
        </p:nvSpPr>
        <p:spPr>
          <a:xfrm>
            <a:off x="4187952" y="1691640"/>
            <a:ext cx="2916936" cy="310896"/>
          </a:xfrm>
          <a:prstGeom prst="rect">
            <a:avLst/>
          </a:prstGeom>
          <a:noFill/>
          <a:ln/>
        </p:spPr>
        <p:txBody>
          <a:bodyPr wrap="square" lIns="0" tIns="0" rIns="0" bIns="0" rtlCol="0" anchor="ctr">
            <a:normAutofit/>
          </a:bodyPr>
          <a:lstStyle/>
          <a:p>
            <a:pPr marL="0" indent="0">
              <a:buNone/>
            </a:pPr>
            <a:r>
              <a:rPr lang="en-US" sz="1700" b="1" dirty="0">
                <a:solidFill>
                  <a:srgbClr val="B03A2E"/>
                </a:solidFill>
                <a:latin typeface="Arial" pitchFamily="34" charset="0"/>
                <a:ea typeface="Arial" pitchFamily="34" charset="-122"/>
                <a:cs typeface="Arial" pitchFamily="34" charset="-120"/>
              </a:rPr>
              <a:t>In NaReT</a:t>
            </a:r>
            <a:endParaRPr lang="en-US" sz="1700" dirty="0"/>
          </a:p>
        </p:txBody>
      </p:sp>
      <p:sp>
        <p:nvSpPr>
          <p:cNvPr id="9" name="Text 7"/>
          <p:cNvSpPr/>
          <p:nvPr/>
        </p:nvSpPr>
        <p:spPr>
          <a:xfrm>
            <a:off x="4187952" y="2084832"/>
            <a:ext cx="2916936" cy="2953512"/>
          </a:xfrm>
          <a:prstGeom prst="rect">
            <a:avLst/>
          </a:prstGeom>
          <a:noFill/>
          <a:ln/>
        </p:spPr>
        <p:txBody>
          <a:bodyPr wrap="square" lIns="254" tIns="254" rIns="254" bIns="254" rtlCol="0" anchor="t">
            <a:normAutofit/>
          </a:bodyPr>
          <a:lstStyle/>
          <a:p>
            <a:pPr marL="0" indent="0">
              <a:buNone/>
            </a:pPr>
            <a:r>
              <a:rPr lang="en-US" sz="1350" dirty="0">
                <a:solidFill>
                  <a:srgbClr val="222222"/>
                </a:solidFill>
                <a:latin typeface="Arial" pitchFamily="34" charset="0"/>
                <a:ea typeface="Arial" pitchFamily="34" charset="-122"/>
                <a:cs typeface="Arial" pitchFamily="34" charset="-120"/>
              </a:rPr>
              <a:t>Learner may:</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skip a step</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repeat a step</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do it in wrong order</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perform an unknown action</a:t>
            </a: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make an error and self-correct</a:t>
            </a:r>
            <a:endParaRPr lang="en-US" sz="1350" dirty="0"/>
          </a:p>
        </p:txBody>
      </p:sp>
      <p:sp>
        <p:nvSpPr>
          <p:cNvPr id="10" name="Shape 8"/>
          <p:cNvSpPr/>
          <p:nvPr/>
        </p:nvSpPr>
        <p:spPr>
          <a:xfrm>
            <a:off x="7589520" y="1554480"/>
            <a:ext cx="3886200" cy="3611880"/>
          </a:xfrm>
          <a:prstGeom prst="roundRect">
            <a:avLst>
              <a:gd name="adj" fmla="val 1519"/>
            </a:avLst>
          </a:prstGeom>
          <a:solidFill>
            <a:srgbClr val="EEF6EE"/>
          </a:solidFill>
          <a:ln w="12700">
            <a:solidFill>
              <a:srgbClr val="A9C9B2"/>
            </a:solidFill>
            <a:prstDash val="solid"/>
          </a:ln>
        </p:spPr>
      </p:sp>
      <p:sp>
        <p:nvSpPr>
          <p:cNvPr id="11" name="Text 9"/>
          <p:cNvSpPr/>
          <p:nvPr/>
        </p:nvSpPr>
        <p:spPr>
          <a:xfrm>
            <a:off x="7754112" y="1691640"/>
            <a:ext cx="3557016" cy="310896"/>
          </a:xfrm>
          <a:prstGeom prst="rect">
            <a:avLst/>
          </a:prstGeom>
          <a:noFill/>
          <a:ln/>
        </p:spPr>
        <p:txBody>
          <a:bodyPr wrap="square" lIns="0" tIns="0" rIns="0" bIns="0" rtlCol="0" anchor="ctr">
            <a:normAutofit/>
          </a:bodyPr>
          <a:lstStyle/>
          <a:p>
            <a:pPr marL="0" indent="0">
              <a:buNone/>
            </a:pPr>
            <a:r>
              <a:rPr lang="en-US" sz="1700" b="1" dirty="0">
                <a:solidFill>
                  <a:srgbClr val="17365D"/>
                </a:solidFill>
                <a:latin typeface="Arial" pitchFamily="34" charset="0"/>
                <a:ea typeface="Arial" pitchFamily="34" charset="-122"/>
                <a:cs typeface="Arial" pitchFamily="34" charset="-120"/>
              </a:rPr>
              <a:t>Needed modelling decision</a:t>
            </a:r>
            <a:endParaRPr lang="en-US" sz="1700" dirty="0"/>
          </a:p>
        </p:txBody>
      </p:sp>
      <p:sp>
        <p:nvSpPr>
          <p:cNvPr id="12" name="Text 10"/>
          <p:cNvSpPr/>
          <p:nvPr/>
        </p:nvSpPr>
        <p:spPr>
          <a:xfrm>
            <a:off x="7754112" y="2084832"/>
            <a:ext cx="3557016" cy="2953512"/>
          </a:xfrm>
          <a:prstGeom prst="rect">
            <a:avLst/>
          </a:prstGeom>
          <a:noFill/>
          <a:ln/>
        </p:spPr>
        <p:txBody>
          <a:bodyPr wrap="square" lIns="254" tIns="254" rIns="254" bIns="254" rtlCol="0" anchor="t">
            <a:normAutofit/>
          </a:bodyPr>
          <a:lstStyle/>
          <a:p>
            <a:pPr marL="0" indent="0">
              <a:buNone/>
            </a:pPr>
            <a:endParaRPr lang="en-US" sz="1350" dirty="0"/>
          </a:p>
          <a:p>
            <a:pPr marL="0" indent="0">
              <a:buNone/>
            </a:pPr>
            <a:r>
              <a:rPr lang="en-US" sz="1350" dirty="0">
                <a:solidFill>
                  <a:srgbClr val="222222"/>
                </a:solidFill>
                <a:latin typeface="Arial" pitchFamily="34" charset="0"/>
                <a:ea typeface="Arial" pitchFamily="34" charset="-122"/>
                <a:cs typeface="Arial" pitchFamily="34" charset="-120"/>
              </a:rPr>
              <a:t>• </a:t>
            </a:r>
            <a:r>
              <a:rPr lang="en-GB" sz="1400" dirty="0"/>
              <a:t>if an observed action would violate a precondition, that trajectory may simply become impossible or very unlikely under the model</a:t>
            </a:r>
            <a:endParaRPr lang="en-US" sz="1350" dirty="0"/>
          </a:p>
          <a:p>
            <a:pPr marL="0" indent="0">
              <a:buNone/>
            </a:pPr>
            <a:r>
              <a:rPr lang="en-GB" sz="1400" dirty="0"/>
              <a:t>How many different wrong sequences should we explicitly model without making the CCBM too large and complicated?</a:t>
            </a:r>
          </a:p>
          <a:p>
            <a:pPr marL="0" indent="0">
              <a:buNone/>
            </a:pPr>
            <a:endParaRPr lang="en-US" sz="1350" dirty="0"/>
          </a:p>
        </p:txBody>
      </p:sp>
      <p:sp>
        <p:nvSpPr>
          <p:cNvPr id="13" name="Text 11"/>
          <p:cNvSpPr/>
          <p:nvPr/>
        </p:nvSpPr>
        <p:spPr>
          <a:xfrm>
            <a:off x="868680" y="5468112"/>
            <a:ext cx="10515600" cy="530352"/>
          </a:xfrm>
          <a:prstGeom prst="rect">
            <a:avLst/>
          </a:prstGeom>
          <a:noFill/>
          <a:ln/>
        </p:spPr>
        <p:txBody>
          <a:bodyPr wrap="square" lIns="0" tIns="0" rIns="0" bIns="0" rtlCol="0" anchor="ctr">
            <a:normAutofit lnSpcReduction="10000"/>
          </a:bodyPr>
          <a:lstStyle/>
          <a:p>
            <a:pPr marL="0" indent="0" algn="ctr">
              <a:buNone/>
            </a:pPr>
            <a:r>
              <a:rPr lang="en-US" sz="1750" b="1" dirty="0">
                <a:solidFill>
                  <a:srgbClr val="17365D"/>
                </a:solidFill>
                <a:latin typeface="Arial" pitchFamily="34" charset="0"/>
                <a:ea typeface="Arial" pitchFamily="34" charset="-122"/>
                <a:cs typeface="Arial" pitchFamily="34" charset="-120"/>
              </a:rPr>
              <a:t>This is a major difference from the coffee example: mistakes are not noise — they are the behaviour we want to detect.</a:t>
            </a:r>
            <a:endParaRPr lang="en-US" sz="1750" dirty="0"/>
          </a:p>
        </p:txBody>
      </p:sp>
      <p:sp>
        <p:nvSpPr>
          <p:cNvPr id="25" name="Slide Number Placeholder 0"/>
          <p:cNvSpPr>
            <a:spLocks noGrp="1"/>
          </p:cNvSpPr>
          <p:nvPr>
            <p:ph type="sldNum" sz="quarter" idx="4294967295"/>
          </p:nvPr>
        </p:nvSpPr>
        <p:spPr>
          <a:xfrm>
            <a:off x="11247120" y="6400800"/>
            <a:ext cx="41148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rial"/>
                <a:ea typeface="Arial"/>
                <a:cs typeface="Arial"/>
              </a:defRPr>
            </a:lvl1pPr>
          </a:lstStyle>
          <a:p>
            <a:pPr algn="r"/>
            <a:fld id="{F7021451-1387-4CA6-816F-3879F97B5CBC}" type="slidenum">
              <a:rPr lang="en-US" b="0"/>
              <a:t>22</a:t>
            </a:fld>
            <a:endParaRPr lang="en-US"/>
          </a:p>
        </p:txBody>
      </p:sp>
      <p:sp>
        <p:nvSpPr>
          <p:cNvPr id="15" name="Rectangle 2">
            <a:extLst>
              <a:ext uri="{FF2B5EF4-FFF2-40B4-BE49-F238E27FC236}">
                <a16:creationId xmlns:a16="http://schemas.microsoft.com/office/drawing/2014/main" id="{F67A6A0A-F4EC-80BD-21F4-E2A6639702E9}"/>
              </a:ext>
            </a:extLst>
          </p:cNvPr>
          <p:cNvSpPr>
            <a:spLocks noChangeArrowheads="1"/>
          </p:cNvSpPr>
          <p:nvPr/>
        </p:nvSpPr>
        <p:spPr bwMode="auto">
          <a:xfrm>
            <a:off x="8265399" y="3412034"/>
            <a:ext cx="30219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wrong order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repeated step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wrong action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action by wrong person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action too early/too late </a:t>
            </a:r>
            <a:r>
              <a:rPr kumimoji="0" lang="en-US" altLang="en-US" sz="1800" b="0" i="0" u="none" strike="noStrike" cap="none" normalizeH="0" baseline="0" dirty="0" err="1">
                <a:ln>
                  <a:noFill/>
                </a:ln>
                <a:solidFill>
                  <a:schemeClr val="tx1"/>
                </a:solidFill>
                <a:effectLst/>
                <a:latin typeface="Arial" panose="020B0604020202020204" pitchFamily="34" charset="0"/>
              </a:rPr>
              <a:t>etc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3068</Words>
  <Application>Microsoft Office PowerPoint</Application>
  <PresentationFormat>Widescreen</PresentationFormat>
  <Paragraphs>359</Paragraphs>
  <Slides>22</Slides>
  <Notes>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Arial Unicode MS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Ardra Bauldwin</dc:creator>
  <cp:lastModifiedBy>Ardra Bauldwin</cp:lastModifiedBy>
  <cp:revision>8</cp:revision>
  <dcterms:created xsi:type="dcterms:W3CDTF">2026-08-30T19:16:00Z</dcterms:created>
  <dcterms:modified xsi:type="dcterms:W3CDTF">2026-09-10T15:10:34Z</dcterms:modified>
</cp:coreProperties>
</file>