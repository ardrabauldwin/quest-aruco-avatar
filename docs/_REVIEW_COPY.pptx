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86" r:id="rId12"/>
    <p:sldId id="274" r:id="rId13"/>
    <p:sldId id="275" r:id="rId14"/>
    <p:sldId id="276" r:id="rId15"/>
    <p:sldId id="279" r:id="rId16"/>
    <p:sldId id="280" r:id="rId17"/>
    <p:sldId id="281" r:id="rId18"/>
    <p:sldId id="282" r:id="rId19"/>
    <p:sldId id="284" r:id="rId20"/>
    <p:sldId id="258" r:id="rId21"/>
    <p:sldId id="259" r:id="rId22"/>
    <p:sldId id="2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3" autoAdjust="0"/>
    <p:restoredTop sz="94660"/>
  </p:normalViewPr>
  <p:slideViewPr>
    <p:cSldViewPr snapToGrid="0">
      <p:cViewPr varScale="1">
        <p:scale>
          <a:sx n="53" d="100"/>
          <a:sy n="53" d="100"/>
        </p:scale>
        <p:origin x="636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D6747-5773-4437-9BF1-CBA61ACE12D7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B4CE01-53F1-4386-90EE-DF16E13832B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195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B4CE01-53F1-4386-90EE-DF16E13832B7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0055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21051-EB82-BC66-9376-BD68CF49B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E2B62-2154-1563-1299-ADE69D850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62962-D102-ED2C-02E4-52AB84C0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5EEF32-80EE-F1EF-8EC6-6712A0D64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79242-BB2B-75D2-A1A4-2894893D7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315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3AC2-15BC-ED83-BD93-1177EA966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423AE-731F-3B77-380E-1D43ABE91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52AF1-40D6-6E36-C5C6-A9282EBE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3A7D3-0D49-AE78-4D13-EB221F50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7729-DC8A-6343-05D3-755D0E8F3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35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0AB5E-615C-BC51-D7D6-0F49CF7A3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D517-E40C-63C9-058C-37337EACFC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750C-F85F-ADC9-8924-D27C8FC55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1836C-2A2B-3ED9-F466-464EA840D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89DF2-365B-CD31-41E1-1D196B227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00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42EC-7097-9876-E4E7-B6C0F618C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932D2-1442-7A8B-2C5D-BF29D69B4E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53AC35-579C-2CA6-09FF-91C0790DB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D2237-C14A-1E6D-20E7-DE57BF5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C7E138-1F79-6840-DF7E-4544D56D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26621-46A1-3BDD-5313-EBE4F1A63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085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4F8B9-9756-D8B3-EB17-A5C814D51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22F6C-F4CC-10E9-1CC4-D696A9616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46620-68E5-DD95-9E06-DF5CD031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4ACB0-04B5-7246-C95D-054D76288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F4C50-22D7-EAFD-87FB-AA63F4CBDC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FD2B40-9007-3660-047E-9E64EC00B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326D71-F83E-3DC0-5096-91A15FDA9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D1216-C5E6-8788-62C6-FC616C29E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29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D302-8FC4-6207-84F4-C91F5E610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9CE10-BEB3-ECB6-E0B3-0440BD998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D44D0-6B1F-0EEC-3A19-890F523CC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FDF1D-753D-4109-5808-DFF9968DC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947028-BABB-E6BB-F6CA-0AA89F6D1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FA16DF-5040-E26D-6C78-A54D5DE7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36418-E9A1-FAAF-D46C-B210BAAB4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569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BED38-64FC-8599-88FA-C047442D3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EC04-96E8-7C64-3B39-39996A9BA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8A16CA-83FE-A8BA-82E8-5C11749CD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934-CC76-86A6-A0DC-39AF19DC2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A7E4F-D47E-F04D-73D9-67920EEA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D25228-CE50-CA44-2628-AFE3B5DC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707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827C-BA03-3863-FC7B-811E239C5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9052BA-748D-9CBB-2B40-24768B639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961A1-CD42-BE7E-F368-3AD20AD1F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0D9EB-CE2C-7149-63F8-86EB0817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686F9B-08CB-3161-0903-4C1AB4883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0D986-2D45-9E95-C1EB-672AF068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9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9CBB6-E6CF-FB6F-7D6E-988EF0AB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AC603-4761-DBAA-5A28-4E34AF66A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F0B6D-2F54-E3BD-13C8-77CB67C5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B2F9B-9278-BA21-D11D-CC2971A62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28C6-3816-0FD7-4E1D-88E0111E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187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A1E700-2FB0-5E9E-D952-53E007FA1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F7EA7E-3997-963A-79B3-FEB01BB2F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688D1-0266-872C-4604-E1EB30FE7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390E2-BF9B-F78C-E6A9-1FB6F0812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CFCD0-EE39-E39D-FA16-4F2CF1F9C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730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NaReT • CCBM discussion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92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3A89E-636A-DADC-2C20-198D1346E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C35D2-6CCC-9693-8242-F9586B08A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77154-5794-477F-5858-0DA2E296C6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627236-4C34-48E2-B38E-25D0C5A8811C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E71CD1-A52A-0CA0-5BCB-D18514A59D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41483-F432-CC22-E4D3-276E92007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0FDF1A-9DF8-4B23-BD07-A0E3E0DD07A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661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3BCC90-E220-B25D-9107-7233CBE92B35}"/>
              </a:ext>
            </a:extLst>
          </p:cNvPr>
          <p:cNvSpPr txBox="1"/>
          <p:nvPr/>
        </p:nvSpPr>
        <p:spPr>
          <a:xfrm>
            <a:off x="685800" y="762000"/>
            <a:ext cx="10795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 b="1">
                <a:solidFill>
                  <a:srgbClr val="2CB1BC"/>
                </a:solidFill>
                <a:latin typeface="Aptos" panose="020B0004020202020204" pitchFamily="34" charset="0"/>
              </a:rPr>
              <a:t>QUEST ARUCO AVATAR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08930-26C7-F46E-194C-3B67E2EDCBF0}"/>
              </a:ext>
            </a:extLst>
          </p:cNvPr>
          <p:cNvSpPr txBox="1"/>
          <p:nvPr/>
        </p:nvSpPr>
        <p:spPr>
          <a:xfrm>
            <a:off x="685800" y="1422400"/>
            <a:ext cx="96520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  <a:t>How the avatar is placed</a:t>
            </a:r>
            <a:b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3600" b="1">
                <a:solidFill>
                  <a:srgbClr val="FFFFFF"/>
                </a:solidFill>
                <a:latin typeface="Aptos" panose="020B0004020202020204" pitchFamily="34" charset="0"/>
              </a:rPr>
              <a:t>on the mannequin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D266A-88EA-A907-38AE-D5DC928C33DD}"/>
              </a:ext>
            </a:extLst>
          </p:cNvPr>
          <p:cNvSpPr txBox="1"/>
          <p:nvPr/>
        </p:nvSpPr>
        <p:spPr>
          <a:xfrm>
            <a:off x="711200" y="2908300"/>
            <a:ext cx="9906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>
                <a:solidFill>
                  <a:srgbClr val="CCDEEE"/>
                </a:solidFill>
                <a:latin typeface="Aptos" panose="020B0004020202020204" pitchFamily="34" charset="0"/>
              </a:rPr>
              <a:t>Floor-locked, grid-selected runtime • installed 5 September 2026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80CD90-06C4-EC46-8D99-FF5DE6ED1FC5}"/>
              </a:ext>
            </a:extLst>
          </p:cNvPr>
          <p:cNvSpPr/>
          <p:nvPr/>
        </p:nvSpPr>
        <p:spPr>
          <a:xfrm>
            <a:off x="736600" y="4191000"/>
            <a:ext cx="1828800" cy="7874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CAMERA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0AE8F42-205C-68B5-96A2-FE919CE5C748}"/>
              </a:ext>
            </a:extLst>
          </p:cNvPr>
          <p:cNvCxnSpPr/>
          <p:nvPr/>
        </p:nvCxnSpPr>
        <p:spPr>
          <a:xfrm>
            <a:off x="25654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3EB3D4B-6DDB-71AA-DB53-E9DF252E4082}"/>
              </a:ext>
            </a:extLst>
          </p:cNvPr>
          <p:cNvSpPr/>
          <p:nvPr/>
        </p:nvSpPr>
        <p:spPr>
          <a:xfrm>
            <a:off x="2946400" y="4191000"/>
            <a:ext cx="1828800" cy="787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MARKERS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64F034-6FA3-29F0-2C7D-C17E2BB62162}"/>
              </a:ext>
            </a:extLst>
          </p:cNvPr>
          <p:cNvCxnSpPr/>
          <p:nvPr/>
        </p:nvCxnSpPr>
        <p:spPr>
          <a:xfrm>
            <a:off x="47752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2F8AE2-D91C-E87B-50BE-2572E505D659}"/>
              </a:ext>
            </a:extLst>
          </p:cNvPr>
          <p:cNvSpPr/>
          <p:nvPr/>
        </p:nvSpPr>
        <p:spPr>
          <a:xfrm>
            <a:off x="5156200" y="4191000"/>
            <a:ext cx="1828800" cy="7874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COMMON POSE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0DAC4B-AAA3-48BD-0D02-67A67483D793}"/>
              </a:ext>
            </a:extLst>
          </p:cNvPr>
          <p:cNvCxnSpPr/>
          <p:nvPr/>
        </p:nvCxnSpPr>
        <p:spPr>
          <a:xfrm>
            <a:off x="69850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6BC05D-6609-6464-19A1-B6EE05AF9860}"/>
              </a:ext>
            </a:extLst>
          </p:cNvPr>
          <p:cNvSpPr/>
          <p:nvPr/>
        </p:nvSpPr>
        <p:spPr>
          <a:xfrm>
            <a:off x="7366000" y="4191000"/>
            <a:ext cx="1828800" cy="787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FILTER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2E9665-851F-114F-C2FB-E55CDCDCA8F6}"/>
              </a:ext>
            </a:extLst>
          </p:cNvPr>
          <p:cNvCxnSpPr/>
          <p:nvPr/>
        </p:nvCxnSpPr>
        <p:spPr>
          <a:xfrm>
            <a:off x="9194800" y="4584700"/>
            <a:ext cx="330200" cy="0"/>
          </a:xfrm>
          <a:prstGeom prst="straightConnector1">
            <a:avLst/>
          </a:prstGeom>
          <a:ln w="25400">
            <a:solidFill>
              <a:srgbClr val="FFFFFF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7367833-3941-5C33-4E85-250724EFF2BA}"/>
              </a:ext>
            </a:extLst>
          </p:cNvPr>
          <p:cNvSpPr/>
          <p:nvPr/>
        </p:nvSpPr>
        <p:spPr>
          <a:xfrm>
            <a:off x="9575800" y="4191000"/>
            <a:ext cx="1828800" cy="787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AVATAR</a:t>
            </a:r>
          </a:p>
        </p:txBody>
      </p:sp>
    </p:spTree>
    <p:extLst>
      <p:ext uri="{BB962C8B-B14F-4D97-AF65-F5344CB8AC3E}">
        <p14:creationId xmlns:p14="http://schemas.microsoft.com/office/powerpoint/2010/main" val="3493447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9D66CC7-6E70-0524-73D6-79863F24A084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FF9E7-67FD-6597-6F8F-658D33512B1F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The placement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6B99D0-E53C-6467-A228-B95B4572B973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6C54A-036A-D5F9-FD03-0250675C86D9}"/>
              </a:ext>
            </a:extLst>
          </p:cNvPr>
          <p:cNvSpPr txBox="1"/>
          <p:nvPr/>
        </p:nvSpPr>
        <p:spPr>
          <a:xfrm>
            <a:off x="533400" y="1574800"/>
            <a:ext cx="8890000" cy="30777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000" b="1">
                <a:solidFill>
                  <a:srgbClr val="16324F"/>
                </a:solidFill>
                <a:latin typeface="Aptos" panose="020B0004020202020204" pitchFamily="34" charset="0"/>
              </a:rPr>
              <a:t>Three physical markers must describe one virtual body anchor.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9D41E5-FD15-AE6F-4EBB-FC61E11D0131}"/>
              </a:ext>
            </a:extLst>
          </p:cNvPr>
          <p:cNvSpPr/>
          <p:nvPr/>
        </p:nvSpPr>
        <p:spPr>
          <a:xfrm>
            <a:off x="724156" y="2590800"/>
            <a:ext cx="1396744" cy="12065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ID0</a:t>
            </a:r>
            <a:b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</a:br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common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308CC3-4B5D-535B-373A-797333EA1B07}"/>
              </a:ext>
            </a:extLst>
          </p:cNvPr>
          <p:cNvSpPr/>
          <p:nvPr/>
        </p:nvSpPr>
        <p:spPr>
          <a:xfrm>
            <a:off x="914400" y="4140200"/>
            <a:ext cx="1206500" cy="12065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ID1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chest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3BB521-8390-82BB-FA0F-FF12D8C264B7}"/>
              </a:ext>
            </a:extLst>
          </p:cNvPr>
          <p:cNvSpPr/>
          <p:nvPr/>
        </p:nvSpPr>
        <p:spPr>
          <a:xfrm>
            <a:off x="2667000" y="4140200"/>
            <a:ext cx="1206500" cy="12065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ID2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torso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EE57D31-9A62-B502-663F-CFAF9678F7D9}"/>
              </a:ext>
            </a:extLst>
          </p:cNvPr>
          <p:cNvCxnSpPr/>
          <p:nvPr/>
        </p:nvCxnSpPr>
        <p:spPr>
          <a:xfrm>
            <a:off x="2120900" y="3176032"/>
            <a:ext cx="2616200" cy="3556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2B7B25-631E-58B5-6EBF-C4EF2E333738}"/>
              </a:ext>
            </a:extLst>
          </p:cNvPr>
          <p:cNvCxnSpPr/>
          <p:nvPr/>
        </p:nvCxnSpPr>
        <p:spPr>
          <a:xfrm flipV="1">
            <a:off x="2066946" y="3657600"/>
            <a:ext cx="2616200" cy="8128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A9464D-94B2-92BF-9478-68ED551E799C}"/>
              </a:ext>
            </a:extLst>
          </p:cNvPr>
          <p:cNvCxnSpPr/>
          <p:nvPr/>
        </p:nvCxnSpPr>
        <p:spPr>
          <a:xfrm flipV="1">
            <a:off x="3873500" y="3987800"/>
            <a:ext cx="901700" cy="7112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F6C1389-2D2B-F374-B8EE-F3371A4A2435}"/>
              </a:ext>
            </a:extLst>
          </p:cNvPr>
          <p:cNvSpPr/>
          <p:nvPr/>
        </p:nvSpPr>
        <p:spPr>
          <a:xfrm>
            <a:off x="4800600" y="3124200"/>
            <a:ext cx="2286000" cy="120650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  <a:t>ONE COMMON</a:t>
            </a:r>
            <a:b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2000" b="1">
                <a:solidFill>
                  <a:srgbClr val="FFFFFF"/>
                </a:solidFill>
                <a:latin typeface="Aptos" panose="020B0004020202020204" pitchFamily="34" charset="0"/>
              </a:rPr>
              <a:t>6-DoF POSE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82F5E-0228-4267-74A4-1DFC83F3653F}"/>
              </a:ext>
            </a:extLst>
          </p:cNvPr>
          <p:cNvSpPr txBox="1"/>
          <p:nvPr/>
        </p:nvSpPr>
        <p:spPr>
          <a:xfrm>
            <a:off x="7747000" y="2514600"/>
            <a:ext cx="3810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fr-FR" b="1" dirty="0">
                <a:solidFill>
                  <a:srgbClr val="102A43"/>
                </a:solidFill>
                <a:latin typeface="Aptos" panose="020B0004020202020204" pitchFamily="34" charset="0"/>
              </a:rPr>
              <a:t>Pose = position (X,Y,Z) + orientation</a:t>
            </a:r>
            <a:endParaRPr lang="en-GB" b="1" dirty="0">
              <a:solidFill>
                <a:srgbClr val="102A43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92A2F1-18EA-9F7E-4F4A-FED804B19F73}"/>
              </a:ext>
            </a:extLst>
          </p:cNvPr>
          <p:cNvSpPr txBox="1"/>
          <p:nvPr/>
        </p:nvSpPr>
        <p:spPr>
          <a:xfrm>
            <a:off x="7747000" y="3162300"/>
            <a:ext cx="3632200" cy="73866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The calibration stores a full marker → common transform, including both translation and rotation.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23B14D6-63FC-A113-48EE-C0F1C5C8F547}"/>
              </a:ext>
            </a:extLst>
          </p:cNvPr>
          <p:cNvSpPr/>
          <p:nvPr/>
        </p:nvSpPr>
        <p:spPr>
          <a:xfrm>
            <a:off x="7670800" y="4635500"/>
            <a:ext cx="3810000" cy="8636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16324F"/>
                </a:solidFill>
                <a:latin typeface="Aptos" panose="020B0004020202020204" pitchFamily="34" charset="0"/>
              </a:rPr>
              <a:t>marker world pose × marker-to-common offset = common estimate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62AA9D-55FF-9255-9D40-61351201DCB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 • default_navel_calibration.cfg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A46649-4D79-21CE-8C02-14F7D5143D1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346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7DB9C3-6D4D-24E4-2A71-9B39C0307011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37746F-839E-82D3-8A69-25675135F5BA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Reconstruct, fuse and floor-lock the common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A1E49-709B-2D38-61A3-7F52D967C5F8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AEC06-ADE8-DC86-FB83-D15F521AFAF4}"/>
              </a:ext>
            </a:extLst>
          </p:cNvPr>
          <p:cNvSpPr txBox="1"/>
          <p:nvPr/>
        </p:nvSpPr>
        <p:spPr>
          <a:xfrm>
            <a:off x="533399" y="1549401"/>
            <a:ext cx="11605413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b="1" dirty="0">
                <a:solidFill>
                  <a:srgbClr val="16324F"/>
                </a:solidFill>
                <a:latin typeface="Aptos" panose="020B0004020202020204" pitchFamily="34" charset="0"/>
              </a:rPr>
              <a:t>Only markers from the exact newest camera result are combined; orientation is then constrained to the floor.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F4E231-EC38-2E05-6690-A40E8D13F7A8}"/>
              </a:ext>
            </a:extLst>
          </p:cNvPr>
          <p:cNvSpPr/>
          <p:nvPr/>
        </p:nvSpPr>
        <p:spPr>
          <a:xfrm>
            <a:off x="685800" y="2235200"/>
            <a:ext cx="1905000" cy="685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1 marker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99BEBB-335D-6DE9-F13F-604BEA8D951A}"/>
              </a:ext>
            </a:extLst>
          </p:cNvPr>
          <p:cNvSpPr/>
          <p:nvPr/>
        </p:nvSpPr>
        <p:spPr>
          <a:xfrm>
            <a:off x="2819400" y="22352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16324F"/>
                </a:solidFill>
                <a:latin typeface="Aptos" panose="020B0004020202020204" pitchFamily="34" charset="0"/>
              </a:rPr>
              <a:t>Use its reconstructed common pose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9DD84F-910F-2CCD-D643-1BF3326C7C8F}"/>
              </a:ext>
            </a:extLst>
          </p:cNvPr>
          <p:cNvSpPr/>
          <p:nvPr/>
        </p:nvSpPr>
        <p:spPr>
          <a:xfrm>
            <a:off x="685800" y="3254676"/>
            <a:ext cx="1905000" cy="685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2 markers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A9F6AE-DFFA-35F3-125D-2CA57D371422}"/>
              </a:ext>
            </a:extLst>
          </p:cNvPr>
          <p:cNvSpPr/>
          <p:nvPr/>
        </p:nvSpPr>
        <p:spPr>
          <a:xfrm>
            <a:off x="2819400" y="32004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rgbClr val="16324F"/>
                </a:solidFill>
                <a:latin typeface="Aptos" panose="020B0004020202020204" pitchFamily="34" charset="0"/>
              </a:rPr>
              <a:t>Mean position + sign-aligned quaternion average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8BA688-1577-15FA-A6D0-47226CBB8357}"/>
              </a:ext>
            </a:extLst>
          </p:cNvPr>
          <p:cNvSpPr/>
          <p:nvPr/>
        </p:nvSpPr>
        <p:spPr>
          <a:xfrm>
            <a:off x="685800" y="4165600"/>
            <a:ext cx="1905000" cy="685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3 markers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54BE53E-A168-5FE8-D3B0-9209E7718DDA}"/>
              </a:ext>
            </a:extLst>
          </p:cNvPr>
          <p:cNvSpPr/>
          <p:nvPr/>
        </p:nvSpPr>
        <p:spPr>
          <a:xfrm>
            <a:off x="2819400" y="4165600"/>
            <a:ext cx="546100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Mean position + sign-aligned quaternion average (same as 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A9E2CD-62FF-874F-C1C5-88B43D3AE627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navel_provider.gd::_fuse • navel_provider.gd::_floor_lock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6747D-2FFF-78F6-BBB3-EB0C34CB6D45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2231136"/>
            <a:ext cx="3090672" cy="685800"/>
          </a:xfrm>
          <a:prstGeom prst="round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FLOOR-LOCK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3200400"/>
            <a:ext cx="3090672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C8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18872" rIns="128016" bIns="91440" rtlCol="0" anchor="ctr"/>
          <a:lstStyle/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Marker local Y → horizontal body direction</a:t>
            </a:r>
          </a:p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Quest UP → vertical reference</a:t>
            </a:r>
          </a:p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Cross product → sideways axis</a:t>
            </a:r>
          </a:p>
          <a:p>
            <a:pPr algn="l">
              <a:spcAft>
                <a:spcPts val="0"/>
              </a:spcAft>
            </a:pPr>
            <a:endParaRPr sz="1350">
              <a:solidFill>
                <a:srgbClr val="16324F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sz="1350">
                <a:solidFill>
                  <a:srgbClr val="16324F"/>
                </a:solidFill>
                <a:latin typeface="Aptos"/>
              </a:rPr>
              <a:t>Marker pitch + roll discarded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1A4E33-939E-8183-78B3-EC694EE0E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5287403"/>
            <a:ext cx="4018856" cy="153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777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EAE7CE-60C9-112C-1832-86170D329ABB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B0A4C-EFD9-4D6C-DDDC-B7059BB8D602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Startup: learn a robust session rest pose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271A81-77F0-5C76-DA23-1B205DBAD73E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BC8E7-2DFE-8476-E4DA-7D88BC58B527}"/>
              </a:ext>
            </a:extLst>
          </p:cNvPr>
          <p:cNvSpPr txBox="1"/>
          <p:nvPr/>
        </p:nvSpPr>
        <p:spPr>
          <a:xfrm>
            <a:off x="533400" y="1549400"/>
            <a:ext cx="9906000" cy="2769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b="1" dirty="0">
                <a:solidFill>
                  <a:srgbClr val="16324F"/>
                </a:solidFill>
                <a:latin typeface="Aptos" panose="020B0004020202020204" pitchFamily="34" charset="0"/>
              </a:rPr>
              <a:t>The avatar stays hidden while independent fused poses are collected.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260A45-4BDE-C9F9-ECA6-48552E34BA62}"/>
              </a:ext>
            </a:extLst>
          </p:cNvPr>
          <p:cNvSpPr/>
          <p:nvPr/>
        </p:nvSpPr>
        <p:spPr>
          <a:xfrm>
            <a:off x="939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5A0AC3-F586-9F49-4B27-3C4254E88F94}"/>
              </a:ext>
            </a:extLst>
          </p:cNvPr>
          <p:cNvSpPr txBox="1"/>
          <p:nvPr/>
        </p:nvSpPr>
        <p:spPr>
          <a:xfrm>
            <a:off x="1066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2F7FD9-2D69-2546-E963-58D0D1083DD6}"/>
              </a:ext>
            </a:extLst>
          </p:cNvPr>
          <p:cNvCxnSpPr/>
          <p:nvPr/>
        </p:nvCxnSpPr>
        <p:spPr>
          <a:xfrm>
            <a:off x="1854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53A8715-B51B-C8AC-9391-8A8F94295271}"/>
              </a:ext>
            </a:extLst>
          </p:cNvPr>
          <p:cNvSpPr/>
          <p:nvPr/>
        </p:nvSpPr>
        <p:spPr>
          <a:xfrm>
            <a:off x="35433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4F5A8-A3E1-89CE-47BE-2B086A17A4BF}"/>
              </a:ext>
            </a:extLst>
          </p:cNvPr>
          <p:cNvSpPr txBox="1"/>
          <p:nvPr/>
        </p:nvSpPr>
        <p:spPr>
          <a:xfrm>
            <a:off x="3670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E1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E4B687-995B-3EA3-2475-10899053C3EB}"/>
              </a:ext>
            </a:extLst>
          </p:cNvPr>
          <p:cNvCxnSpPr/>
          <p:nvPr/>
        </p:nvCxnSpPr>
        <p:spPr>
          <a:xfrm>
            <a:off x="44577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1BFB74A-90A4-9FF9-9BE6-BF62BBE597C5}"/>
              </a:ext>
            </a:extLst>
          </p:cNvPr>
          <p:cNvSpPr/>
          <p:nvPr/>
        </p:nvSpPr>
        <p:spPr>
          <a:xfrm>
            <a:off x="6146800" y="2603500"/>
            <a:ext cx="914400" cy="9144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550C5-21C6-352A-4C53-3610D07A1485}"/>
              </a:ext>
            </a:extLst>
          </p:cNvPr>
          <p:cNvSpPr txBox="1"/>
          <p:nvPr/>
        </p:nvSpPr>
        <p:spPr>
          <a:xfrm>
            <a:off x="62738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E2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B1C8EB-14A0-9079-04FE-A964122896E2}"/>
              </a:ext>
            </a:extLst>
          </p:cNvPr>
          <p:cNvCxnSpPr/>
          <p:nvPr/>
        </p:nvCxnSpPr>
        <p:spPr>
          <a:xfrm>
            <a:off x="7061200" y="3060700"/>
            <a:ext cx="1498600" cy="0"/>
          </a:xfrm>
          <a:prstGeom prst="straightConnector1">
            <a:avLst/>
          </a:prstGeom>
          <a:ln w="3048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D8B7B52D-3313-92EF-1C55-A44A7251869E}"/>
              </a:ext>
            </a:extLst>
          </p:cNvPr>
          <p:cNvSpPr/>
          <p:nvPr/>
        </p:nvSpPr>
        <p:spPr>
          <a:xfrm>
            <a:off x="8750300" y="2603500"/>
            <a:ext cx="914400" cy="9144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E61476-44C6-AAC1-0EF4-1C827A5805AA}"/>
              </a:ext>
            </a:extLst>
          </p:cNvPr>
          <p:cNvSpPr txBox="1"/>
          <p:nvPr/>
        </p:nvSpPr>
        <p:spPr>
          <a:xfrm>
            <a:off x="8877300" y="3606800"/>
            <a:ext cx="660400" cy="230832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>
                <a:solidFill>
                  <a:srgbClr val="102A43"/>
                </a:solidFill>
                <a:latin typeface="Aptos" panose="020B0004020202020204" pitchFamily="34" charset="0"/>
              </a:rPr>
              <a:t>E3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CB503-5F84-7C03-B385-AF4FC4A38CE2}"/>
              </a:ext>
            </a:extLst>
          </p:cNvPr>
          <p:cNvSpPr txBox="1"/>
          <p:nvPr/>
        </p:nvSpPr>
        <p:spPr>
          <a:xfrm>
            <a:off x="889000" y="4178300"/>
            <a:ext cx="10414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Each estimate uses </a:t>
            </a:r>
            <a:r>
              <a:rPr lang="en-GB" sz="1600" dirty="0">
                <a:solidFill>
                  <a:srgbClr val="FF0000"/>
                </a:solidFill>
                <a:latin typeface="Aptos" panose="020B0004020202020204" pitchFamily="34" charset="0"/>
              </a:rPr>
              <a:t>coordinate-median position + one measured rotation medoid </a:t>
            </a:r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over all collected poses.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186738D-5C0D-4BEC-6945-2ECB99A7BFC9}"/>
              </a:ext>
            </a:extLst>
          </p:cNvPr>
          <p:cNvSpPr/>
          <p:nvPr/>
        </p:nvSpPr>
        <p:spPr>
          <a:xfrm>
            <a:off x="1219200" y="4914900"/>
            <a:ext cx="4699000" cy="889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Stable comparison</a:t>
            </a:r>
            <a:b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 b="1" dirty="0">
                <a:solidFill>
                  <a:srgbClr val="16324F"/>
                </a:solidFill>
                <a:latin typeface="Aptos" panose="020B0004020202020204" pitchFamily="34" charset="0"/>
              </a:rPr>
              <a:t>Δ position ≤ 1.5 mm  AND  Δ rotation ≤ 1.0°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4F9DAE4-5A53-2D3B-64E1-83D0D78C07A8}"/>
              </a:ext>
            </a:extLst>
          </p:cNvPr>
          <p:cNvSpPr/>
          <p:nvPr/>
        </p:nvSpPr>
        <p:spPr>
          <a:xfrm>
            <a:off x="6350000" y="4914900"/>
            <a:ext cx="4648200" cy="889000"/>
          </a:xfrm>
          <a:prstGeom prst="roundRect">
            <a:avLst/>
          </a:prstGeom>
          <a:solidFill>
            <a:srgbClr val="E7F7ED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4 stable comparisons → detection 42 earliest</a:t>
            </a:r>
            <a:b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</a:br>
            <a:r>
              <a:rPr lang="en-GB" sz="1500" b="1" dirty="0">
                <a:solidFill>
                  <a:srgbClr val="202C37"/>
                </a:solidFill>
                <a:latin typeface="Aptos" panose="020B0004020202020204" pitchFamily="34" charset="0"/>
              </a:rPr>
              <a:t>Detection 100 fallback ≈ 10 s at 10 Hz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B9FC7F-89F7-32F8-82FE-274437ACD4E0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Grid-selected on the 2026-09-04 session • ≥95% stationary confirmation • ≤5% moving false acceptance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E76273-E7C6-80C4-65E0-17CE1C966378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7425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AB9D6A-9BD3-C6F4-68BA-FB05A10CA4FA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36F8E-A742-7195-C3E7-A9095886F14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 dirty="0">
                <a:solidFill>
                  <a:srgbClr val="102A43"/>
                </a:solidFill>
                <a:latin typeface="Aptos" panose="020B0004020202020204" pitchFamily="34" charset="0"/>
              </a:rPr>
              <a:t>After startup: the runtime filter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CAD0A-6C4A-EE5A-774B-0D02F75AD77B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5B90F99-01DF-1557-DA78-7533EB724B45}"/>
              </a:ext>
            </a:extLst>
          </p:cNvPr>
          <p:cNvSpPr/>
          <p:nvPr/>
        </p:nvSpPr>
        <p:spPr>
          <a:xfrm>
            <a:off x="1181100" y="1905000"/>
            <a:ext cx="457200" cy="4572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DE531B-60A2-972A-CAEE-C45798B08AB0}"/>
              </a:ext>
            </a:extLst>
          </p:cNvPr>
          <p:cNvSpPr/>
          <p:nvPr/>
        </p:nvSpPr>
        <p:spPr>
          <a:xfrm>
            <a:off x="546100" y="2603500"/>
            <a:ext cx="1778000" cy="939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FLOOR-LOCKED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MEASUREMENT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EE25C3-46E0-E645-A6C8-8CF1ADE0B55B}"/>
              </a:ext>
            </a:extLst>
          </p:cNvPr>
          <p:cNvCxnSpPr/>
          <p:nvPr/>
        </p:nvCxnSpPr>
        <p:spPr>
          <a:xfrm>
            <a:off x="23241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A537D6-08FC-9BE2-D6CA-D49D7816BBD7}"/>
              </a:ext>
            </a:extLst>
          </p:cNvPr>
          <p:cNvSpPr/>
          <p:nvPr/>
        </p:nvSpPr>
        <p:spPr>
          <a:xfrm>
            <a:off x="3479800" y="1905000"/>
            <a:ext cx="457200" cy="457200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61DB2E-F186-01B5-A020-705CE18C1493}"/>
              </a:ext>
            </a:extLst>
          </p:cNvPr>
          <p:cNvSpPr/>
          <p:nvPr/>
        </p:nvSpPr>
        <p:spPr>
          <a:xfrm>
            <a:off x="2844800" y="2603500"/>
            <a:ext cx="1778000" cy="9398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5-POSE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MEDOID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FDAEAE7-A9A0-2548-81AF-B99670A6041D}"/>
              </a:ext>
            </a:extLst>
          </p:cNvPr>
          <p:cNvCxnSpPr/>
          <p:nvPr/>
        </p:nvCxnSpPr>
        <p:spPr>
          <a:xfrm>
            <a:off x="46228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11C3374E-7742-B42C-07E5-A29FE0F944A2}"/>
              </a:ext>
            </a:extLst>
          </p:cNvPr>
          <p:cNvSpPr/>
          <p:nvPr/>
        </p:nvSpPr>
        <p:spPr>
          <a:xfrm>
            <a:off x="5778500" y="1905000"/>
            <a:ext cx="457200" cy="4572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7B7BEE-7A4E-DF4D-ADEF-D612A9BBFF58}"/>
              </a:ext>
            </a:extLst>
          </p:cNvPr>
          <p:cNvSpPr/>
          <p:nvPr/>
        </p:nvSpPr>
        <p:spPr>
          <a:xfrm>
            <a:off x="5143500" y="2603500"/>
            <a:ext cx="1778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DEAD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ZONES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1C2E98B-4032-547C-4364-3AC20E64C897}"/>
              </a:ext>
            </a:extLst>
          </p:cNvPr>
          <p:cNvCxnSpPr/>
          <p:nvPr/>
        </p:nvCxnSpPr>
        <p:spPr>
          <a:xfrm>
            <a:off x="69215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BF0D753-AD34-1C8F-ED93-0CAB67D66C94}"/>
              </a:ext>
            </a:extLst>
          </p:cNvPr>
          <p:cNvSpPr/>
          <p:nvPr/>
        </p:nvSpPr>
        <p:spPr>
          <a:xfrm>
            <a:off x="8077200" y="1905000"/>
            <a:ext cx="457200" cy="45720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3B56F06-5DA8-58C6-D41E-7AC66F73AE74}"/>
              </a:ext>
            </a:extLst>
          </p:cNvPr>
          <p:cNvSpPr/>
          <p:nvPr/>
        </p:nvSpPr>
        <p:spPr>
          <a:xfrm>
            <a:off x="7442200" y="2603500"/>
            <a:ext cx="1778000" cy="9398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EXPONENTIAL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SMOOTHING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1FEDC1-9183-F09B-BDAE-90899EF3C1D4}"/>
              </a:ext>
            </a:extLst>
          </p:cNvPr>
          <p:cNvCxnSpPr/>
          <p:nvPr/>
        </p:nvCxnSpPr>
        <p:spPr>
          <a:xfrm>
            <a:off x="9220200" y="3073400"/>
            <a:ext cx="431800" cy="0"/>
          </a:xfrm>
          <a:prstGeom prst="straightConnector1">
            <a:avLst/>
          </a:prstGeom>
          <a:ln w="2794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7E71277-CEB1-0C75-D39D-581E5613DFB7}"/>
              </a:ext>
            </a:extLst>
          </p:cNvPr>
          <p:cNvSpPr/>
          <p:nvPr/>
        </p:nvSpPr>
        <p:spPr>
          <a:xfrm>
            <a:off x="10375900" y="1905000"/>
            <a:ext cx="457200" cy="457200"/>
          </a:xfrm>
          <a:prstGeom prst="ellipse">
            <a:avLst/>
          </a:prstGeom>
          <a:solidFill>
            <a:srgbClr val="7152AD"/>
          </a:solidFill>
          <a:ln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DCF3530-005B-4BAC-EB4A-2EECFD2AC891}"/>
              </a:ext>
            </a:extLst>
          </p:cNvPr>
          <p:cNvSpPr/>
          <p:nvPr/>
        </p:nvSpPr>
        <p:spPr>
          <a:xfrm>
            <a:off x="9740900" y="2603500"/>
            <a:ext cx="1778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LOCAL REST</a:t>
            </a:r>
            <a:b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PULL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D232C0-0CA9-9821-0305-E20036898C24}"/>
              </a:ext>
            </a:extLst>
          </p:cNvPr>
          <p:cNvSpPr txBox="1"/>
          <p:nvPr/>
        </p:nvSpPr>
        <p:spPr>
          <a:xfrm>
            <a:off x="411941" y="40132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anose="020B0004020202020204" pitchFamily="34" charset="0"/>
              </a:rPr>
              <a:t>Updates once per new OpenCV timestamp,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9AE5F6-7B86-32A5-C45D-877BE90D17FB}"/>
              </a:ext>
            </a:extLst>
          </p:cNvPr>
          <p:cNvSpPr txBox="1"/>
          <p:nvPr/>
        </p:nvSpPr>
        <p:spPr>
          <a:xfrm>
            <a:off x="2710641" y="4002089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       </a:t>
            </a:r>
            <a:r>
              <a:rPr lang="en-GB" sz="1400" dirty="0">
                <a:solidFill>
                  <a:srgbClr val="C00000"/>
                </a:solidFill>
                <a:latin typeface="Aptos" panose="020B0004020202020204" pitchFamily="34" charset="0"/>
              </a:rPr>
              <a:t>Rejects a lone temporal outlier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981BAC-8B96-1C10-180E-43B8E5710280}"/>
              </a:ext>
            </a:extLst>
          </p:cNvPr>
          <p:cNvSpPr txBox="1"/>
          <p:nvPr/>
        </p:nvSpPr>
        <p:spPr>
          <a:xfrm>
            <a:off x="5168900" y="4025900"/>
            <a:ext cx="25400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Holds tiny position / rotation changes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EF7E3EB-DB13-A92E-887F-CFF98D60F696}"/>
              </a:ext>
            </a:extLst>
          </p:cNvPr>
          <p:cNvSpPr txBox="1"/>
          <p:nvPr/>
        </p:nvSpPr>
        <p:spPr>
          <a:xfrm>
            <a:off x="7467600" y="4025900"/>
            <a:ext cx="2540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Moves continuously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0626FF-AC61-ECA8-85FC-AF448E9204A6}"/>
              </a:ext>
            </a:extLst>
          </p:cNvPr>
          <p:cNvSpPr txBox="1"/>
          <p:nvPr/>
        </p:nvSpPr>
        <p:spPr>
          <a:xfrm>
            <a:off x="9766300" y="4025900"/>
            <a:ext cx="1905000" cy="215444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400" dirty="0">
                <a:solidFill>
                  <a:srgbClr val="5C7084"/>
                </a:solidFill>
                <a:latin typeface="Aptos" panose="020B0004020202020204" pitchFamily="34" charset="0"/>
              </a:rPr>
              <a:t>Always active;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6743929-18DA-1F82-55EC-5BCA4C0FE71D}"/>
              </a:ext>
            </a:extLst>
          </p:cNvPr>
          <p:cNvSpPr/>
          <p:nvPr/>
        </p:nvSpPr>
        <p:spPr>
          <a:xfrm>
            <a:off x="1193800" y="5115560"/>
            <a:ext cx="9804400" cy="868680"/>
          </a:xfrm>
          <a:prstGeom prst="roundRect">
            <a:avLst/>
          </a:prstGeom>
          <a:solidFill>
            <a:srgbClr val="102A43"/>
          </a:solidFill>
          <a:ln w="15875">
            <a:solidFill>
              <a:srgbClr val="102A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Aptos" panose="020B0004020202020204" pitchFamily="34" charset="0"/>
              </a:rPr>
              <a:t>Selected values: window 5 • radius 0.20 m • position dead zone 20 mm • rotation dead zone 0.3° • smoothing τ = 1.2 s • prior τ = 2 s • rest re-anchor beyond 40 mm / 3°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D3DD9-6EDD-DAD6-E0FD-AF06F7E91109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 • avatar_rig_navel.gd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283844-12F1-C70B-9208-A82C6F0CC657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8165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73B186-6E98-F946-09C5-0CFE83D440BC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1162E2-0FB2-1FBE-A50E-8A83F7A92AC4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Why the five-pose medoid rejects jumps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C7367-8695-DE0D-F08C-EBBD248A428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CED3C3-571B-0967-2C22-45587EDDDC7A}"/>
              </a:ext>
            </a:extLst>
          </p:cNvPr>
          <p:cNvSpPr/>
          <p:nvPr/>
        </p:nvSpPr>
        <p:spPr>
          <a:xfrm>
            <a:off x="1625600" y="29210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B25F4B-C44C-4D0F-91BE-CE0E36DF0017}"/>
              </a:ext>
            </a:extLst>
          </p:cNvPr>
          <p:cNvSpPr/>
          <p:nvPr/>
        </p:nvSpPr>
        <p:spPr>
          <a:xfrm>
            <a:off x="2108200" y="27686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4238F-D889-039E-C1F2-755FC91FE156}"/>
              </a:ext>
            </a:extLst>
          </p:cNvPr>
          <p:cNvSpPr/>
          <p:nvPr/>
        </p:nvSpPr>
        <p:spPr>
          <a:xfrm>
            <a:off x="2463800" y="3200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55DC32-97B8-708B-9E39-84FBA79768AC}"/>
              </a:ext>
            </a:extLst>
          </p:cNvPr>
          <p:cNvSpPr/>
          <p:nvPr/>
        </p:nvSpPr>
        <p:spPr>
          <a:xfrm>
            <a:off x="2946400" y="2844800"/>
            <a:ext cx="685800" cy="685800"/>
          </a:xfrm>
          <a:prstGeom prst="ellipse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chosen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E496920-106A-66FE-65A1-0A2A604F6A78}"/>
              </a:ext>
            </a:extLst>
          </p:cNvPr>
          <p:cNvSpPr/>
          <p:nvPr/>
        </p:nvSpPr>
        <p:spPr>
          <a:xfrm>
            <a:off x="3276600" y="33274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827838-9909-AA41-C723-E1CB37606074}"/>
              </a:ext>
            </a:extLst>
          </p:cNvPr>
          <p:cNvSpPr/>
          <p:nvPr/>
        </p:nvSpPr>
        <p:spPr>
          <a:xfrm>
            <a:off x="3632200" y="2984500"/>
            <a:ext cx="685800" cy="685800"/>
          </a:xfrm>
          <a:prstGeom prst="ellipse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M6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9A280E8-E0F2-E02D-E7C9-61E2F99F8390}"/>
              </a:ext>
            </a:extLst>
          </p:cNvPr>
          <p:cNvSpPr/>
          <p:nvPr/>
        </p:nvSpPr>
        <p:spPr>
          <a:xfrm>
            <a:off x="5334000" y="2133600"/>
            <a:ext cx="685800" cy="685800"/>
          </a:xfrm>
          <a:prstGeom prst="ellipse">
            <a:avLst/>
          </a:prstGeom>
          <a:solidFill>
            <a:srgbClr val="E45756"/>
          </a:solidFill>
          <a:ln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>
                <a:solidFill>
                  <a:srgbClr val="FFFFFF"/>
                </a:solidFill>
                <a:latin typeface="Aptos" panose="020B0004020202020204" pitchFamily="34" charset="0"/>
              </a:rPr>
              <a:t>bad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907692-0BAA-A207-E034-7C2AE8C89F95}"/>
              </a:ext>
            </a:extLst>
          </p:cNvPr>
          <p:cNvSpPr txBox="1"/>
          <p:nvPr/>
        </p:nvSpPr>
        <p:spPr>
          <a:xfrm>
            <a:off x="889000" y="4368800"/>
            <a:ext cx="5461000" cy="78483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700">
                <a:solidFill>
                  <a:srgbClr val="16324F"/>
                </a:solidFill>
                <a:latin typeface="Aptos" panose="020B0004020202020204" pitchFamily="34" charset="0"/>
              </a:rPr>
              <a:t>Six measurements agree; one is far away. The medoid chooses the actual measured pose with the smallest total distance to all others.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B80F855-23BC-2677-557E-BC1E91970717}"/>
              </a:ext>
            </a:extLst>
          </p:cNvPr>
          <p:cNvSpPr/>
          <p:nvPr/>
        </p:nvSpPr>
        <p:spPr>
          <a:xfrm>
            <a:off x="7239000" y="2336800"/>
            <a:ext cx="3937000" cy="1016000"/>
          </a:xfrm>
          <a:prstGeom prst="roundRect">
            <a:avLst/>
          </a:prstGeom>
          <a:solidFill>
            <a:srgbClr val="E8F0F8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  <a:t>score = position distance</a:t>
            </a:r>
            <a:b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16324F"/>
                </a:solidFill>
                <a:latin typeface="Aptos" panose="020B0004020202020204" pitchFamily="34" charset="0"/>
              </a:rPr>
              <a:t>+ radius × rotation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C72CFA-626F-E84A-31C1-AFCC830211EC}"/>
              </a:ext>
            </a:extLst>
          </p:cNvPr>
          <p:cNvSpPr txBox="1"/>
          <p:nvPr/>
        </p:nvSpPr>
        <p:spPr>
          <a:xfrm>
            <a:off x="7289800" y="3733800"/>
            <a:ext cx="3835400" cy="98488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Selected radius = 0.20 m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At this radius, 1° rotation contributes approximately the same score as 3.5 mm of position error.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09C7E3-0D75-A9C7-2AD3-9D08E60279FA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simple_pose_stabilizer.gd::_medoid • 0.20 m selected on the 2026-09-04 session replays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477F62-5E25-70E3-C7FE-DCDDA863ACF4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1369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87993F-040A-A454-A058-B1D283D25F28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1FF72-86EF-A82E-76D0-DDD43DE09120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Dead zone, smoothing and prior do different jobs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8173D-0242-C098-0DD3-F6490F8B16F9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5A1F73-9F4A-81AB-0E10-3EDFF70F98FD}"/>
              </a:ext>
            </a:extLst>
          </p:cNvPr>
          <p:cNvSpPr/>
          <p:nvPr/>
        </p:nvSpPr>
        <p:spPr>
          <a:xfrm>
            <a:off x="685800" y="1905000"/>
            <a:ext cx="3352800" cy="6096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DEAD ZONE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C5CA15-A1C9-A753-6B6F-139421BCF663}"/>
              </a:ext>
            </a:extLst>
          </p:cNvPr>
          <p:cNvSpPr/>
          <p:nvPr/>
        </p:nvSpPr>
        <p:spPr>
          <a:xfrm>
            <a:off x="6858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≤20 mm position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≤0.3° rotation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Hold the corresponding output channel.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AEA867-AE5A-D9A3-6CA6-F751A94EAADA}"/>
              </a:ext>
            </a:extLst>
          </p:cNvPr>
          <p:cNvSpPr/>
          <p:nvPr/>
        </p:nvSpPr>
        <p:spPr>
          <a:xfrm>
            <a:off x="4521200" y="1905000"/>
            <a:ext cx="3352800" cy="6096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SMOOTHING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41254D-56EA-64FC-A931-71123F8C2C3D}"/>
              </a:ext>
            </a:extLst>
          </p:cNvPr>
          <p:cNvSpPr/>
          <p:nvPr/>
        </p:nvSpPr>
        <p:spPr>
          <a:xfrm>
            <a:off x="45212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  <a:t>τ = 1.2 s</a:t>
            </a:r>
            <a:b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  <a:t>63% after 1.2 s</a:t>
            </a:r>
            <a:b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l-GR" sz="1600" dirty="0">
                <a:solidFill>
                  <a:srgbClr val="16324F"/>
                </a:solidFill>
                <a:latin typeface="Aptos" panose="020B0004020202020204" pitchFamily="34" charset="0"/>
              </a:rPr>
              <a:t>95% after 3.6 s</a:t>
            </a:r>
            <a:endParaRPr lang="en-GB" sz="1600" dirty="0">
              <a:solidFill>
                <a:srgbClr val="16324F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814F49-CE0D-4C92-685B-8AAA81BAFFB0}"/>
              </a:ext>
            </a:extLst>
          </p:cNvPr>
          <p:cNvSpPr/>
          <p:nvPr/>
        </p:nvSpPr>
        <p:spPr>
          <a:xfrm>
            <a:off x="8356600" y="1905000"/>
            <a:ext cx="3352800" cy="6096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700" b="1">
                <a:solidFill>
                  <a:srgbClr val="FFFFFF"/>
                </a:solidFill>
                <a:latin typeface="Aptos" panose="020B0004020202020204" pitchFamily="34" charset="0"/>
              </a:rPr>
              <a:t>REST PRIOR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40E244A-838A-63F7-B609-B21520CB1FFE}"/>
              </a:ext>
            </a:extLst>
          </p:cNvPr>
          <p:cNvSpPr/>
          <p:nvPr/>
        </p:nvSpPr>
        <p:spPr>
          <a:xfrm>
            <a:off x="8356600" y="2667000"/>
            <a:ext cx="3352800" cy="2413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τ = 2 s</a:t>
            </a: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b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 dirty="0">
                <a:solidFill>
                  <a:srgbClr val="16324F"/>
                </a:solidFill>
                <a:latin typeface="Aptos" panose="020B0004020202020204" pitchFamily="34" charset="0"/>
              </a:rPr>
              <a:t>Always active; after a re-anchor the landing rule closes onto the new rest at smoothing speed.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832624-3A60-354B-ABD7-81E4B18CC7C2}"/>
              </a:ext>
            </a:extLst>
          </p:cNvPr>
          <p:cNvSpPr txBox="1"/>
          <p:nvPr/>
        </p:nvSpPr>
        <p:spPr>
          <a:xfrm>
            <a:off x="1041400" y="5562600"/>
            <a:ext cx="10096500" cy="4616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500" b="1" dirty="0">
                <a:solidFill>
                  <a:srgbClr val="FF0000"/>
                </a:solidFill>
                <a:latin typeface="Aptos" panose="020B0004020202020204" pitchFamily="34" charset="0"/>
              </a:rPr>
              <a:t>A stable endpoint beyond 40 mm or 3° re-anchors the remembered rest itself, so the prior pulls toward the new location instead of dragging a relocated mannequin backwards.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07BBB-E80B-652B-7AEE-14385C7617C5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Filtering order: medoid → dead zones → smoothing → weak rest pull • rest re-anchors at stable endpoints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357DB-36A7-A136-9C42-066B1E8C48B0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1453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F3197-B43C-9050-370F-EC2FB8730C26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22B705-F396-57C9-92A7-2B940AB8FA89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Two poses exist: displayed pose and remembered 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9518F3-EEB2-91C2-FE08-7E9567BFD344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6D1A6F-C870-3C21-1539-3DF227C11786}"/>
              </a:ext>
            </a:extLst>
          </p:cNvPr>
          <p:cNvSpPr/>
          <p:nvPr/>
        </p:nvSpPr>
        <p:spPr>
          <a:xfrm>
            <a:off x="889000" y="2286000"/>
            <a:ext cx="2667000" cy="1041400"/>
          </a:xfrm>
          <a:prstGeom prst="roundRect">
            <a:avLst/>
          </a:prstGeom>
          <a:solidFill>
            <a:srgbClr val="2CB1BC"/>
          </a:solidFill>
          <a:ln w="15875">
            <a:solidFill>
              <a:srgbClr val="2CB1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Measurement-only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5-pose medoid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258E616-5652-FC47-BC59-01A2A01DFAB2}"/>
              </a:ext>
            </a:extLst>
          </p:cNvPr>
          <p:cNvCxnSpPr/>
          <p:nvPr/>
        </p:nvCxnSpPr>
        <p:spPr>
          <a:xfrm>
            <a:off x="3556000" y="2806700"/>
            <a:ext cx="15875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6A41035-730F-DB6B-7C24-9359325E0992}"/>
              </a:ext>
            </a:extLst>
          </p:cNvPr>
          <p:cNvSpPr/>
          <p:nvPr/>
        </p:nvSpPr>
        <p:spPr>
          <a:xfrm>
            <a:off x="5168900" y="2286000"/>
            <a:ext cx="2159000" cy="10414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3-target window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stationary?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AC42E6-7562-FD76-F112-3597F687FEEA}"/>
              </a:ext>
            </a:extLst>
          </p:cNvPr>
          <p:cNvCxnSpPr/>
          <p:nvPr/>
        </p:nvCxnSpPr>
        <p:spPr>
          <a:xfrm>
            <a:off x="7327900" y="2806700"/>
            <a:ext cx="1562100" cy="0"/>
          </a:xfrm>
          <a:prstGeom prst="straightConnector1">
            <a:avLst/>
          </a:prstGeom>
          <a:ln w="3810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489CB1-A3CD-1B43-1F82-93D3CC9CE83E}"/>
              </a:ext>
            </a:extLst>
          </p:cNvPr>
          <p:cNvSpPr/>
          <p:nvPr/>
        </p:nvSpPr>
        <p:spPr>
          <a:xfrm>
            <a:off x="8915400" y="2286000"/>
            <a:ext cx="2413000" cy="10414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Remembered rest</a:t>
            </a:r>
            <a:b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b="1">
                <a:solidFill>
                  <a:srgbClr val="FFFFFF"/>
                </a:solidFill>
                <a:latin typeface="Aptos" panose="020B0004020202020204" pitchFamily="34" charset="0"/>
              </a:rPr>
              <a:t>re-anchors (jumps)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61614-DC4F-00EF-7AD2-A2865E15D8D9}"/>
              </a:ext>
            </a:extLst>
          </p:cNvPr>
          <p:cNvSpPr txBox="1"/>
          <p:nvPr/>
        </p:nvSpPr>
        <p:spPr>
          <a:xfrm>
            <a:off x="3644900" y="3835400"/>
            <a:ext cx="4953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Re-anchor floor: 40 mm / 3°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5E76DA-EA11-B1B3-32DF-1C3F71BD22DB}"/>
              </a:ext>
            </a:extLst>
          </p:cNvPr>
          <p:cNvSpPr txBox="1"/>
          <p:nvPr/>
        </p:nvSpPr>
        <p:spPr>
          <a:xfrm>
            <a:off x="1524000" y="4508500"/>
            <a:ext cx="9144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Rest never learns from a single raw pose and never from the displayed pose, because that output already contains smoothing and prior feedback. It adopts the measurement-only medoid target once the complete 3-target window is stationary (≤1.5 mm / ≤1.0°) and clearly displaced from the old rest. Position and rotation re-anchor independently.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300B656-A5FB-E63D-A452-03696C12B513}"/>
              </a:ext>
            </a:extLst>
          </p:cNvPr>
          <p:cNvSpPr/>
          <p:nvPr/>
        </p:nvSpPr>
        <p:spPr>
          <a:xfrm>
            <a:off x="2159000" y="5588000"/>
            <a:ext cx="7874000" cy="558800"/>
          </a:xfrm>
          <a:prstGeom prst="roundRect">
            <a:avLst/>
          </a:prstGeom>
          <a:solidFill>
            <a:srgbClr val="FFF2E1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400" b="1">
                <a:solidFill>
                  <a:srgbClr val="202C37"/>
                </a:solidFill>
                <a:latin typeface="Aptos" panose="020B0004020202020204" pitchFamily="34" charset="0"/>
              </a:rPr>
              <a:t>LIMIT: the newest stationary test exposed stable viewpoint errors up to 114 mm. The re-anchor floor cannot reject a large, stable wrong pose; marker agreement must be fixed before fusion.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2C584A-1C8E-DF67-A871-33A15A4844FC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navel_provider.gd::reanchor_rest_from_stable_target • simple_pose_stabilizer.gd::_update_stable_endpoint_state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D8EF47-88B8-F8D6-FAA9-0434F8C65F63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65856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517183-2DFD-B1F5-25D8-FDEC0954B0AA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B3F212-6853-5D85-EFC7-74BF6E34019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Tracking loss and Quest-menu resume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27B776-F994-9EA0-9266-E82B095E4A20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3D8FB8-A7AD-0049-B094-BB2D29FE2F70}"/>
              </a:ext>
            </a:extLst>
          </p:cNvPr>
          <p:cNvSpPr txBox="1"/>
          <p:nvPr/>
        </p:nvSpPr>
        <p:spPr>
          <a:xfrm>
            <a:off x="736600" y="1778000"/>
            <a:ext cx="4572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100" b="1" dirty="0">
                <a:solidFill>
                  <a:srgbClr val="102A43"/>
                </a:solidFill>
                <a:latin typeface="Aptos" panose="020B0004020202020204" pitchFamily="34" charset="0"/>
              </a:rPr>
              <a:t>Temporary marker loss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68AC441-F704-3C6F-2130-68F6818056D5}"/>
              </a:ext>
            </a:extLst>
          </p:cNvPr>
          <p:cNvSpPr/>
          <p:nvPr/>
        </p:nvSpPr>
        <p:spPr>
          <a:xfrm>
            <a:off x="787400" y="2438400"/>
            <a:ext cx="2286000" cy="939800"/>
          </a:xfrm>
          <a:prstGeom prst="roundRect">
            <a:avLst/>
          </a:prstGeom>
          <a:solidFill>
            <a:srgbClr val="E45756"/>
          </a:solidFill>
          <a:ln w="15875"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No new marker result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for 300 ms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8B7D73-BF45-1D27-EC73-2ACDB42BC040}"/>
              </a:ext>
            </a:extLst>
          </p:cNvPr>
          <p:cNvCxnSpPr/>
          <p:nvPr/>
        </p:nvCxnSpPr>
        <p:spPr>
          <a:xfrm>
            <a:off x="3073400" y="2908300"/>
            <a:ext cx="762000" cy="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1776A0A-1F4F-4AD0-323A-B8E75DE1D2B8}"/>
              </a:ext>
            </a:extLst>
          </p:cNvPr>
          <p:cNvSpPr/>
          <p:nvPr/>
        </p:nvSpPr>
        <p:spPr>
          <a:xfrm>
            <a:off x="3860800" y="2438400"/>
            <a:ext cx="2286000" cy="9398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Hide avatar</a:t>
            </a:r>
            <a:b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 dirty="0">
                <a:solidFill>
                  <a:srgbClr val="FFFFFF"/>
                </a:solidFill>
                <a:latin typeface="Aptos" panose="020B0004020202020204" pitchFamily="34" charset="0"/>
              </a:rPr>
              <a:t>keep last internal pose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173FE2A-2F1D-88BC-281B-8E134C24ABE9}"/>
              </a:ext>
            </a:extLst>
          </p:cNvPr>
          <p:cNvCxnSpPr/>
          <p:nvPr/>
        </p:nvCxnSpPr>
        <p:spPr>
          <a:xfrm>
            <a:off x="5003800" y="3378200"/>
            <a:ext cx="0" cy="7620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D64F48C-75BE-F4E0-510C-44C0FF47000D}"/>
              </a:ext>
            </a:extLst>
          </p:cNvPr>
          <p:cNvSpPr/>
          <p:nvPr/>
        </p:nvSpPr>
        <p:spPr>
          <a:xfrm>
            <a:off x="3860800" y="4191000"/>
            <a:ext cx="2286000" cy="9398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Collect 5 fresh detections</a:t>
            </a:r>
            <a:b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 dirty="0">
                <a:solidFill>
                  <a:srgbClr val="FFFFFF"/>
                </a:solidFill>
                <a:latin typeface="Aptos" panose="020B0004020202020204" pitchFamily="34" charset="0"/>
              </a:rPr>
              <a:t>≈0.5 s at 10 Hz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2EA7F-E2A8-B118-A961-AFE2E669C621}"/>
              </a:ext>
            </a:extLst>
          </p:cNvPr>
          <p:cNvSpPr txBox="1"/>
          <p:nvPr/>
        </p:nvSpPr>
        <p:spPr>
          <a:xfrm>
            <a:off x="6959600" y="1778000"/>
            <a:ext cx="4445000" cy="323165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100" b="1">
                <a:solidFill>
                  <a:srgbClr val="102A43"/>
                </a:solidFill>
                <a:latin typeface="Aptos" panose="020B0004020202020204" pitchFamily="34" charset="0"/>
              </a:rPr>
              <a:t>App resumes after Quest menu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C28747-9817-D11D-57DA-1165334FE290}"/>
              </a:ext>
            </a:extLst>
          </p:cNvPr>
          <p:cNvSpPr/>
          <p:nvPr/>
        </p:nvSpPr>
        <p:spPr>
          <a:xfrm>
            <a:off x="7137400" y="2438400"/>
            <a:ext cx="2286000" cy="939800"/>
          </a:xfrm>
          <a:prstGeom prst="roundRect">
            <a:avLst/>
          </a:prstGeom>
          <a:solidFill>
            <a:srgbClr val="E45756"/>
          </a:solidFill>
          <a:ln w="15875">
            <a:solidFill>
              <a:srgbClr val="E457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Old XR world rest</a:t>
            </a:r>
            <a:b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may no longer be valid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15D1043-9E6B-4699-22DD-EFBEB3DDA684}"/>
              </a:ext>
            </a:extLst>
          </p:cNvPr>
          <p:cNvCxnSpPr/>
          <p:nvPr/>
        </p:nvCxnSpPr>
        <p:spPr>
          <a:xfrm>
            <a:off x="9423400" y="2908300"/>
            <a:ext cx="762000" cy="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7C551D-501A-28DD-6126-BF144BFADEA7}"/>
              </a:ext>
            </a:extLst>
          </p:cNvPr>
          <p:cNvSpPr/>
          <p:nvPr/>
        </p:nvSpPr>
        <p:spPr>
          <a:xfrm>
            <a:off x="10210800" y="2438400"/>
            <a:ext cx="1524000" cy="9398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Keep permanent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marker offsets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E15043-6576-A4A8-5F12-FB7E3D2620FC}"/>
              </a:ext>
            </a:extLst>
          </p:cNvPr>
          <p:cNvCxnSpPr/>
          <p:nvPr/>
        </p:nvCxnSpPr>
        <p:spPr>
          <a:xfrm>
            <a:off x="9423400" y="3378200"/>
            <a:ext cx="0" cy="762000"/>
          </a:xfrm>
          <a:prstGeom prst="straightConnector1">
            <a:avLst/>
          </a:prstGeom>
          <a:ln w="31750">
            <a:solidFill>
              <a:srgbClr val="5C7084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4C4292C-041E-9791-2DC7-227CA4766F6B}"/>
              </a:ext>
            </a:extLst>
          </p:cNvPr>
          <p:cNvSpPr/>
          <p:nvPr/>
        </p:nvSpPr>
        <p:spPr>
          <a:xfrm>
            <a:off x="8280400" y="4191000"/>
            <a:ext cx="2286000" cy="939800"/>
          </a:xfrm>
          <a:prstGeom prst="roundRect">
            <a:avLst/>
          </a:prstGeom>
          <a:solidFill>
            <a:srgbClr val="F59E0B"/>
          </a:solidFill>
          <a:ln w="15875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Relearn startup rest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55–100 detections</a:t>
            </a:r>
            <a:b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500" b="1">
                <a:solidFill>
                  <a:srgbClr val="FFFFFF"/>
                </a:solidFill>
                <a:latin typeface="Aptos" panose="020B0004020202020204" pitchFamily="34" charset="0"/>
              </a:rPr>
              <a:t>≈11–20 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F6E4C3-61BA-C3AD-A8C8-DD4317B029F1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marker_freshness.gd • avatar_rig_navel.gd::_notification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35222A-3874-AF89-8027-6A5537863619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0896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E1890-5262-FF86-3D4F-93BFDA1E52DD}"/>
              </a:ext>
            </a:extLst>
          </p:cNvPr>
          <p:cNvSpPr txBox="1"/>
          <p:nvPr/>
        </p:nvSpPr>
        <p:spPr>
          <a:xfrm>
            <a:off x="533400" y="279400"/>
            <a:ext cx="7620000" cy="15388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1000" b="1">
                <a:solidFill>
                  <a:srgbClr val="1976D2"/>
                </a:solidFill>
                <a:latin typeface="Aptos" panose="020B0004020202020204" pitchFamily="34" charset="0"/>
              </a:rPr>
              <a:t>CURRENT QUEST RUNTIME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EDF03-F08E-A645-D89E-5DB6BAC5EFAB}"/>
              </a:ext>
            </a:extLst>
          </p:cNvPr>
          <p:cNvSpPr txBox="1"/>
          <p:nvPr/>
        </p:nvSpPr>
        <p:spPr>
          <a:xfrm>
            <a:off x="533400" y="609600"/>
            <a:ext cx="10985500" cy="430887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2800" b="1">
                <a:solidFill>
                  <a:srgbClr val="102A43"/>
                </a:solidFill>
                <a:latin typeface="Aptos" panose="020B0004020202020204" pitchFamily="34" charset="0"/>
              </a:rPr>
              <a:t>Final render transform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66FB64-18CF-7570-9D21-482F54C8B8B7}"/>
              </a:ext>
            </a:extLst>
          </p:cNvPr>
          <p:cNvSpPr/>
          <p:nvPr/>
        </p:nvSpPr>
        <p:spPr>
          <a:xfrm>
            <a:off x="533400" y="1282700"/>
            <a:ext cx="11125200" cy="38100"/>
          </a:xfrm>
          <a:prstGeom prst="rect">
            <a:avLst/>
          </a:prstGeom>
          <a:solidFill>
            <a:srgbClr val="2CB1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82CD4A2-7BAE-6EC8-67D2-685127179055}"/>
              </a:ext>
            </a:extLst>
          </p:cNvPr>
          <p:cNvSpPr/>
          <p:nvPr/>
        </p:nvSpPr>
        <p:spPr>
          <a:xfrm>
            <a:off x="914400" y="2476500"/>
            <a:ext cx="2413000" cy="1092200"/>
          </a:xfrm>
          <a:prstGeom prst="roundRect">
            <a:avLst/>
          </a:prstGeom>
          <a:solidFill>
            <a:srgbClr val="27AE60"/>
          </a:solidFill>
          <a:ln w="15875">
            <a:solidFill>
              <a:srgbClr val="27AE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FILTERED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COMMON 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E5ED52-2CEF-DDEA-ABF5-4BACDBA519BB}"/>
              </a:ext>
            </a:extLst>
          </p:cNvPr>
          <p:cNvSpPr txBox="1"/>
          <p:nvPr/>
        </p:nvSpPr>
        <p:spPr>
          <a:xfrm>
            <a:off x="38354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×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5A6272-9A2F-4EDE-6466-87263947A7FE}"/>
              </a:ext>
            </a:extLst>
          </p:cNvPr>
          <p:cNvSpPr/>
          <p:nvPr/>
        </p:nvSpPr>
        <p:spPr>
          <a:xfrm>
            <a:off x="4826000" y="2476500"/>
            <a:ext cx="2413000" cy="1092200"/>
          </a:xfrm>
          <a:prstGeom prst="roundRect">
            <a:avLst/>
          </a:prstGeom>
          <a:solidFill>
            <a:srgbClr val="7152AD"/>
          </a:solidFill>
          <a:ln w="15875">
            <a:solidFill>
              <a:srgbClr val="7152A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FIXED MODEL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ALIGNMENT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72FFD-2313-F942-EEA8-8200DA27FAC9}"/>
              </a:ext>
            </a:extLst>
          </p:cNvPr>
          <p:cNvSpPr txBox="1"/>
          <p:nvPr/>
        </p:nvSpPr>
        <p:spPr>
          <a:xfrm>
            <a:off x="7747000" y="2705100"/>
            <a:ext cx="508000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3200" b="1">
                <a:solidFill>
                  <a:srgbClr val="102A43"/>
                </a:solidFill>
                <a:latin typeface="Aptos" panose="020B0004020202020204" pitchFamily="34" charset="0"/>
              </a:rPr>
              <a:t>=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62F01BB-4701-1623-2E91-58879C8D3E4F}"/>
              </a:ext>
            </a:extLst>
          </p:cNvPr>
          <p:cNvSpPr/>
          <p:nvPr/>
        </p:nvSpPr>
        <p:spPr>
          <a:xfrm>
            <a:off x="8763000" y="2476500"/>
            <a:ext cx="2413000" cy="1092200"/>
          </a:xfrm>
          <a:prstGeom prst="roundRect">
            <a:avLst/>
          </a:prstGeom>
          <a:solidFill>
            <a:srgbClr val="1976D2"/>
          </a:solidFill>
          <a:ln w="15875">
            <a:solidFill>
              <a:srgbClr val="1976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VISIBLE</a:t>
            </a:r>
            <a:b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</a:br>
            <a:r>
              <a:rPr lang="en-GB" sz="1900" b="1">
                <a:solidFill>
                  <a:srgbClr val="FFFFFF"/>
                </a:solidFill>
                <a:latin typeface="Aptos" panose="020B0004020202020204" pitchFamily="34" charset="0"/>
              </a:rPr>
              <a:t>AVATAR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AD1ABA-D080-4D6B-2127-F2F66ADC3045}"/>
              </a:ext>
            </a:extLst>
          </p:cNvPr>
          <p:cNvSpPr/>
          <p:nvPr/>
        </p:nvSpPr>
        <p:spPr>
          <a:xfrm>
            <a:off x="4318000" y="4241800"/>
            <a:ext cx="3556000" cy="127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8D6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63500" rIns="127000" bIns="63500" rtlCol="0" anchor="ctr"/>
          <a:lstStyle/>
          <a:p>
            <a:pPr algn="ctr"/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Scale 0.77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Rotation −90° X (lay flat)</a:t>
            </a:r>
            <a:b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</a:br>
            <a:r>
              <a:rPr lang="en-GB" sz="1600">
                <a:solidFill>
                  <a:srgbClr val="16324F"/>
                </a:solidFill>
                <a:latin typeface="Aptos" panose="020B0004020202020204" pitchFamily="34" charset="0"/>
              </a:rPr>
              <a:t>Position (0.07256, −0.127499, 0.177248) 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CACE7A-F7D0-8CA0-7C49-5858CC888D42}"/>
              </a:ext>
            </a:extLst>
          </p:cNvPr>
          <p:cNvSpPr txBox="1"/>
          <p:nvPr/>
        </p:nvSpPr>
        <p:spPr>
          <a:xfrm>
            <a:off x="3175000" y="5816600"/>
            <a:ext cx="5842000" cy="24622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600" b="1">
                <a:solidFill>
                  <a:srgbClr val="27AE60"/>
                </a:solidFill>
                <a:latin typeface="Aptos" panose="020B0004020202020204" pitchFamily="34" charset="0"/>
              </a:rPr>
              <a:t>Floor-lock sets local Z down and local Y to horizontal body heading before this fixed model correction is applied.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F27911-6F3D-E148-2F1A-16C75915F7BA}"/>
              </a:ext>
            </a:extLst>
          </p:cNvPr>
          <p:cNvSpPr txBox="1"/>
          <p:nvPr/>
        </p:nvSpPr>
        <p:spPr>
          <a:xfrm>
            <a:off x="787400" y="1651000"/>
            <a:ext cx="10604500" cy="261610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ctr"/>
            <a:r>
              <a:rPr lang="en-GB" sz="1700" b="1">
                <a:solidFill>
                  <a:srgbClr val="E45756"/>
                </a:solidFill>
                <a:latin typeface="Aptos" panose="020B0004020202020204" pitchFamily="34" charset="0"/>
              </a:rPr>
              <a:t>A persistent fixed offset here cannot be repaired by waiting, smoothing, the prior or 600-second healing.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72B8F9-8AB6-B196-A065-FF8879869625}"/>
              </a:ext>
            </a:extLst>
          </p:cNvPr>
          <p:cNvSpPr txBox="1"/>
          <p:nvPr/>
        </p:nvSpPr>
        <p:spPr>
          <a:xfrm>
            <a:off x="533400" y="6489700"/>
            <a:ext cx="9779000" cy="123111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GB" sz="800">
                <a:solidFill>
                  <a:srgbClr val="5C7084"/>
                </a:solidFill>
                <a:latin typeface="Aptos" panose="020B0004020202020204" pitchFamily="34" charset="0"/>
              </a:rPr>
              <a:t>main_3d.tscn: mannequin child transform • AvatarRig.global_transform = filtered pose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1512ED-3867-226D-0349-A7B993E36BFA}"/>
              </a:ext>
            </a:extLst>
          </p:cNvPr>
          <p:cNvSpPr txBox="1"/>
          <p:nvPr/>
        </p:nvSpPr>
        <p:spPr>
          <a:xfrm>
            <a:off x="11074400" y="6438900"/>
            <a:ext cx="584200" cy="138499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pPr algn="r"/>
            <a:r>
              <a:rPr lang="en-GB" sz="900" b="1">
                <a:solidFill>
                  <a:srgbClr val="5C7084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640900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674582-4980-CAD3-F18D-ADF56F9EE2A9}"/>
              </a:ext>
            </a:extLst>
          </p:cNvPr>
          <p:cNvSpPr txBox="1"/>
          <p:nvPr/>
        </p:nvSpPr>
        <p:spPr>
          <a:xfrm>
            <a:off x="3048501" y="889844"/>
            <a:ext cx="609700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Manikin Scale Logic </a:t>
            </a:r>
          </a:p>
          <a:p>
            <a:r>
              <a:rPr lang="en-GB" b="1" dirty="0">
                <a:effectLst/>
              </a:rPr>
              <a:t>GLB model size:</a:t>
            </a:r>
            <a:r>
              <a:rPr lang="en-GB" dirty="0">
                <a:effectLst/>
              </a:rPr>
              <a:t> Length = 0.8082 m (Z‑axis), Width = 0.5457 m, Depth = 0.2807 m</a:t>
            </a:r>
          </a:p>
          <a:p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Scale factor meaning:</a:t>
            </a:r>
            <a:r>
              <a:rPr lang="en-GB" dirty="0">
                <a:effectLst/>
              </a:rPr>
              <a:t> </a:t>
            </a:r>
            <a:r>
              <a:rPr lang="en-GB" b="1" dirty="0">
                <a:effectLst/>
              </a:rPr>
              <a:t>0.77 = real manikin length ÷ GLB model length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Your measurement:</a:t>
            </a:r>
            <a:r>
              <a:rPr lang="en-GB" dirty="0">
                <a:effectLst/>
              </a:rPr>
              <a:t> Real manikin ≈ 0.622 m → 0.622/0.8082=0.7696 → </a:t>
            </a:r>
            <a:r>
              <a:rPr lang="en-GB" b="1" dirty="0">
                <a:effectLst/>
              </a:rPr>
              <a:t>0.77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Uniform scaling:</a:t>
            </a:r>
            <a:r>
              <a:rPr lang="en-GB" dirty="0">
                <a:effectLst/>
              </a:rPr>
              <a:t> One scale value stretches </a:t>
            </a:r>
            <a:r>
              <a:rPr lang="en-GB" b="1" dirty="0">
                <a:effectLst/>
              </a:rPr>
              <a:t>all axes</a:t>
            </a:r>
            <a:r>
              <a:rPr lang="en-GB" dirty="0">
                <a:effectLst/>
              </a:rPr>
              <a:t> together → length, width, depth all multiplied by 0.77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>
                <a:effectLst/>
              </a:rPr>
              <a:t>Scaled dimensions: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Length: 62.2 cm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Width: 42.0 cm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</a:rPr>
              <a:t>Depth: </a:t>
            </a:r>
            <a:r>
              <a:rPr lang="en-GB">
                <a:effectLst/>
              </a:rPr>
              <a:t>21.6 cm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04660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616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5C7084"/>
                </a:solidFill>
                <a:latin typeface="Aptos"/>
              </a:rPr>
              <a:t>CURRENT QUEST RUNTIME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28248" cy="3657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73384" y="6437376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530352"/>
            <a:ext cx="1098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Re-anchoring - the full story of a mannequin move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9888"/>
            <a:ext cx="108813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16324F"/>
                </a:solidFill>
                <a:latin typeface="Aptos"/>
              </a:rPr>
              <a:t>0.  AT REST - the avatar sits pinned at the remembered rest R. Measurements jitter a few millimetres; the dead zone hides it and the prior (τ = 2 s) holds the avatar at R. Every detection still updates the 5-pose medoid target.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6324F"/>
                </a:solidFill>
                <a:latin typeface="Aptos"/>
              </a:rPr>
              <a:t>1.  THE MANNEQUIN IS MOVED - the markers report the new position; the medoid target follows within ~5 detections. The display chases it smoothly (τ = 1.2 s) while the prior still leans slightly toward the old R.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6324F"/>
                </a:solidFill>
                <a:latin typeface="Aptos"/>
              </a:rPr>
              <a:t>2.  MOVEMENT STOPS - the targets cluster. SETTLED test: the last 3 targets all lie within 1.5 mm / 1.0° of the newest one → the move has provably ended.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6324F"/>
                </a:solidFill>
                <a:latin typeface="Aptos"/>
              </a:rPr>
              <a:t>3.  REAL OR BIAS? - DISTANCE test: the settled target sits more than 40 mm / 3° from the old R → too large to be viewpoint bias → a genuine relocation. (Smaller settled offsets are treated as bias and never move R.)</a:t>
            </a:r>
          </a:p>
          <a:p>
            <a:pPr>
              <a:spcAft>
                <a:spcPts val="600"/>
              </a:spcAft>
            </a:pPr>
            <a:r>
              <a:rPr sz="1250" b="0">
                <a:solidFill>
                  <a:srgbClr val="16324F"/>
                </a:solidFill>
                <a:latin typeface="Aptos"/>
              </a:rPr>
              <a:t>4.  RE-ANCHOR - the newest medoid target becomes the new R, copied verbatim, in one invisible internal step. Position and rotation update independently. The viewer sees nothing: only the internal anchor jumps.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16324F"/>
                </a:solidFill>
                <a:latin typeface="Aptos"/>
              </a:rPr>
              <a:t>5.  LANDING - target and R now agree, so the dead zone yields and the display closes the final millimetres onto the new R at smoothing speed. The prior now holds the avatar at the NEW home - back to phase 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10515600" cy="1051560"/>
          </a:xfrm>
          <a:prstGeom prst="roundRect">
            <a:avLst/>
          </a:prstGeom>
          <a:solidFill>
            <a:srgbClr val="E4EAF1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50">
                <a:solidFill>
                  <a:srgbClr val="16324F"/>
                </a:solidFill>
                <a:latin typeface="Aptos"/>
              </a:rPr>
              <a:t>R never learns from the displayed pose (that would be a feedback loop), from a single raw detection (glitch risk), or from an average (only one real measured pose is ever adopted). Between re-anchors, R is completely frozen.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73952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navel_provider.gd::reanchor_rest_from_stable_target • SimplePoseStabilizer.measurement_target() • landing in _landing_position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616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5C7084"/>
                </a:solidFill>
                <a:latin typeface="Aptos"/>
              </a:rPr>
              <a:t>CURRENT QUEST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98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How each value was selected - the grid 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28248" cy="3657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73384" y="6437376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2200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dirty="0">
                <a:solidFill>
                  <a:srgbClr val="16324F"/>
                </a:solidFill>
                <a:latin typeface="Aptos"/>
              </a:rPr>
              <a:t>INPUT - one labelled session (2026-09-04): calibration sweep, six stationary viewpoints, one measured 617.5 mm A→B→A move.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16324F"/>
                </a:solidFill>
                <a:latin typeface="Aptos"/>
              </a:rPr>
              <a:t>STARTUP REST - every start/step/threshold/checks/fallback combination is replayed on sliding trials of the recordings. Hard gates: ≥95% of stationary trials must confirm and ≤5% of moving trials may falsely confirm. Survivors ranked by error against the reference pose and by confirmation speed.  →  30 / step 3 / 1.5 mm / 1.0° / 4 checks / fallback 100.</a:t>
            </a:r>
          </a:p>
          <a:p>
            <a:pPr>
              <a:spcAft>
                <a:spcPts val="1000"/>
              </a:spcAft>
            </a:pPr>
            <a:r>
              <a:rPr sz="1400" b="0" dirty="0">
                <a:solidFill>
                  <a:srgbClr val="16324F"/>
                </a:solidFill>
                <a:latin typeface="Aptos"/>
              </a:rPr>
              <a:t>DISPLAY FILTER - coordinate-descent passes over the groups (</a:t>
            </a:r>
            <a:r>
              <a:rPr sz="1400" b="0" dirty="0" err="1">
                <a:solidFill>
                  <a:srgbClr val="16324F"/>
                </a:solidFill>
                <a:latin typeface="Aptos"/>
              </a:rPr>
              <a:t>window+radius</a:t>
            </a:r>
            <a:r>
              <a:rPr sz="1400" b="0" dirty="0">
                <a:solidFill>
                  <a:srgbClr val="16324F"/>
                </a:solidFill>
                <a:latin typeface="Aptos"/>
              </a:rPr>
              <a:t>, dead </a:t>
            </a:r>
            <a:r>
              <a:rPr sz="1400" b="0" dirty="0" err="1">
                <a:solidFill>
                  <a:srgbClr val="16324F"/>
                </a:solidFill>
                <a:latin typeface="Aptos"/>
              </a:rPr>
              <a:t>zones+smoothing</a:t>
            </a:r>
            <a:r>
              <a:rPr sz="1400" b="0" dirty="0">
                <a:solidFill>
                  <a:srgbClr val="16324F"/>
                </a:solidFill>
                <a:latin typeface="Aptos"/>
              </a:rPr>
              <a:t>, prior, </a:t>
            </a:r>
            <a:r>
              <a:rPr sz="1400" b="0" dirty="0" err="1">
                <a:solidFill>
                  <a:srgbClr val="16324F"/>
                </a:solidFill>
                <a:latin typeface="Aptos"/>
              </a:rPr>
              <a:t>endpoint+re-anchor</a:t>
            </a:r>
            <a:r>
              <a:rPr sz="1400" b="0" dirty="0">
                <a:solidFill>
                  <a:srgbClr val="16324F"/>
                </a:solidFill>
                <a:latin typeface="Aptos"/>
              </a:rPr>
              <a:t> floor, timeout): every candidate is replayed end-to-end and scored half on stationary stability (wobble, jump, drift vs raw) and half on movement (</a:t>
            </a:r>
            <a:r>
              <a:rPr lang="en-GB" sz="1400" b="0" dirty="0">
                <a:solidFill>
                  <a:srgbClr val="16324F"/>
                </a:solidFill>
                <a:latin typeface="Aptos"/>
              </a:rPr>
              <a:t>Retained</a:t>
            </a:r>
            <a:r>
              <a:rPr sz="1400" b="0" dirty="0">
                <a:solidFill>
                  <a:srgbClr val="16324F"/>
                </a:solidFill>
                <a:latin typeface="Aptos"/>
              </a:rPr>
              <a:t>, delay, endpoint error, return error).  →  window 5 • radius 0.20 m • 20 mm / 0.3° • 1.2 s • 2 s • 40 mm / 3°.</a:t>
            </a:r>
          </a:p>
          <a:p>
            <a:pPr>
              <a:spcAft>
                <a:spcPts val="1000"/>
              </a:spcAft>
            </a:pPr>
            <a:r>
              <a:rPr sz="1400" b="1" dirty="0">
                <a:solidFill>
                  <a:srgbClr val="16324F"/>
                </a:solidFill>
                <a:latin typeface="Aptos"/>
              </a:rPr>
              <a:t>WINNER VALIDATION - movement retained 99.7% • endpoint error 4.8 mm • return error 10.4 mm.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73952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tune_filter.py • winner in tune_filter_best.txt • every evaluated configuration in tune_filter_results.csv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616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5C7084"/>
                </a:solidFill>
                <a:latin typeface="Aptos"/>
              </a:rPr>
              <a:t>CURRENT QUEST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98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Measuring wrongness 1/3 - the six stationary rulers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28248" cy="3657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73384" y="6437376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Aptos"/>
              </a:rPr>
              <a:t>POSITION  (p[n] = 3D point of frame 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5440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0">
                <a:solidFill>
                  <a:srgbClr val="16324F"/>
                </a:solidFill>
                <a:latin typeface="Consolas"/>
              </a:rPr>
              <a:t>step[n] = ‖p[n+1] − p[n]‖ × 1000  (mm)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5C7084"/>
                </a:solidFill>
                <a:latin typeface="Aptos"/>
              </a:rPr>
              <a:t>movement between two neighbouring frames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324F"/>
                </a:solidFill>
                <a:latin typeface="Consolas"/>
              </a:rPr>
              <a:t>WOBBLE = median{ step }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5C7084"/>
                </a:solidFill>
                <a:latin typeface="Aptos"/>
              </a:rPr>
              <a:t>the typical shiver - fast shaking that goes nowhere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324F"/>
                </a:solidFill>
                <a:latin typeface="Consolas"/>
              </a:rPr>
              <a:t>JUMP = P95{ step }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5C7084"/>
                </a:solidFill>
                <a:latin typeface="Aptos"/>
              </a:rPr>
              <a:t>the rare biggest hop: a glitch in 1% of frames is invisible to the median, but the 95th percentile catches it</a:t>
            </a:r>
          </a:p>
          <a:p>
            <a:pPr>
              <a:spcAft>
                <a:spcPts val="100"/>
              </a:spcAft>
            </a:pPr>
            <a:r>
              <a:rPr sz="1150" b="0">
                <a:solidFill>
                  <a:srgbClr val="16324F"/>
                </a:solidFill>
                <a:latin typeface="Consolas"/>
              </a:rPr>
              <a:t>c = ( median{pₓ}, median{p_y}, median{p_z} )</a:t>
            </a:r>
          </a:p>
          <a:p>
            <a:pPr>
              <a:spcAft>
                <a:spcPts val="700"/>
              </a:spcAft>
            </a:pPr>
            <a:r>
              <a:rPr sz="1000" b="0">
                <a:solidFill>
                  <a:srgbClr val="5C7084"/>
                </a:solidFill>
                <a:latin typeface="Aptos"/>
              </a:rPr>
              <a:t>home = componentwise median position</a:t>
            </a:r>
          </a:p>
          <a:p>
            <a:pPr>
              <a:spcAft>
                <a:spcPts val="100"/>
              </a:spcAft>
            </a:pPr>
            <a:r>
              <a:rPr sz="1150" b="1">
                <a:solidFill>
                  <a:srgbClr val="16324F"/>
                </a:solidFill>
                <a:latin typeface="Consolas"/>
              </a:rPr>
              <a:t>DRIFT = median{ ‖p[n] − c‖ } × 1000</a:t>
            </a:r>
          </a:p>
          <a:p>
            <a:pPr>
              <a:spcAft>
                <a:spcPts val="0"/>
              </a:spcAft>
            </a:pPr>
            <a:r>
              <a:rPr sz="1000" b="0">
                <a:solidFill>
                  <a:srgbClr val="5C7084"/>
                </a:solidFill>
                <a:latin typeface="Aptos"/>
              </a:rPr>
              <a:t>typical distance from home - catches a slow crawl even when every single step is tiny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444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50" b="1">
                <a:solidFill>
                  <a:srgbClr val="102A43"/>
                </a:solidFill>
                <a:latin typeface="Aptos"/>
              </a:rPr>
              <a:t>ROTATION  (q[n] = unit quaternion of frame 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150" b="0" dirty="0">
                <a:solidFill>
                  <a:srgbClr val="16324F"/>
                </a:solidFill>
                <a:latin typeface="Consolas"/>
              </a:rPr>
              <a:t>θ(</a:t>
            </a:r>
            <a:r>
              <a:rPr sz="1150" b="0" dirty="0" err="1">
                <a:solidFill>
                  <a:srgbClr val="16324F"/>
                </a:solidFill>
                <a:latin typeface="Consolas"/>
              </a:rPr>
              <a:t>q₁,q</a:t>
            </a:r>
            <a:r>
              <a:rPr sz="1150" b="0" dirty="0">
                <a:solidFill>
                  <a:srgbClr val="16324F"/>
                </a:solidFill>
                <a:latin typeface="Consolas"/>
              </a:rPr>
              <a:t>₂) = 2·arccos|q₁·q₂| · 180/π  (deg)</a:t>
            </a:r>
          </a:p>
          <a:p>
            <a:pPr>
              <a:spcAft>
                <a:spcPts val="700"/>
              </a:spcAft>
            </a:pPr>
            <a:r>
              <a:rPr sz="1000" b="0" dirty="0">
                <a:solidFill>
                  <a:srgbClr val="5C7084"/>
                </a:solidFill>
                <a:latin typeface="Aptos"/>
              </a:rPr>
              <a:t>shortest turning angle; |·| because q and −q are the same physical rotation</a:t>
            </a:r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6324F"/>
                </a:solidFill>
                <a:latin typeface="Consolas"/>
              </a:rPr>
              <a:t>r[n] = θ(q[n], q[n+1])</a:t>
            </a:r>
          </a:p>
          <a:p>
            <a:pPr>
              <a:spcAft>
                <a:spcPts val="700"/>
              </a:spcAft>
            </a:pPr>
            <a:r>
              <a:rPr sz="1150" b="1" dirty="0">
                <a:solidFill>
                  <a:srgbClr val="16324F"/>
                </a:solidFill>
                <a:latin typeface="Consolas"/>
              </a:rPr>
              <a:t>WOBBLE = median{ r }     JUMP = P95{ r }</a:t>
            </a:r>
          </a:p>
          <a:p>
            <a:pPr>
              <a:spcAft>
                <a:spcPts val="100"/>
              </a:spcAft>
            </a:pPr>
            <a:r>
              <a:rPr sz="1150" b="0" dirty="0">
                <a:solidFill>
                  <a:srgbClr val="16324F"/>
                </a:solidFill>
                <a:latin typeface="Consolas"/>
              </a:rPr>
              <a:t>q* = </a:t>
            </a:r>
            <a:r>
              <a:rPr sz="1150" b="0" dirty="0" err="1">
                <a:solidFill>
                  <a:srgbClr val="16324F"/>
                </a:solidFill>
                <a:latin typeface="Consolas"/>
              </a:rPr>
              <a:t>argmin</a:t>
            </a:r>
            <a:r>
              <a:rPr sz="1150" b="0" dirty="0">
                <a:solidFill>
                  <a:srgbClr val="16324F"/>
                </a:solidFill>
                <a:latin typeface="Consolas"/>
              </a:rPr>
              <a:t> over q[</a:t>
            </a:r>
            <a:r>
              <a:rPr sz="1150" b="0" dirty="0" err="1">
                <a:solidFill>
                  <a:srgbClr val="16324F"/>
                </a:solidFill>
                <a:latin typeface="Consolas"/>
              </a:rPr>
              <a:t>i</a:t>
            </a:r>
            <a:r>
              <a:rPr sz="1150" b="0" dirty="0">
                <a:solidFill>
                  <a:srgbClr val="16324F"/>
                </a:solidFill>
                <a:latin typeface="Consolas"/>
              </a:rPr>
              <a:t>] of Σⱼ (1 − |q[</a:t>
            </a:r>
            <a:r>
              <a:rPr sz="1150" b="0" dirty="0" err="1">
                <a:solidFill>
                  <a:srgbClr val="16324F"/>
                </a:solidFill>
                <a:latin typeface="Consolas"/>
              </a:rPr>
              <a:t>i</a:t>
            </a:r>
            <a:r>
              <a:rPr sz="1150" b="0" dirty="0">
                <a:solidFill>
                  <a:srgbClr val="16324F"/>
                </a:solidFill>
                <a:latin typeface="Consolas"/>
              </a:rPr>
              <a:t>]·q[j]|)</a:t>
            </a:r>
          </a:p>
          <a:p>
            <a:pPr>
              <a:spcAft>
                <a:spcPts val="700"/>
              </a:spcAft>
            </a:pPr>
            <a:r>
              <a:rPr sz="1000" b="0" dirty="0">
                <a:solidFill>
                  <a:srgbClr val="5C7084"/>
                </a:solidFill>
                <a:latin typeface="Aptos"/>
              </a:rPr>
              <a:t>home = MEDOID: the one measured rotation closest to all others (a </a:t>
            </a:r>
            <a:r>
              <a:rPr sz="1000" b="0" dirty="0" err="1">
                <a:solidFill>
                  <a:srgbClr val="5C7084"/>
                </a:solidFill>
                <a:latin typeface="Aptos"/>
              </a:rPr>
              <a:t>componentwise</a:t>
            </a:r>
            <a:r>
              <a:rPr sz="1000" b="0" dirty="0">
                <a:solidFill>
                  <a:srgbClr val="5C7084"/>
                </a:solidFill>
                <a:latin typeface="Aptos"/>
              </a:rPr>
              <a:t> median is invalid for quaternions)</a:t>
            </a:r>
          </a:p>
          <a:p>
            <a:pPr>
              <a:spcAft>
                <a:spcPts val="100"/>
              </a:spcAft>
            </a:pPr>
            <a:r>
              <a:rPr sz="1150" b="1" dirty="0">
                <a:solidFill>
                  <a:srgbClr val="16324F"/>
                </a:solidFill>
                <a:latin typeface="Consolas"/>
              </a:rPr>
              <a:t>DRIFT = median{ θ(q[n], q*) }</a:t>
            </a:r>
          </a:p>
          <a:p>
            <a:pPr>
              <a:spcAft>
                <a:spcPts val="0"/>
              </a:spcAft>
            </a:pPr>
            <a:r>
              <a:rPr sz="1000" b="0" dirty="0">
                <a:solidFill>
                  <a:srgbClr val="5C7084"/>
                </a:solidFill>
                <a:latin typeface="Aptos"/>
              </a:rPr>
              <a:t>typical angle away from the rotation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473952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filter_errors.py::measure_errors - returns wobble / jump / drift for position (mm) and rotation (deg)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7616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5C7084"/>
                </a:solidFill>
                <a:latin typeface="Aptos"/>
              </a:rPr>
              <a:t>CURRENT QUEST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30352"/>
            <a:ext cx="10981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02A43"/>
                </a:solidFill>
                <a:latin typeface="Aptos"/>
              </a:rPr>
              <a:t>Measuring wrongness 2/3 - the four movement rulers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80160"/>
            <a:ext cx="11128248" cy="36576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73384" y="6437376"/>
            <a:ext cx="5852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50" b="0" dirty="0">
                <a:solidFill>
                  <a:srgbClr val="16324F"/>
                </a:solidFill>
                <a:latin typeface="Aptos"/>
              </a:rPr>
              <a:t>Setup: the mannequin was slid A → B → A, physically measured D = 617.5 mm.  u = unit vector along the raw A→B line.  </a:t>
            </a:r>
            <a:r>
              <a:rPr sz="1150" b="0" dirty="0" err="1">
                <a:solidFill>
                  <a:srgbClr val="16324F"/>
                </a:solidFill>
                <a:latin typeface="Aptos"/>
              </a:rPr>
              <a:t>out_A</a:t>
            </a:r>
            <a:r>
              <a:rPr sz="1150" b="0" dirty="0">
                <a:solidFill>
                  <a:srgbClr val="16324F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16324F"/>
                </a:solidFill>
                <a:latin typeface="Aptos"/>
              </a:rPr>
              <a:t>out_B</a:t>
            </a:r>
            <a:r>
              <a:rPr sz="1150" b="0" dirty="0">
                <a:solidFill>
                  <a:srgbClr val="16324F"/>
                </a:solidFill>
                <a:latin typeface="Aptos"/>
              </a:rPr>
              <a:t>, </a:t>
            </a:r>
            <a:r>
              <a:rPr sz="1150" b="0" dirty="0" err="1">
                <a:solidFill>
                  <a:srgbClr val="16324F"/>
                </a:solidFill>
                <a:latin typeface="Aptos"/>
              </a:rPr>
              <a:t>out_return</a:t>
            </a:r>
            <a:r>
              <a:rPr sz="1150" b="0" dirty="0">
                <a:solidFill>
                  <a:srgbClr val="16324F"/>
                </a:solidFill>
                <a:latin typeface="Aptos"/>
              </a:rPr>
              <a:t> = the avatar's median position in the three still phases.</a:t>
            </a:r>
            <a:endParaRPr lang="en-GB" sz="1150" b="0" dirty="0">
              <a:solidFill>
                <a:srgbClr val="16324F"/>
              </a:solidFill>
              <a:latin typeface="Aptos"/>
            </a:endParaRPr>
          </a:p>
          <a:p>
            <a:pPr>
              <a:spcAft>
                <a:spcPts val="0"/>
              </a:spcAft>
            </a:pPr>
            <a:endParaRPr sz="1150" b="0" dirty="0">
              <a:solidFill>
                <a:srgbClr val="16324F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881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00" b="1">
                <a:solidFill>
                  <a:srgbClr val="16324F"/>
                </a:solidFill>
                <a:latin typeface="Consolas"/>
              </a:rPr>
              <a:t>RETAINED = ½ [ (out_B − out_A)·u / D  +  (out_return − out_B)·(−u) / D ]</a:t>
            </a:r>
          </a:p>
          <a:p>
            <a:pPr>
              <a:spcAft>
                <a:spcPts val="900"/>
              </a:spcAft>
            </a:pPr>
            <a:r>
              <a:rPr sz="1050" b="0">
                <a:solidFill>
                  <a:srgbClr val="5C7084"/>
                </a:solidFill>
                <a:latin typeface="Aptos"/>
              </a:rPr>
              <a:t>share of the real distance travelled, out-move and back-move averaged; 1.0 = full distance. The projection ·u counts only motion along the true line - a sideways miss is charged to ENDPOINT instead.</a:t>
            </a:r>
          </a:p>
          <a:p>
            <a:pPr>
              <a:spcAft>
                <a:spcPts val="100"/>
              </a:spcAft>
            </a:pPr>
            <a:r>
              <a:rPr sz="1200" b="0">
                <a:solidFill>
                  <a:srgbClr val="16324F"/>
                </a:solidFill>
                <a:latin typeface="Consolas"/>
              </a:rPr>
              <a:t>g(t) = (p(t) − A)·u / D          t₉₀ = first moment with g(t) ≥ 0.90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6324F"/>
                </a:solidFill>
                <a:latin typeface="Consolas"/>
              </a:rPr>
              <a:t>DELAY = max(0, t₉₀ filtered − t₉₀ raw),  averaged over out and back</a:t>
            </a:r>
          </a:p>
          <a:p>
            <a:pPr>
              <a:spcAft>
                <a:spcPts val="900"/>
              </a:spcAft>
            </a:pPr>
            <a:r>
              <a:rPr sz="1050" b="0">
                <a:solidFill>
                  <a:srgbClr val="5C7084"/>
                </a:solidFill>
                <a:latin typeface="Aptos"/>
              </a:rPr>
              <a:t>seconds the avatar covers 90% of the trip later than the raw markers. If the avatar NEVER reaches 90%, delay is set to 10⁶ - that candidate is instantly eliminated.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6324F"/>
                </a:solidFill>
                <a:latin typeface="Consolas"/>
              </a:rPr>
              <a:t>ENDPOINT = ‖ out_B − (A + D·u) ‖ × 1000   (mm)</a:t>
            </a:r>
          </a:p>
          <a:p>
            <a:pPr>
              <a:spcAft>
                <a:spcPts val="900"/>
              </a:spcAft>
            </a:pPr>
            <a:r>
              <a:rPr sz="1050" b="0">
                <a:solidFill>
                  <a:srgbClr val="5C7084"/>
                </a:solidFill>
                <a:latin typeface="Aptos"/>
              </a:rPr>
              <a:t>miss between where the avatar stopped and where the mannequin truly is</a:t>
            </a:r>
          </a:p>
          <a:p>
            <a:pPr>
              <a:spcAft>
                <a:spcPts val="100"/>
              </a:spcAft>
            </a:pPr>
            <a:r>
              <a:rPr sz="1200" b="1">
                <a:solidFill>
                  <a:srgbClr val="16324F"/>
                </a:solidFill>
                <a:latin typeface="Consolas"/>
              </a:rPr>
              <a:t>RETURN = ‖ out_return − A ‖ × 1000   (mm)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5C7084"/>
                </a:solidFill>
                <a:latin typeface="Aptos"/>
              </a:rPr>
              <a:t>miss from the original spot after sliding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23560"/>
            <a:ext cx="10515600" cy="640080"/>
          </a:xfrm>
          <a:prstGeom prst="roundRect">
            <a:avLst/>
          </a:prstGeom>
          <a:solidFill>
            <a:srgbClr val="E4EAF1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0">
                <a:solidFill>
                  <a:srgbClr val="16324F"/>
                </a:solidFill>
                <a:latin typeface="Aptos"/>
              </a:rPr>
              <a:t>A and B come from the RAW markers, D from a tape measure - the filtered avatar is always graded against physical reality, never against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6473952"/>
            <a:ext cx="9784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5C7084"/>
                </a:solidFill>
                <a:latin typeface="Aptos"/>
              </a:rPr>
              <a:t>tune_filter.py::movement_metrics / crossing_time - five labelled phases: still A, move, still B, move back, still 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CE07DC-A608-85FD-EF83-84DDFB72E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342420"/>
            <a:ext cx="6921767" cy="13142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Yeah, the formulas look tougher than the idea. Use a 1D example.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Say the true mannequin motion is: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 = 0 cm B = 100 cm then back to A = 0 cm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 suppose the filtered avatar does: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start: 0 cm at B: 96 cm after back: 3 cm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“how much of the real travel did it preserve?”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96 / 100 = 0.96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(96 - 3) / 100 = 0.93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average: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(0.96 + 0.93)/2 = 0.945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94.5% retained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“how late did filtered motion reach 90%?”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reaches 90 cm at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1.00 s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 reaches 90 cm at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1.20 s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delay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0.20 s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“how far from B did it stop?”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B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100 cm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 B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96 cm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endpoint error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4 cm = 40 mm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“after coming back, how far from A is it?”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true A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 cm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filtered return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 cm</a:t>
            </a:r>
            <a:endParaRPr kumimoji="0" lang="en-US" altLang="en-US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return error =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3 cm = 30 mm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200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4D131B1-FB39-30F6-75FF-A15D0FD43E9B}"/>
              </a:ext>
            </a:extLst>
          </p:cNvPr>
          <p:cNvSpPr txBox="1"/>
          <p:nvPr/>
        </p:nvSpPr>
        <p:spPr>
          <a:xfrm>
            <a:off x="405036" y="1135328"/>
            <a:ext cx="85794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1.Filetring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Exp done/Mostafa/filter param found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Wobble reduced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Floor question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Avatar below floor/solved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Edge case scenario</a:t>
            </a:r>
          </a:p>
          <a:p>
            <a:endParaRPr lang="en-GB" dirty="0"/>
          </a:p>
          <a:p>
            <a:r>
              <a:rPr lang="en-GB" dirty="0"/>
              <a:t>2.ALS/ case from pulmonary </a:t>
            </a:r>
            <a:r>
              <a:rPr lang="en-GB" dirty="0" err="1"/>
              <a:t>embolism,person</a:t>
            </a:r>
            <a:r>
              <a:rPr lang="en-GB" dirty="0"/>
              <a:t> look </a:t>
            </a:r>
            <a:r>
              <a:rPr lang="en-GB" dirty="0" err="1"/>
              <a:t>blue,orinflamated</a:t>
            </a:r>
            <a:r>
              <a:rPr lang="en-GB" dirty="0"/>
              <a:t> limbs</a:t>
            </a:r>
          </a:p>
          <a:p>
            <a:endParaRPr lang="en-GB" dirty="0"/>
          </a:p>
          <a:p>
            <a:r>
              <a:rPr lang="en-GB" dirty="0"/>
              <a:t>3.Meet </a:t>
            </a:r>
            <a:r>
              <a:rPr lang="en-GB"/>
              <a:t>with Rowan</a:t>
            </a:r>
            <a:endParaRPr lang="en-GB" dirty="0"/>
          </a:p>
          <a:p>
            <a:endParaRPr lang="en-GB" dirty="0"/>
          </a:p>
          <a:p>
            <a:r>
              <a:rPr lang="en-GB" dirty="0"/>
              <a:t>2</a:t>
            </a:r>
            <a:r>
              <a:rPr lang="en-GB" b="1" dirty="0"/>
              <a:t>.Bettr positioning</a:t>
            </a:r>
          </a:p>
          <a:p>
            <a:endParaRPr lang="en-GB" b="1" dirty="0"/>
          </a:p>
          <a:p>
            <a:r>
              <a:rPr lang="en-GB" dirty="0"/>
              <a:t>3.</a:t>
            </a:r>
            <a:r>
              <a:rPr lang="en-GB" b="1" dirty="0"/>
              <a:t>Accss to data science lab *</a:t>
            </a:r>
            <a:r>
              <a:rPr lang="en-GB" b="1" dirty="0" err="1"/>
              <a:t>Ardra,Denis,Paul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62776B-EF57-4528-F978-AB0E121D8733}"/>
              </a:ext>
            </a:extLst>
          </p:cNvPr>
          <p:cNvSpPr txBox="1"/>
          <p:nvPr/>
        </p:nvSpPr>
        <p:spPr>
          <a:xfrm>
            <a:off x="362078" y="337530"/>
            <a:ext cx="8407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QUESTIONS</a:t>
            </a:r>
          </a:p>
        </p:txBody>
      </p:sp>
      <p:pic>
        <p:nvPicPr>
          <p:cNvPr id="4" name="avatar_demo_20260905_cropped">
            <a:hlinkClick r:id="" action="ppaction://media"/>
            <a:extLst>
              <a:ext uri="{FF2B5EF4-FFF2-40B4-BE49-F238E27FC236}">
                <a16:creationId xmlns:a16="http://schemas.microsoft.com/office/drawing/2014/main" id="{63EC6614-659B-2FFC-2043-E1E63BC6C9C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37567" y="153444"/>
            <a:ext cx="34544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75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5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CCBM for NaReT CPR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274320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F7F9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2880360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CCBM example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8992" y="3273552"/>
            <a:ext cx="26426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 actions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causal rules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69080" y="3410712"/>
            <a:ext cx="1005840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66360" y="2743200"/>
            <a:ext cx="2971800" cy="1325880"/>
          </a:xfrm>
          <a:prstGeom prst="roundRect">
            <a:avLst>
              <a:gd name="adj" fmla="val 4138"/>
            </a:avLst>
          </a:prstGeom>
          <a:solidFill>
            <a:srgbClr val="FFF8EE"/>
          </a:solidFill>
          <a:ln w="12700">
            <a:solidFill>
              <a:srgbClr val="E8C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0952" y="2880360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NaReT CPR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30952" y="3273552"/>
            <a:ext cx="26426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actions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+ corrections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sensors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321040" y="3410712"/>
            <a:ext cx="1005840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18320" y="2743200"/>
            <a:ext cx="1828800" cy="1325880"/>
          </a:xfrm>
          <a:prstGeom prst="roundRect">
            <a:avLst>
              <a:gd name="adj" fmla="val 4138"/>
            </a:avLst>
          </a:prstGeom>
          <a:solidFill>
            <a:srgbClr val="EEF6EE"/>
          </a:solidFill>
          <a:ln w="12700">
            <a:solidFill>
              <a:srgbClr val="A9C9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82912" y="2880360"/>
            <a:ext cx="1499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582912" y="3273552"/>
            <a:ext cx="1499616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should the model change?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65618C-56D7-74F2-B62A-D780832D39DD}"/>
              </a:ext>
            </a:extLst>
          </p:cNvPr>
          <p:cNvSpPr txBox="1"/>
          <p:nvPr/>
        </p:nvSpPr>
        <p:spPr>
          <a:xfrm>
            <a:off x="253149" y="778224"/>
            <a:ext cx="528234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coffee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breakfast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 teeth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leave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rule: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teeth requires breakfast + coffee.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CCBM FOR NARET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A  — no single “current action”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108960" cy="3566160"/>
          </a:xfrm>
          <a:prstGeom prst="roundRect">
            <a:avLst>
              <a:gd name="adj" fmla="val 1765"/>
            </a:avLst>
          </a:prstGeom>
          <a:solidFill>
            <a:srgbClr val="F7F9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737360"/>
            <a:ext cx="2779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/ Day example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130552"/>
            <a:ext cx="277977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compact action variable can be enough: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activity = coffee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breakfast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clean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86200" y="3273552"/>
            <a:ext cx="731520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754880" y="1600200"/>
            <a:ext cx="3063240" cy="3566160"/>
          </a:xfrm>
          <a:prstGeom prst="roundRect">
            <a:avLst>
              <a:gd name="adj" fmla="val 1791"/>
            </a:avLst>
          </a:prstGeom>
          <a:solidFill>
            <a:srgbClr val="FFF8EE"/>
          </a:solidFill>
          <a:ln w="12700">
            <a:solidFill>
              <a:srgbClr val="E8C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73736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CPR at one moment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919472" y="2130552"/>
            <a:ext cx="2734056" cy="2907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A: chest compressions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B: preparing AED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A/B: communicating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AED: changing state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389888-CE67-F7A5-8F86-F70911529F01}"/>
              </a:ext>
            </a:extLst>
          </p:cNvPr>
          <p:cNvSpPr txBox="1"/>
          <p:nvPr/>
        </p:nvSpPr>
        <p:spPr>
          <a:xfrm>
            <a:off x="8120669" y="2635245"/>
            <a:ext cx="6103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exploding </a:t>
            </a:r>
          </a:p>
          <a:p>
            <a:r>
              <a:rPr lang="en-US" sz="18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 of possible states?</a:t>
            </a:r>
            <a:endParaRPr lang="en-GB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Direct CPR translation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965960"/>
            <a:ext cx="1554480" cy="8412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21579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patient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75688" y="2386584"/>
            <a:ext cx="292608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04872" y="1965960"/>
            <a:ext cx="1554480" cy="8412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78024" y="21579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breathing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977640" y="2386584"/>
            <a:ext cx="292608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06824" y="1965960"/>
            <a:ext cx="1554480" cy="8412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9976" y="21579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for help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79592" y="2386584"/>
            <a:ext cx="292608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08776" y="1965960"/>
            <a:ext cx="1554480" cy="841248"/>
          </a:xfrm>
          <a:prstGeom prst="roundRect">
            <a:avLst/>
          </a:prstGeom>
          <a:solidFill>
            <a:srgbClr val="FFF1E6"/>
          </a:solidFill>
          <a:ln w="12700">
            <a:solidFill>
              <a:srgbClr val="E6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21579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compressions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81544" y="2386584"/>
            <a:ext cx="292608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10728" y="1965960"/>
            <a:ext cx="1554480" cy="8412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1579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83496" y="2386584"/>
            <a:ext cx="292608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1965960"/>
            <a:ext cx="1554480" cy="84124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B8C5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85832" y="2157984"/>
            <a:ext cx="1408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CPR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246120"/>
            <a:ext cx="10149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8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analogous.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3977640"/>
            <a:ext cx="10332720" cy="1234440"/>
          </a:xfrm>
          <a:prstGeom prst="roundRect">
            <a:avLst>
              <a:gd name="adj" fmla="val 4444"/>
            </a:avLst>
          </a:prstGeom>
          <a:solidFill>
            <a:srgbClr val="FFF5F3"/>
          </a:solidFill>
          <a:ln w="12700">
            <a:solidFill>
              <a:srgbClr val="E2A49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4114800"/>
            <a:ext cx="10003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78992" y="4507992"/>
            <a:ext cx="100035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can act in parallel, repeat actions, omit steps, correct mistakes, and interact with shared equipment while sensors are uncertain.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331720" cy="3383280"/>
          </a:xfrm>
          <a:prstGeom prst="roundRect">
            <a:avLst>
              <a:gd name="adj" fmla="val 2353"/>
            </a:avLst>
          </a:prstGeom>
          <a:solidFill>
            <a:srgbClr val="F7F9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9164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inputs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200253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cameras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XR hand tracking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Microphone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Mannequin / device sensors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127248" y="3246120"/>
            <a:ext cx="850392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114800" y="1554480"/>
            <a:ext cx="2971800" cy="3383280"/>
          </a:xfrm>
          <a:prstGeom prst="roundRect">
            <a:avLst>
              <a:gd name="adj" fmla="val 1846"/>
            </a:avLst>
          </a:prstGeom>
          <a:solidFill>
            <a:srgbClr val="FFF8EE"/>
          </a:solidFill>
          <a:ln w="12700">
            <a:solidFill>
              <a:srgbClr val="E8C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9392" y="1691640"/>
            <a:ext cx="2642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A76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layer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279392" y="2084832"/>
            <a:ext cx="264261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separate recognition system must convert raw data into: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P(compression)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P(check breathing)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P(AED use)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269480" y="3246120"/>
            <a:ext cx="822960" cy="0"/>
          </a:xfrm>
          <a:prstGeom prst="line">
            <a:avLst/>
          </a:prstGeom>
          <a:noFill/>
          <a:ln w="25400">
            <a:solidFill>
              <a:srgbClr val="1F4E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29600" y="1554480"/>
            <a:ext cx="3246120" cy="3383280"/>
          </a:xfrm>
          <a:prstGeom prst="roundRect">
            <a:avLst>
              <a:gd name="adj" fmla="val 1690"/>
            </a:avLst>
          </a:prstGeom>
          <a:solidFill>
            <a:srgbClr val="EEF6EE"/>
          </a:solidFill>
          <a:ln w="12700">
            <a:solidFill>
              <a:srgbClr val="A9C9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691640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8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CCBM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94192" y="2084832"/>
            <a:ext cx="2916936" cy="2724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/>
              <a:t>So multimodal labeling_</a:t>
            </a:r>
          </a:p>
          <a:p>
            <a:pPr marL="0" indent="0">
              <a:buNone/>
            </a:pPr>
            <a:r>
              <a:rPr lang="en-GB" sz="1400" dirty="0"/>
              <a:t>How do we combine and label all of these so they describe the same CPR action at the same time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C — learner errors are part of the task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training system must recognise not only valid actions, but deviations from the expected process.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063240" cy="3611880"/>
          </a:xfrm>
          <a:prstGeom prst="roundRect">
            <a:avLst>
              <a:gd name="adj" fmla="val 1791"/>
            </a:avLst>
          </a:prstGeom>
          <a:solidFill>
            <a:srgbClr val="F7F9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91640"/>
            <a:ext cx="2734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simple domain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084832"/>
            <a:ext cx="2734056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knows predefined legal actions and their preconditions.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023360" y="1554480"/>
            <a:ext cx="3246120" cy="3611880"/>
          </a:xfrm>
          <a:prstGeom prst="roundRect">
            <a:avLst>
              <a:gd name="adj" fmla="val 1690"/>
            </a:avLst>
          </a:prstGeom>
          <a:solidFill>
            <a:srgbClr val="FFF5F3"/>
          </a:solidFill>
          <a:ln w="12700">
            <a:solidFill>
              <a:srgbClr val="E2A4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87952" y="1691640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NaReT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187952" y="2084832"/>
            <a:ext cx="2916936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may: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skip a step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repeat a step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 it in wrong order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 an unknown action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make an error and self-correct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589520" y="1554480"/>
            <a:ext cx="3886200" cy="3611880"/>
          </a:xfrm>
          <a:prstGeom prst="roundRect">
            <a:avLst>
              <a:gd name="adj" fmla="val 1519"/>
            </a:avLst>
          </a:prstGeom>
          <a:solidFill>
            <a:srgbClr val="EEF6EE"/>
          </a:solidFill>
          <a:ln w="12700">
            <a:solidFill>
              <a:srgbClr val="A9C9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691640"/>
            <a:ext cx="3557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modelling decision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54112" y="2084832"/>
            <a:ext cx="3557016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GB" sz="1400" dirty="0"/>
              <a:t>if an observed action would violate a precondition, that trajectory may simply become impossible or very unlikely under the model</a:t>
            </a:r>
            <a:endParaRPr lang="en-US" sz="1350" dirty="0"/>
          </a:p>
          <a:p>
            <a:pPr marL="0" indent="0">
              <a:buNone/>
            </a:pPr>
            <a:r>
              <a:rPr lang="en-GB" sz="1400" dirty="0"/>
              <a:t>How many different wrong sequences should we explicitly model without making the CCBM too large and complicated?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5468112"/>
            <a:ext cx="10515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7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major difference from the coffee example: mistakes are not noise — they are the behaviour we want to detect.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67A6A0A-F4EC-80BD-21F4-E2A663970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5399" y="3412034"/>
            <a:ext cx="302198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wrong order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repeated step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wrong action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by wrong person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 too early/too late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2973</Words>
  <Application>Microsoft Office PowerPoint</Application>
  <PresentationFormat>Widescreen</PresentationFormat>
  <Paragraphs>360</Paragraphs>
  <Slides>22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Arial Unicode MS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Ardra Bauldwin</dc:creator>
  <cp:lastModifiedBy>Ardra Bauldwin</cp:lastModifiedBy>
  <cp:revision>7</cp:revision>
  <dcterms:created xsi:type="dcterms:W3CDTF">2026-08-30T19:16:00Z</dcterms:created>
  <dcterms:modified xsi:type="dcterms:W3CDTF">2026-09-08T15:03:42Z</dcterms:modified>
</cp:coreProperties>
</file>